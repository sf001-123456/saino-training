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5"/>
  </p:notesMasterIdLst>
  <p:sldIdLst>
    <p:sldId id="265" r:id="rId3"/>
    <p:sldId id="275" r:id="rId4"/>
    <p:sldId id="343" r:id="rId5"/>
    <p:sldId id="688" r:id="rId6"/>
    <p:sldId id="544" r:id="rId7"/>
    <p:sldId id="545" r:id="rId8"/>
    <p:sldId id="546" r:id="rId9"/>
    <p:sldId id="324" r:id="rId10"/>
    <p:sldId id="497" r:id="rId11"/>
    <p:sldId id="498" r:id="rId12"/>
    <p:sldId id="539" r:id="rId13"/>
    <p:sldId id="547" r:id="rId14"/>
    <p:sldId id="548" r:id="rId15"/>
    <p:sldId id="549" r:id="rId16"/>
    <p:sldId id="550" r:id="rId17"/>
    <p:sldId id="551" r:id="rId18"/>
    <p:sldId id="552" r:id="rId19"/>
    <p:sldId id="325" r:id="rId20"/>
    <p:sldId id="553" r:id="rId21"/>
    <p:sldId id="327" r:id="rId22"/>
    <p:sldId id="329" r:id="rId23"/>
    <p:sldId id="481" r:id="rId24"/>
    <p:sldId id="482" r:id="rId25"/>
    <p:sldId id="554" r:id="rId26"/>
    <p:sldId id="334" r:id="rId27"/>
    <p:sldId id="336" r:id="rId28"/>
    <p:sldId id="483" r:id="rId29"/>
    <p:sldId id="338" r:id="rId30"/>
    <p:sldId id="340" r:id="rId31"/>
    <p:sldId id="540" r:id="rId32"/>
    <p:sldId id="484" r:id="rId33"/>
    <p:sldId id="352" r:id="rId34"/>
    <p:sldId id="353" r:id="rId35"/>
    <p:sldId id="355" r:id="rId36"/>
    <p:sldId id="555" r:id="rId37"/>
    <p:sldId id="485" r:id="rId38"/>
    <p:sldId id="500" r:id="rId39"/>
    <p:sldId id="486" r:id="rId40"/>
    <p:sldId id="557" r:id="rId41"/>
    <p:sldId id="558" r:id="rId42"/>
    <p:sldId id="559" r:id="rId43"/>
    <p:sldId id="560" r:id="rId44"/>
    <p:sldId id="734" r:id="rId45"/>
    <p:sldId id="735" r:id="rId46"/>
    <p:sldId id="561" r:id="rId47"/>
    <p:sldId id="347" r:id="rId48"/>
    <p:sldId id="348" r:id="rId49"/>
    <p:sldId id="349" r:id="rId50"/>
    <p:sldId id="350" r:id="rId51"/>
    <p:sldId id="562" r:id="rId52"/>
    <p:sldId id="391" r:id="rId53"/>
    <p:sldId id="406" r:id="rId54"/>
    <p:sldId id="407" r:id="rId55"/>
    <p:sldId id="410" r:id="rId56"/>
    <p:sldId id="501" r:id="rId57"/>
    <p:sldId id="502" r:id="rId58"/>
    <p:sldId id="503" r:id="rId59"/>
    <p:sldId id="542" r:id="rId60"/>
    <p:sldId id="543" r:id="rId61"/>
    <p:sldId id="369" r:id="rId62"/>
    <p:sldId id="371" r:id="rId63"/>
    <p:sldId id="534" r:id="rId64"/>
    <p:sldId id="372" r:id="rId65"/>
    <p:sldId id="653" r:id="rId66"/>
    <p:sldId id="490" r:id="rId67"/>
    <p:sldId id="563" r:id="rId68"/>
    <p:sldId id="564" r:id="rId69"/>
    <p:sldId id="565" r:id="rId70"/>
    <p:sldId id="566" r:id="rId71"/>
    <p:sldId id="687" r:id="rId72"/>
    <p:sldId id="492" r:id="rId73"/>
    <p:sldId id="493" r:id="rId74"/>
    <p:sldId id="494" r:id="rId75"/>
    <p:sldId id="495" r:id="rId76"/>
    <p:sldId id="400" r:id="rId77"/>
    <p:sldId id="401" r:id="rId78"/>
    <p:sldId id="403" r:id="rId79"/>
    <p:sldId id="404" r:id="rId80"/>
    <p:sldId id="594" r:id="rId81"/>
    <p:sldId id="595" r:id="rId82"/>
    <p:sldId id="726" r:id="rId83"/>
    <p:sldId id="729" r:id="rId84"/>
    <p:sldId id="730" r:id="rId85"/>
    <p:sldId id="728" r:id="rId86"/>
    <p:sldId id="727" r:id="rId87"/>
    <p:sldId id="731" r:id="rId88"/>
    <p:sldId id="732" r:id="rId89"/>
    <p:sldId id="733" r:id="rId90"/>
    <p:sldId id="637" r:id="rId91"/>
    <p:sldId id="638" r:id="rId92"/>
    <p:sldId id="639" r:id="rId93"/>
    <p:sldId id="640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C09FA5-CD96-2A52-5292-21ACE99E7D14}" v="229" dt="2026-10-30T03:47:50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77C62-DDF5-4E41-9B10-832976093578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29BA9-AC37-46DC-92BF-1864F629BEE3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7471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b4e50f20d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2b4e50f20d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b4e50f20d3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b4e50f20d3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8E5BBC28-6D02-E708-FFDE-8679B71A0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205937D6-A010-F7B0-E2F9-A6C85608C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8759E9EF-BC0A-63C3-23DD-DE98465519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3925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E29BA9-AC37-46DC-92BF-1864F629BEE3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793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A95A25-9F0E-4F96-973C-862FB460338E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8413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29BA9-AC37-46DC-92BF-1864F629BEE3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45287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Address</a:t>
            </a: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Stop  until slide 28</a:t>
            </a:r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29BA9-AC37-46DC-92BF-1864F629BEE3}" type="slidenum">
              <a:rPr lang="en-MY" smtClean="0"/>
              <a:t>23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70069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93649B5A-F849-B4A6-D027-F5A8317E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F01EB2CB-4192-062A-1DAC-B42ECF2589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C3B9EA52-E04C-77AE-DAA4-72BCFB87E7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46155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87D4755C-FFF7-ADCA-C9BA-2B57AD440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3AB2425F-3096-7BDB-B0D0-6628CCD913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623B0C48-4A3E-40D1-F694-9F2AA39419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67480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b4e50f20d3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b4e50f20d3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b4e50f20d3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Issue</a:t>
            </a:r>
            <a:endParaRPr/>
          </a:p>
        </p:txBody>
      </p:sp>
      <p:sp>
        <p:nvSpPr>
          <p:cNvPr id="321" name="Google Shape;321;g2b4e50f20d3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b4e50f20d3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b4e50f20d3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b4e50f20d3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b4e50f20d3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b4e50f20d3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b4e50f20d3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745DAF68-C590-DD63-2E21-B69B5D93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8856A190-99C9-FAB0-3D04-7BFE62C62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685159C1-2CF1-6B6C-1CFF-519B2EB3D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351001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Libre Franklin"/>
              </a:rPr>
              <a:t>Adding employee’s Non-Fixed allowance/benefit such as Overtime, Incentive,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Libre Franklin"/>
              </a:rPr>
              <a:t>Bonus,etc</a:t>
            </a:r>
            <a:endParaRPr kumimoji="0" lang="en-MY" sz="1200" b="1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Libre Franklin"/>
            </a:endParaRPr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01/01/1900 is the default date; no need to manually key in the date every month.</a:t>
            </a:r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/>
              <a:t>Adding Employee’s Deduction such as </a:t>
            </a:r>
            <a:r>
              <a:rPr lang="en-MY" sz="1200"/>
              <a:t>Loan, Unpaid Leave and etc.</a:t>
            </a:r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D2AB8192-492C-A8E3-EF69-D5BCFA6D9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451F2E40-5E30-467A-5F4C-F8874FC37D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/>
              <a:t>Employee disablement</a:t>
            </a:r>
            <a:endParaRPr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44BB2886-E22A-3223-B0A6-4D9F9F630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11128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F9BE3561-129A-C001-0F13-CA38078EB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6A44E639-9A16-17AD-E430-BEB17B453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1D83AAC1-85D8-4C59-E811-3D38888EAB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590317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AEA1BD57-27E3-5E72-182C-57897204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08A9AE87-4A23-D38B-1985-CB0781A557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Login page</a:t>
            </a:r>
            <a:endParaRPr dirty="0"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6C2121C6-A2B3-FA52-A05B-4AFDB6140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410270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C8106701-E55E-198B-DFA5-58593804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84A80852-2F9A-FEE3-9642-CD2556165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Login page</a:t>
            </a:r>
            <a:endParaRPr dirty="0"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43E4F77C-7606-FF99-9D03-638E2195E6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554486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2791150D-507E-EC51-9309-F5961AC88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6D375D9D-8383-3C27-133D-36459496E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Login page</a:t>
            </a:r>
            <a:endParaRPr dirty="0"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F256F596-8EAC-8EDC-25CE-A9668370F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619676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75BAB8C0-8677-475B-D45D-7F71ABBD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87D381B3-0737-C015-197F-E6B3ACBCA5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Login page</a:t>
            </a:r>
            <a:endParaRPr dirty="0"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ED601DDF-2DC0-5589-5F52-E38EB7C6C7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654131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46CBF91F-1704-0D23-50D6-E09ECA169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5A52F880-927A-3FB4-EE93-CA91DD2992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Login page</a:t>
            </a:r>
            <a:endParaRPr dirty="0"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BC214A06-1366-9A46-1699-0CCCB61B0C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641432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22A3C55F-1B0E-1378-9DF0-F585D3F4C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7E3BEDF3-BB0A-2EA5-5DCA-A814DACBAC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Login page</a:t>
            </a:r>
            <a:endParaRPr dirty="0"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7E56C8B2-FF8B-4DBE-E70B-99228534A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497986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73579DB3-66BA-16E1-60DF-AC1827AC3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601C2C03-AB78-CE06-AEBE-B9768C8EC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Login page</a:t>
            </a:r>
            <a:endParaRPr dirty="0"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D0FFEDBB-6D5A-EA90-4B09-9B442F4F6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650574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>
          <a:extLst>
            <a:ext uri="{FF2B5EF4-FFF2-40B4-BE49-F238E27FC236}">
              <a16:creationId xmlns:a16="http://schemas.microsoft.com/office/drawing/2014/main" id="{C49C68E7-7EED-0670-F6E4-B56F75D3B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b4e50f20d3_0_888:notes">
            <a:extLst>
              <a:ext uri="{FF2B5EF4-FFF2-40B4-BE49-F238E27FC236}">
                <a16:creationId xmlns:a16="http://schemas.microsoft.com/office/drawing/2014/main" id="{F11AAC67-8072-065C-DFE2-B4628159DB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Login page</a:t>
            </a:r>
            <a:endParaRPr dirty="0"/>
          </a:p>
        </p:txBody>
      </p:sp>
      <p:sp>
        <p:nvSpPr>
          <p:cNvPr id="288" name="Google Shape;288;g2b4e50f20d3_0_888:notes">
            <a:extLst>
              <a:ext uri="{FF2B5EF4-FFF2-40B4-BE49-F238E27FC236}">
                <a16:creationId xmlns:a16="http://schemas.microsoft.com/office/drawing/2014/main" id="{6DE0057F-7F40-3DFB-971B-3A2F8F4AC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4920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BEE3-5FFA-46FA-B451-69AC29D70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94E94-E947-4165-BE3D-69C8D8A9F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88CE0-CCEB-4EF5-9FB2-9ADC1BE45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A0A31-6246-4AAA-8497-B5D8F699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F8482-16F1-41FE-938B-66F09C534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784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D30A-87E2-4B31-8620-67DA2F73F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C7CB7-7269-4A8A-B659-988F1C7F9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D5281-E41E-43CF-930E-8F73859B1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82B96-E016-4F87-AAF7-78B628A0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20900-77C2-4A62-AACA-1FE2574C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3684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8BA4-0C2A-4E78-9EF4-30C59648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1ABCF-87BF-4063-9EE3-D3428E892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48450-DD11-47CA-A05C-172DC4B28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7D5B3-C06A-4EED-88F2-4289AF39D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C30B6-88DB-4EE7-9111-D80D11413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8475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4D8D-7B5B-4344-A1DC-6B7D26A0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406D4-3768-4CF3-9E4B-B9429388C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9533A-3FF8-40D1-946D-C0F7C7E3D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B9971-537C-4A24-899B-FEE219FA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E0C91-2588-4CDA-8E76-459D49DF2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860B3-B089-428A-B14F-01EE5BE27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0750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63891-E494-4AF3-85D6-E9420EA9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28FEB-C2E9-42A3-BA65-92C647A9E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11920-00DA-4AC2-88A5-59E32CCF6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18888C-5187-4FCA-B283-673129F11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62C95-3B8D-4E98-B5DC-94AAE2362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029D70-0D98-4D06-B48C-5ECAFAB89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297BD-98D3-4EBF-A63A-0A8BBEFA3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A397E-97B7-49E5-BFFF-55CF6213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3929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FAD8E-BD65-4C07-B7A4-952E14CC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166246-3D16-4F66-BCC1-93CE24844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D0BA3E-FEFA-4B05-941D-CE05DD1B0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9700D-2C36-4CDF-A749-C8A70443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9076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8D7441-B762-49D7-AF04-5FE2AD3B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8F849-A826-46DB-BE30-72F1B1DFE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9A60C-6F2F-4719-9A0E-1270161D4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26935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4D08-EA2B-4793-93F9-58FC6A50D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120C-A492-45DF-BE99-701A14B2A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EA0CB-3443-4DCB-82CC-6D4E44FDA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C5F7C-5838-41FB-A815-83003E82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CB184-E8D8-41A8-B2B2-68FEC8B69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DB8DD-E3B8-4E20-9CD9-2117008F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47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0E785-DB3F-4F64-A447-CB981D58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16594E-159D-4A16-9469-F44D4E921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98BC92-8EA5-4051-98E5-F1054A1C0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3B1E7-3A1F-4ABC-88DE-E89E0B66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CAA73-E848-4D5E-9E61-6460D113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11670-D0A8-44FA-A0CF-79456553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44012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F14A-E553-49C1-B2FD-E8F03C7C9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9D072-2053-4979-BC24-46A347CE8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45AD1-4D8B-4EE2-8111-1AA939518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FB072-39C7-488D-BC0C-1065E7F65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65757-5CB3-4461-889E-7E12F543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05363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077219-0DD2-4D08-8599-EF849FD03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50C5A-2306-4D32-9737-8C09B9105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573B9-5A7C-411E-8C07-0E3DA1BD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C9A71-329D-4B95-9853-062557915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8F885-4ED6-4A15-AA8C-47666FE8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4296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sz="36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96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012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81189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581192" y="2340864"/>
            <a:ext cx="11029615" cy="3634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874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Franklin Gothic"/>
              <a:buNone/>
              <a:defRPr sz="3600" b="0" cap="none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34348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194767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416039" y="2228003"/>
            <a:ext cx="5194769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401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82916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194766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416039" y="2250892"/>
            <a:ext cx="5194770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Noto Sans Symbols"/>
              <a:buNone/>
              <a:defRPr sz="2000" b="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416037" y="2926052"/>
            <a:ext cx="5194771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9646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44632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58" name="Google Shape;58;p18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992494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/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ranklin Gothic"/>
              <a:buNone/>
              <a:defRPr sz="2400" b="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1"/>
          </p:nvPr>
        </p:nvSpPr>
        <p:spPr>
          <a:xfrm>
            <a:off x="4900928" y="1179829"/>
            <a:ext cx="6650991" cy="4658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1945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515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2"/>
          </p:nvPr>
        </p:nvSpPr>
        <p:spPr>
          <a:xfrm>
            <a:off x="767857" y="2836654"/>
            <a:ext cx="3031852" cy="3001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dt" idx="10"/>
          </p:nvPr>
        </p:nvSpPr>
        <p:spPr>
          <a:xfrm>
            <a:off x="7605951" y="6456916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ft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66" name="Google Shape;66;p19"/>
          <p:cNvSpPr txBox="1">
            <a:spLocks noGrp="1"/>
          </p:cNvSpPr>
          <p:nvPr>
            <p:ph type="sldNum" idx="12"/>
          </p:nvPr>
        </p:nvSpPr>
        <p:spPr>
          <a:xfrm>
            <a:off x="10558300" y="6456916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87023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Franklin Gothic"/>
              <a:buNone/>
              <a:defRPr sz="2400" b="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>
            <a:spLocks noGrp="1"/>
          </p:cNvSpPr>
          <p:nvPr>
            <p:ph type="pic" idx="2"/>
          </p:nvPr>
        </p:nvSpPr>
        <p:spPr>
          <a:xfrm>
            <a:off x="447817" y="641350"/>
            <a:ext cx="11290859" cy="3651249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99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40441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4269977" y="-1352782"/>
            <a:ext cx="3652047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7660" algn="l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SzPts val="1564"/>
              <a:buChar char="◼"/>
              <a:defRPr/>
            </a:lvl1pPr>
            <a:lvl2pPr marL="914400" lvl="1" indent="-310515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2pPr>
            <a:lvl3pPr marL="1371600" lvl="2" indent="-304800" algn="l">
              <a:spcBef>
                <a:spcPts val="600"/>
              </a:spcBef>
              <a:spcAft>
                <a:spcPts val="0"/>
              </a:spcAft>
              <a:buSzPts val="1196"/>
              <a:buChar char="◼"/>
              <a:defRPr/>
            </a:lvl3pPr>
            <a:lvl4pPr marL="1828800" lvl="3" indent="-292735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4pPr>
            <a:lvl5pPr marL="2286000" lvl="4" indent="-292735" algn="l">
              <a:spcBef>
                <a:spcPts val="600"/>
              </a:spcBef>
              <a:spcAft>
                <a:spcPts val="0"/>
              </a:spcAft>
              <a:buSzPts val="1012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7670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 rot="5400000">
            <a:off x="7362637" y="1705163"/>
            <a:ext cx="480732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Franklin Gothic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 rot="5400000">
            <a:off x="1952072" y="-313549"/>
            <a:ext cx="4807326" cy="716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401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401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401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2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2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89" name="Google Shape;89;p22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3263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B3FB2E-4E99-4E90-9FC0-1066EF16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11123-BB81-47F0-BEC3-E8ADE126A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51F63-3AD8-4C7C-83FE-A7A5EEA13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0211D-C846-4A31-8399-17BAE93B06C3}" type="datetimeFigureOut">
              <a:rPr lang="en-MY" smtClean="0"/>
              <a:t>29/10/2026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76ACC-C47C-43DC-875C-3E6AD9836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FCE8F-9A6A-49FE-982D-CB5BDC0524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9BF0D-517C-4E4C-BBBB-8E9E98D3188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0332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27660" algn="l" rtl="0">
              <a:lnSpc>
                <a:spcPct val="110000"/>
              </a:lnSpc>
              <a:spcBef>
                <a:spcPts val="34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1051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048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9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2927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92735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12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2984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2984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2984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298450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r>
              <a:rPr lang="en-US"/>
              <a:t>Created by Liyana Yusoff_30072024</a:t>
            </a:r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/>
              <a:t>‹#›</a:t>
            </a:fld>
            <a:endParaRPr lang="en-MY"/>
          </a:p>
        </p:txBody>
      </p:sp>
      <p:sp>
        <p:nvSpPr>
          <p:cNvPr id="11" name="Google Shape;11;p1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28539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7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8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9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9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9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b4e50f20d3_0_13"/>
          <p:cNvSpPr txBox="1">
            <a:spLocks noGrp="1"/>
          </p:cNvSpPr>
          <p:nvPr>
            <p:ph type="body" idx="1"/>
          </p:nvPr>
        </p:nvSpPr>
        <p:spPr>
          <a:xfrm>
            <a:off x="581250" y="1611750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1320"/>
              </a:spcBef>
              <a:spcAft>
                <a:spcPts val="0"/>
              </a:spcAft>
              <a:buSzPts val="3312"/>
              <a:buNone/>
            </a:pPr>
            <a:r>
              <a:rPr lang="en-MY" sz="3600" b="1"/>
              <a:t>Employee Management Module</a:t>
            </a:r>
            <a:endParaRPr sz="3600" b="1"/>
          </a:p>
        </p:txBody>
      </p:sp>
      <p:pic>
        <p:nvPicPr>
          <p:cNvPr id="231" name="Google Shape;231;g2b4e50f20d3_0_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18123" y="626649"/>
            <a:ext cx="2827345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b4e50f20d3_0_1116"/>
          <p:cNvSpPr txBox="1">
            <a:spLocks noGrp="1"/>
          </p:cNvSpPr>
          <p:nvPr>
            <p:ph type="title"/>
          </p:nvPr>
        </p:nvSpPr>
        <p:spPr>
          <a:xfrm>
            <a:off x="581192" y="1346227"/>
            <a:ext cx="11029500" cy="544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-MY" sz="2500" b="1">
                <a:latin typeface="Libre Franklin"/>
                <a:ea typeface="Libre Franklin"/>
                <a:cs typeface="Libre Franklin"/>
                <a:sym typeface="Libre Franklin"/>
              </a:rPr>
              <a:t>Employee Management Module</a:t>
            </a:r>
            <a:endParaRPr sz="2500" b="1"/>
          </a:p>
        </p:txBody>
      </p:sp>
      <p:sp>
        <p:nvSpPr>
          <p:cNvPr id="324" name="Google Shape;324;g2b4e50f20d3_0_1116"/>
          <p:cNvSpPr txBox="1">
            <a:spLocks noGrp="1"/>
          </p:cNvSpPr>
          <p:nvPr>
            <p:ph type="body" idx="1"/>
          </p:nvPr>
        </p:nvSpPr>
        <p:spPr>
          <a:xfrm>
            <a:off x="581192" y="1890756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1320"/>
              </a:spcBef>
              <a:spcAft>
                <a:spcPts val="0"/>
              </a:spcAft>
              <a:buSzPts val="3312"/>
              <a:buNone/>
            </a:pPr>
            <a:r>
              <a:rPr lang="en-MY" sz="3600" b="1"/>
              <a:t>Employee On-Boarding </a:t>
            </a:r>
            <a:endParaRPr sz="3600" b="1"/>
          </a:p>
        </p:txBody>
      </p:sp>
      <p:pic>
        <p:nvPicPr>
          <p:cNvPr id="325" name="Google Shape;325;g2b4e50f20d3_0_11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18123" y="626649"/>
            <a:ext cx="2827345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>
            <a:spLocks noGrp="1"/>
          </p:cNvSpPr>
          <p:nvPr>
            <p:ph type="title"/>
          </p:nvPr>
        </p:nvSpPr>
        <p:spPr>
          <a:xfrm>
            <a:off x="372548" y="660148"/>
            <a:ext cx="8333990" cy="520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-MY" sz="2000" b="1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 On-Boarding Process</a:t>
            </a:r>
            <a:endParaRPr sz="2000">
              <a:latin typeface="Libre Franklin"/>
            </a:endParaRPr>
          </a:p>
        </p:txBody>
      </p:sp>
      <p:sp>
        <p:nvSpPr>
          <p:cNvPr id="204" name="Google Shape;204;p8"/>
          <p:cNvSpPr txBox="1">
            <a:spLocks noGrp="1"/>
          </p:cNvSpPr>
          <p:nvPr>
            <p:ph type="body" idx="1"/>
          </p:nvPr>
        </p:nvSpPr>
        <p:spPr>
          <a:xfrm>
            <a:off x="354406" y="1387267"/>
            <a:ext cx="11029615" cy="4488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 Adding Employee Profile and assigning Employee Group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1080"/>
              </a:spcBef>
              <a:buSzPts val="2208"/>
              <a:buNone/>
            </a:pPr>
            <a:r>
              <a:rPr lang="en-US" sz="1800" dirty="0">
                <a:solidFill>
                  <a:schemeClr val="tx1"/>
                </a:solidFill>
                <a:latin typeface="Calibri"/>
              </a:rPr>
              <a:t>2. Adding Employee Join/Resignation Details </a:t>
            </a:r>
          </a:p>
          <a:p>
            <a:pPr marL="0" indent="0">
              <a:spcBef>
                <a:spcPts val="1080"/>
              </a:spcBef>
              <a:buSzPts val="2208"/>
              <a:buNone/>
            </a:pPr>
            <a:r>
              <a:rPr lang="en-MY" sz="1800" dirty="0">
                <a:solidFill>
                  <a:schemeClr val="tx1"/>
                </a:solidFill>
                <a:latin typeface="Calibri"/>
              </a:rPr>
              <a:t>3. Adding Employee Profile (Address)</a:t>
            </a:r>
          </a:p>
          <a:p>
            <a:pPr marL="0" indent="0">
              <a:spcBef>
                <a:spcPts val="1080"/>
              </a:spcBef>
              <a:buSzPts val="2208"/>
              <a:buNone/>
            </a:pPr>
            <a:r>
              <a:rPr lang="en-MY" sz="1800" dirty="0">
                <a:solidFill>
                  <a:schemeClr val="tx1"/>
                </a:solidFill>
                <a:latin typeface="Calibri"/>
              </a:rPr>
              <a:t>4. Adding Employee Salary</a:t>
            </a:r>
          </a:p>
          <a:p>
            <a:pPr marL="0" indent="0">
              <a:spcBef>
                <a:spcPts val="1080"/>
              </a:spcBef>
              <a:buSzPts val="2208"/>
              <a:buNone/>
            </a:pPr>
            <a:r>
              <a:rPr lang="en-MY" sz="1800" dirty="0">
                <a:solidFill>
                  <a:schemeClr val="tx1"/>
                </a:solidFill>
                <a:latin typeface="Calibri"/>
              </a:rPr>
              <a:t>5. Adding Employee Statutory</a:t>
            </a:r>
          </a:p>
          <a:p>
            <a:pPr marL="0" indent="0">
              <a:spcBef>
                <a:spcPts val="1080"/>
              </a:spcBef>
              <a:buSzPts val="2208"/>
              <a:buNone/>
            </a:pPr>
            <a:r>
              <a:rPr lang="en-MY" sz="18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6. Adding Fixed Allowance</a:t>
            </a:r>
            <a:endParaRPr lang="en-MY" sz="1800" dirty="0">
              <a:solidFill>
                <a:schemeClr val="tx1"/>
              </a:solidFill>
              <a:latin typeface="Calibri"/>
            </a:endParaRPr>
          </a:p>
          <a:p>
            <a:pPr marL="0" indent="0">
              <a:spcBef>
                <a:spcPts val="1080"/>
              </a:spcBef>
              <a:buSzPts val="2208"/>
              <a:buNone/>
            </a:pPr>
            <a:r>
              <a:rPr lang="en-MY" sz="1800" dirty="0">
                <a:solidFill>
                  <a:schemeClr val="tx1"/>
                </a:solidFill>
                <a:latin typeface="Calibri"/>
              </a:rPr>
              <a:t>7. Adding Employee Bank Details</a:t>
            </a:r>
          </a:p>
        </p:txBody>
      </p:sp>
      <p:pic>
        <p:nvPicPr>
          <p:cNvPr id="205" name="Google Shape;205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163051" y="626649"/>
            <a:ext cx="2827344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8E59F792-9D84-CCB1-0792-B380BB2C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b4e50f20d3_0_888">
            <a:extLst>
              <a:ext uri="{FF2B5EF4-FFF2-40B4-BE49-F238E27FC236}">
                <a16:creationId xmlns:a16="http://schemas.microsoft.com/office/drawing/2014/main" id="{531C2B29-6F57-56F8-9991-75EA09213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1030" y="888928"/>
            <a:ext cx="4578294" cy="393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1) Access the Main Portal(Super Admin)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48E41BEB-BFB7-6C32-4A66-A9853B59893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229220" y="554697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81ACE849-ED73-B950-7056-11736CA6B9E3}"/>
              </a:ext>
            </a:extLst>
          </p:cNvPr>
          <p:cNvSpPr txBox="1"/>
          <p:nvPr/>
        </p:nvSpPr>
        <p:spPr>
          <a:xfrm>
            <a:off x="394565" y="535525"/>
            <a:ext cx="4978857" cy="444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lang="en-MY" sz="1800" b="1" kern="0" dirty="0">
                <a:solidFill>
                  <a:srgbClr val="000000"/>
                </a:solidFill>
                <a:latin typeface="Libre Franklin"/>
                <a:sym typeface="Libre Franklin"/>
              </a:rPr>
              <a:t>Employee Portal Login</a:t>
            </a:r>
            <a:endParaRPr lang="en-US" sz="1800" dirty="0">
              <a:latin typeface="Libre Franklin"/>
            </a:endParaRPr>
          </a:p>
        </p:txBody>
      </p:sp>
      <p:pic>
        <p:nvPicPr>
          <p:cNvPr id="9" name="Picture 8" descr="A person sitting on the floor with a computer&#10;&#10;AI-generated content may be incorrect.">
            <a:extLst>
              <a:ext uri="{FF2B5EF4-FFF2-40B4-BE49-F238E27FC236}">
                <a16:creationId xmlns:a16="http://schemas.microsoft.com/office/drawing/2014/main" id="{B57F6298-7095-286E-4AF2-A55C9E971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18" y="1846230"/>
            <a:ext cx="9732784" cy="4162443"/>
          </a:xfrm>
          <a:prstGeom prst="rect">
            <a:avLst/>
          </a:prstGeom>
        </p:spPr>
      </p:pic>
      <p:sp>
        <p:nvSpPr>
          <p:cNvPr id="11" name="Google Shape;272;g2b4e50f20d3_0_873">
            <a:extLst>
              <a:ext uri="{FF2B5EF4-FFF2-40B4-BE49-F238E27FC236}">
                <a16:creationId xmlns:a16="http://schemas.microsoft.com/office/drawing/2014/main" id="{52BAD68B-5F9A-401B-A96C-CE6B11E3C8BF}"/>
              </a:ext>
            </a:extLst>
          </p:cNvPr>
          <p:cNvSpPr/>
          <p:nvPr/>
        </p:nvSpPr>
        <p:spPr>
          <a:xfrm>
            <a:off x="4288217" y="1608533"/>
            <a:ext cx="2660856" cy="40358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1- Insert </a:t>
            </a:r>
            <a:r>
              <a:rPr lang="en-MY" sz="1200" noProof="0">
                <a:solidFill>
                  <a:prstClr val="black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Username/</a:t>
            </a: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Email Address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" name="Google Shape;273;g2b4e50f20d3_0_873">
            <a:extLst>
              <a:ext uri="{FF2B5EF4-FFF2-40B4-BE49-F238E27FC236}">
                <a16:creationId xmlns:a16="http://schemas.microsoft.com/office/drawing/2014/main" id="{F7D755E6-4839-8158-FBC7-F5F70ABC09D5}"/>
              </a:ext>
            </a:extLst>
          </p:cNvPr>
          <p:cNvSpPr/>
          <p:nvPr/>
        </p:nvSpPr>
        <p:spPr>
          <a:xfrm>
            <a:off x="6821765" y="6010720"/>
            <a:ext cx="1850700" cy="43492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2-</a:t>
            </a:r>
            <a:r>
              <a:rPr kumimoji="0" lang="en-MY" sz="12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I</a:t>
            </a: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nsert Password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" name="Google Shape;274;g2b4e50f20d3_0_873">
            <a:extLst>
              <a:ext uri="{FF2B5EF4-FFF2-40B4-BE49-F238E27FC236}">
                <a16:creationId xmlns:a16="http://schemas.microsoft.com/office/drawing/2014/main" id="{BBB3F499-95CF-B054-F6A4-689414F7B8E2}"/>
              </a:ext>
            </a:extLst>
          </p:cNvPr>
          <p:cNvSpPr/>
          <p:nvPr/>
        </p:nvSpPr>
        <p:spPr>
          <a:xfrm>
            <a:off x="10289649" y="5091360"/>
            <a:ext cx="1497774" cy="41888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3- Click Login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7" name="Google Shape;276;g2b4e50f20d3_0_873">
            <a:extLst>
              <a:ext uri="{FF2B5EF4-FFF2-40B4-BE49-F238E27FC236}">
                <a16:creationId xmlns:a16="http://schemas.microsoft.com/office/drawing/2014/main" id="{575EF466-FF77-C9D7-ED08-C3761AF60490}"/>
              </a:ext>
            </a:extLst>
          </p:cNvPr>
          <p:cNvCxnSpPr>
            <a:cxnSpLocks/>
          </p:cNvCxnSpPr>
          <p:nvPr/>
        </p:nvCxnSpPr>
        <p:spPr>
          <a:xfrm>
            <a:off x="7700705" y="4654318"/>
            <a:ext cx="606" cy="13506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277;g2b4e50f20d3_0_873">
            <a:extLst>
              <a:ext uri="{FF2B5EF4-FFF2-40B4-BE49-F238E27FC236}">
                <a16:creationId xmlns:a16="http://schemas.microsoft.com/office/drawing/2014/main" id="{82498ED4-C312-B2D9-46CC-DB9BA52014FF}"/>
              </a:ext>
            </a:extLst>
          </p:cNvPr>
          <p:cNvCxnSpPr>
            <a:cxnSpLocks/>
          </p:cNvCxnSpPr>
          <p:nvPr/>
        </p:nvCxnSpPr>
        <p:spPr>
          <a:xfrm flipV="1">
            <a:off x="9825493" y="5303113"/>
            <a:ext cx="457361" cy="3663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D82BE8-13D1-6A27-9BE7-CE3375B0A403}"/>
              </a:ext>
            </a:extLst>
          </p:cNvPr>
          <p:cNvCxnSpPr>
            <a:cxnSpLocks/>
          </p:cNvCxnSpPr>
          <p:nvPr/>
        </p:nvCxnSpPr>
        <p:spPr>
          <a:xfrm flipH="1" flipV="1">
            <a:off x="5532346" y="2000023"/>
            <a:ext cx="1271148" cy="1773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4377335-D4B2-206C-E3C1-CA85EE89192F}"/>
              </a:ext>
            </a:extLst>
          </p:cNvPr>
          <p:cNvSpPr/>
          <p:nvPr/>
        </p:nvSpPr>
        <p:spPr>
          <a:xfrm>
            <a:off x="6779058" y="3492390"/>
            <a:ext cx="2996132" cy="413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C67608-AA74-B2A6-5867-C89578B65514}"/>
              </a:ext>
            </a:extLst>
          </p:cNvPr>
          <p:cNvSpPr/>
          <p:nvPr/>
        </p:nvSpPr>
        <p:spPr>
          <a:xfrm>
            <a:off x="6781286" y="4287504"/>
            <a:ext cx="2995315" cy="3700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383D72-555B-1082-2D84-CA927085B291}"/>
              </a:ext>
            </a:extLst>
          </p:cNvPr>
          <p:cNvSpPr/>
          <p:nvPr/>
        </p:nvSpPr>
        <p:spPr>
          <a:xfrm>
            <a:off x="8876215" y="5101868"/>
            <a:ext cx="950613" cy="3780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580677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23" grpId="0" animBg="1"/>
      <p:bldP spid="28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BF2690-125C-E030-51DE-132CCDD47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112" y="2088986"/>
            <a:ext cx="8450638" cy="4053411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38115" y="859327"/>
            <a:ext cx="8713262" cy="415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1) Main Portal &gt; Accessing ‘Employee Management’ &gt;Access ‘Employee Profile'</a:t>
            </a:r>
            <a:endParaRPr lang="en-US" sz="16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229220" y="554697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4e50f20d3_0_888"/>
          <p:cNvSpPr/>
          <p:nvPr/>
        </p:nvSpPr>
        <p:spPr>
          <a:xfrm>
            <a:off x="358617" y="3039454"/>
            <a:ext cx="1792351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1- Access ‘Employee Management’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94" name="Google Shape;294;g2b4e50f20d3_0_888"/>
          <p:cNvCxnSpPr>
            <a:cxnSpLocks/>
            <a:stCxn id="2" idx="1"/>
            <a:endCxn id="293" idx="3"/>
          </p:cNvCxnSpPr>
          <p:nvPr/>
        </p:nvCxnSpPr>
        <p:spPr>
          <a:xfrm flipH="1" flipV="1">
            <a:off x="2150968" y="3250354"/>
            <a:ext cx="857144" cy="56221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58280" y="526453"/>
            <a:ext cx="7128785" cy="43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 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Adding  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Profile</a:t>
            </a:r>
            <a:endParaRPr lang="en-MY" sz="1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358617" y="4415269"/>
            <a:ext cx="1792351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2- Access ‘Employee Profile’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  <a:stCxn id="3" idx="1"/>
            <a:endCxn id="7" idx="3"/>
          </p:cNvCxnSpPr>
          <p:nvPr/>
        </p:nvCxnSpPr>
        <p:spPr>
          <a:xfrm flipH="1">
            <a:off x="2150968" y="4115693"/>
            <a:ext cx="857143" cy="51047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Rectangle 2"/>
          <p:cNvSpPr/>
          <p:nvPr/>
        </p:nvSpPr>
        <p:spPr>
          <a:xfrm>
            <a:off x="3008111" y="3990459"/>
            <a:ext cx="1464655" cy="250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08112" y="3687332"/>
            <a:ext cx="1464655" cy="250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835385-F843-9F01-92D3-5A92102F9305}"/>
              </a:ext>
            </a:extLst>
          </p:cNvPr>
          <p:cNvSpPr/>
          <p:nvPr/>
        </p:nvSpPr>
        <p:spPr>
          <a:xfrm>
            <a:off x="9859225" y="2715391"/>
            <a:ext cx="1446909" cy="3107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6" name="Google Shape;295;g2b4e50f20d3_0_888">
            <a:extLst>
              <a:ext uri="{FF2B5EF4-FFF2-40B4-BE49-F238E27FC236}">
                <a16:creationId xmlns:a16="http://schemas.microsoft.com/office/drawing/2014/main" id="{F8296B4A-1F74-031A-7353-ECCF7B5441ED}"/>
              </a:ext>
            </a:extLst>
          </p:cNvPr>
          <p:cNvSpPr/>
          <p:nvPr/>
        </p:nvSpPr>
        <p:spPr>
          <a:xfrm>
            <a:off x="9517825" y="3461254"/>
            <a:ext cx="2129709" cy="42179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3- Click ‘Create Employee Profile’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7" name="Google Shape;296;g2b4e50f20d3_0_888">
            <a:extLst>
              <a:ext uri="{FF2B5EF4-FFF2-40B4-BE49-F238E27FC236}">
                <a16:creationId xmlns:a16="http://schemas.microsoft.com/office/drawing/2014/main" id="{1C6C77B6-CA8C-E9FC-2DC7-EB90F2931A7A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>
          <a:xfrm flipV="1">
            <a:off x="10582680" y="3026092"/>
            <a:ext cx="0" cy="4351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7" grpId="0" animBg="1"/>
      <p:bldP spid="3" grpId="0" animBg="1"/>
      <p:bldP spid="2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292;g2b4e50f20d3_0_888">
            <a:extLst>
              <a:ext uri="{FF2B5EF4-FFF2-40B4-BE49-F238E27FC236}">
                <a16:creationId xmlns:a16="http://schemas.microsoft.com/office/drawing/2014/main" id="{81C30810-DC57-C7D3-4730-D840EF7B70B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127619" y="611589"/>
            <a:ext cx="2827345" cy="758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D91B8D-2215-82D2-5731-82BD757D9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797" y="1574028"/>
            <a:ext cx="5476200" cy="4932985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96477" y="556981"/>
            <a:ext cx="8280860" cy="4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Creating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 Profile</a:t>
            </a:r>
            <a:endParaRPr lang="en-MY" sz="1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Roboto"/>
              <a:ea typeface="Roboto"/>
              <a:cs typeface="Roboto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87407" y="901494"/>
            <a:ext cx="3790501" cy="394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2) Adding Employee Profile</a:t>
            </a:r>
          </a:p>
        </p:txBody>
      </p:sp>
      <p:cxnSp>
        <p:nvCxnSpPr>
          <p:cNvPr id="9" name="Google Shape;296;g2b4e50f20d3_0_888"/>
          <p:cNvCxnSpPr>
            <a:cxnSpLocks/>
            <a:stCxn id="8" idx="1"/>
            <a:endCxn id="41" idx="3"/>
          </p:cNvCxnSpPr>
          <p:nvPr/>
        </p:nvCxnSpPr>
        <p:spPr>
          <a:xfrm flipH="1" flipV="1">
            <a:off x="7631666" y="1807343"/>
            <a:ext cx="1495953" cy="11076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295;g2b4e50f20d3_0_888"/>
          <p:cNvSpPr/>
          <p:nvPr/>
        </p:nvSpPr>
        <p:spPr>
          <a:xfrm>
            <a:off x="9127619" y="1727712"/>
            <a:ext cx="2162288" cy="38078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-Company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Profile update automatically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" name="Google Shape;295;g2b4e50f20d3_0_888"/>
          <p:cNvSpPr/>
          <p:nvPr/>
        </p:nvSpPr>
        <p:spPr>
          <a:xfrm>
            <a:off x="8920519" y="2532383"/>
            <a:ext cx="2959735" cy="52184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Insert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Code/ID’</a:t>
            </a:r>
            <a:b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(the employee code/ID cannot be the same)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0" name="Google Shape;296;g2b4e50f20d3_0_888"/>
          <p:cNvCxnSpPr>
            <a:cxnSpLocks/>
            <a:stCxn id="5" idx="1"/>
            <a:endCxn id="24" idx="3"/>
          </p:cNvCxnSpPr>
          <p:nvPr/>
        </p:nvCxnSpPr>
        <p:spPr>
          <a:xfrm flipH="1" flipV="1">
            <a:off x="7631666" y="2358464"/>
            <a:ext cx="1288853" cy="43484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296;g2b4e50f20d3_0_888"/>
          <p:cNvCxnSpPr/>
          <p:nvPr/>
        </p:nvCxnSpPr>
        <p:spPr>
          <a:xfrm flipH="1" flipV="1">
            <a:off x="11506823" y="1337377"/>
            <a:ext cx="8912" cy="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296;g2b4e50f20d3_0_888"/>
          <p:cNvCxnSpPr>
            <a:cxnSpLocks/>
            <a:stCxn id="15" idx="1"/>
            <a:endCxn id="26" idx="3"/>
          </p:cNvCxnSpPr>
          <p:nvPr/>
        </p:nvCxnSpPr>
        <p:spPr>
          <a:xfrm flipH="1" flipV="1">
            <a:off x="7631667" y="2894303"/>
            <a:ext cx="1601632" cy="7134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2108962" y="2699425"/>
            <a:ext cx="5522705" cy="389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148025" y="4367353"/>
            <a:ext cx="5476200" cy="3820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 panose="020B0604020202020204"/>
              </a:rPr>
              <a:t>Not Mandatory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025" y="4928923"/>
            <a:ext cx="5476200" cy="3751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 panose="020B0604020202020204"/>
              </a:rPr>
              <a:t> </a:t>
            </a:r>
            <a:r>
              <a:rPr lang="en-MY" sz="1100" kern="0">
                <a:solidFill>
                  <a:srgbClr val="000000"/>
                </a:solidFill>
                <a:latin typeface="Arial"/>
                <a:sym typeface="Arial" panose="020B0604020202020204"/>
              </a:rPr>
              <a:t>Not 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 panose="020B0604020202020204"/>
              </a:rPr>
              <a:t>Mandatory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8962" y="1616322"/>
            <a:ext cx="5522704" cy="3820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48026" y="3831920"/>
            <a:ext cx="5476200" cy="3820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 panose="020B0604020202020204"/>
              </a:rPr>
              <a:t>Not Mandatory</a:t>
            </a:r>
          </a:p>
        </p:txBody>
      </p:sp>
      <p:sp>
        <p:nvSpPr>
          <p:cNvPr id="56" name="Google Shape;295;g2b4e50f20d3_0_888"/>
          <p:cNvSpPr/>
          <p:nvPr/>
        </p:nvSpPr>
        <p:spPr>
          <a:xfrm>
            <a:off x="9233299" y="4103148"/>
            <a:ext cx="2162288" cy="36566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Insert ‘Employee Name’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57" name="Google Shape;296;g2b4e50f20d3_0_888"/>
          <p:cNvCxnSpPr>
            <a:cxnSpLocks/>
            <a:stCxn id="56" idx="1"/>
            <a:endCxn id="40" idx="3"/>
          </p:cNvCxnSpPr>
          <p:nvPr/>
        </p:nvCxnSpPr>
        <p:spPr>
          <a:xfrm flipH="1" flipV="1">
            <a:off x="7624225" y="3450650"/>
            <a:ext cx="1609074" cy="83532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" name="Google Shape;295;g2b4e50f20d3_0_888"/>
          <p:cNvSpPr/>
          <p:nvPr/>
        </p:nvSpPr>
        <p:spPr>
          <a:xfrm>
            <a:off x="9233299" y="4877979"/>
            <a:ext cx="2162288" cy="37909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Insert ‘Employee IC’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61" name="Google Shape;296;g2b4e50f20d3_0_888"/>
          <p:cNvCxnSpPr>
            <a:cxnSpLocks/>
            <a:stCxn id="60" idx="1"/>
            <a:endCxn id="46" idx="3"/>
          </p:cNvCxnSpPr>
          <p:nvPr/>
        </p:nvCxnSpPr>
        <p:spPr>
          <a:xfrm flipH="1">
            <a:off x="7624225" y="5067528"/>
            <a:ext cx="1609074" cy="62261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" name="Google Shape;295;g2b4e50f20d3_0_888"/>
          <p:cNvSpPr/>
          <p:nvPr/>
        </p:nvSpPr>
        <p:spPr>
          <a:xfrm>
            <a:off x="8934972" y="5675793"/>
            <a:ext cx="3019992" cy="56928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</a:t>
            </a: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Date of Birth’ from calendar only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(You can input your desired year for the date of birth)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64" name="Google Shape;296;g2b4e50f20d3_0_888"/>
          <p:cNvCxnSpPr>
            <a:cxnSpLocks/>
            <a:stCxn id="63" idx="1"/>
            <a:endCxn id="28" idx="3"/>
          </p:cNvCxnSpPr>
          <p:nvPr/>
        </p:nvCxnSpPr>
        <p:spPr>
          <a:xfrm flipH="1">
            <a:off x="7624225" y="5960434"/>
            <a:ext cx="1310747" cy="28464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295;g2b4e50f20d3_0_888"/>
          <p:cNvSpPr/>
          <p:nvPr/>
        </p:nvSpPr>
        <p:spPr>
          <a:xfrm>
            <a:off x="9233299" y="3424935"/>
            <a:ext cx="2162288" cy="36566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Title’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8962" y="2160007"/>
            <a:ext cx="5522704" cy="396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148025" y="3255771"/>
            <a:ext cx="5476200" cy="3897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148025" y="5499117"/>
            <a:ext cx="5476200" cy="3820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F6AD11-BF97-4EC8-80BC-6E7DA13CD3A4}"/>
              </a:ext>
            </a:extLst>
          </p:cNvPr>
          <p:cNvSpPr/>
          <p:nvPr/>
        </p:nvSpPr>
        <p:spPr>
          <a:xfrm>
            <a:off x="2148025" y="6067551"/>
            <a:ext cx="5476200" cy="355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26" grpId="0" animBg="1"/>
      <p:bldP spid="41" grpId="0" animBg="1"/>
      <p:bldP spid="56" grpId="0" animBg="1"/>
      <p:bldP spid="60" grpId="0" animBg="1"/>
      <p:bldP spid="63" grpId="0" animBg="1"/>
      <p:bldP spid="15" grpId="0" animBg="1"/>
      <p:bldP spid="24" grpId="0" animBg="1"/>
      <p:bldP spid="40" grpId="0" animBg="1"/>
      <p:bldP spid="46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6">
            <a:extLst>
              <a:ext uri="{FF2B5EF4-FFF2-40B4-BE49-F238E27FC236}">
                <a16:creationId xmlns:a16="http://schemas.microsoft.com/office/drawing/2014/main" id="{6154AC0F-3C9B-C804-06C4-AE475C5E3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707" y="1299504"/>
            <a:ext cx="4102865" cy="2871501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66805F3B-6865-D8F1-3950-985FC397D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379" y="4121799"/>
            <a:ext cx="3139487" cy="2518987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417178" y="583697"/>
            <a:ext cx="7957688" cy="354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</a:t>
            </a: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Boarding</a:t>
            </a:r>
            <a:r>
              <a:rPr kumimoji="0" lang="en-MY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Process - </a:t>
            </a:r>
            <a:r>
              <a:rPr lang="en-MY" sz="20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Creating</a:t>
            </a:r>
            <a:r>
              <a:rPr kumimoji="0" lang="en-MY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 Profile</a:t>
            </a:r>
            <a:endParaRPr kumimoji="0" lang="en-MY" sz="20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405271" y="913261"/>
            <a:ext cx="4552501" cy="356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3) </a:t>
            </a:r>
            <a:r>
              <a:rPr lang="en-MY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Cont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- Adding Employee Profile</a:t>
            </a:r>
            <a:endParaRPr lang="en-MY" sz="1600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21" name="Google Shape;296;g2b4e50f20d3_0_888"/>
          <p:cNvCxnSpPr/>
          <p:nvPr/>
        </p:nvCxnSpPr>
        <p:spPr>
          <a:xfrm flipH="1" flipV="1">
            <a:off x="11506823" y="1337377"/>
            <a:ext cx="8912" cy="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" name="Google Shape;295;g2b4e50f20d3_0_888"/>
          <p:cNvSpPr/>
          <p:nvPr/>
        </p:nvSpPr>
        <p:spPr>
          <a:xfrm>
            <a:off x="9201676" y="1531379"/>
            <a:ext cx="2144769" cy="33329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Insert </a:t>
            </a: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‘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Place of Birth’</a:t>
            </a:r>
          </a:p>
        </p:txBody>
      </p:sp>
      <p:cxnSp>
        <p:nvCxnSpPr>
          <p:cNvPr id="36" name="Straight Arrow Connector 35"/>
          <p:cNvCxnSpPr>
            <a:cxnSpLocks/>
            <a:stCxn id="41" idx="3"/>
            <a:endCxn id="34" idx="1"/>
          </p:cNvCxnSpPr>
          <p:nvPr/>
        </p:nvCxnSpPr>
        <p:spPr>
          <a:xfrm>
            <a:off x="7389651" y="1450028"/>
            <a:ext cx="1812025" cy="24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Google Shape;295;g2b4e50f20d3_0_888"/>
          <p:cNvSpPr/>
          <p:nvPr/>
        </p:nvSpPr>
        <p:spPr>
          <a:xfrm>
            <a:off x="9201676" y="2036004"/>
            <a:ext cx="2144769" cy="31801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11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</a:t>
            </a:r>
            <a:r>
              <a:rPr kumimoji="0" lang="en-US" sz="11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‘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Religion’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9" name="Straight Arrow Connector 38"/>
          <p:cNvCxnSpPr>
            <a:cxnSpLocks/>
            <a:stCxn id="13" idx="3"/>
            <a:endCxn id="38" idx="1"/>
          </p:cNvCxnSpPr>
          <p:nvPr/>
        </p:nvCxnSpPr>
        <p:spPr>
          <a:xfrm>
            <a:off x="7395008" y="1823720"/>
            <a:ext cx="1806668" cy="371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3361914" y="1315749"/>
            <a:ext cx="4027737" cy="2685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Google Shape;295;g2b4e50f20d3_0_888"/>
          <p:cNvSpPr/>
          <p:nvPr/>
        </p:nvSpPr>
        <p:spPr>
          <a:xfrm>
            <a:off x="9201676" y="2543831"/>
            <a:ext cx="2144769" cy="32770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12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</a:t>
            </a: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Marital Status’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43" name="Straight Arrow Connector 42"/>
          <p:cNvCxnSpPr>
            <a:cxnSpLocks/>
            <a:stCxn id="18" idx="3"/>
            <a:endCxn id="42" idx="1"/>
          </p:cNvCxnSpPr>
          <p:nvPr/>
        </p:nvCxnSpPr>
        <p:spPr>
          <a:xfrm>
            <a:off x="7395008" y="2171478"/>
            <a:ext cx="1806668" cy="536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Google Shape;295;g2b4e50f20d3_0_888"/>
          <p:cNvSpPr/>
          <p:nvPr/>
        </p:nvSpPr>
        <p:spPr>
          <a:xfrm>
            <a:off x="9201675" y="3063233"/>
            <a:ext cx="2144769" cy="33575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13- Select </a:t>
            </a: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Gender’</a:t>
            </a:r>
          </a:p>
        </p:txBody>
      </p:sp>
      <p:cxnSp>
        <p:nvCxnSpPr>
          <p:cNvPr id="49" name="Straight Arrow Connector 48"/>
          <p:cNvCxnSpPr>
            <a:cxnSpLocks/>
            <a:stCxn id="23" idx="3"/>
            <a:endCxn id="48" idx="1"/>
          </p:cNvCxnSpPr>
          <p:nvPr/>
        </p:nvCxnSpPr>
        <p:spPr>
          <a:xfrm>
            <a:off x="7389651" y="2546940"/>
            <a:ext cx="1812024" cy="684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Google Shape;295;g2b4e50f20d3_0_888"/>
          <p:cNvSpPr/>
          <p:nvPr/>
        </p:nvSpPr>
        <p:spPr>
          <a:xfrm>
            <a:off x="9217850" y="3603129"/>
            <a:ext cx="2128594" cy="33575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14- Select ‘Race’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51" name="Straight Arrow Connector 50"/>
          <p:cNvCxnSpPr>
            <a:cxnSpLocks/>
            <a:stCxn id="44" idx="3"/>
            <a:endCxn id="50" idx="1"/>
          </p:cNvCxnSpPr>
          <p:nvPr/>
        </p:nvCxnSpPr>
        <p:spPr>
          <a:xfrm>
            <a:off x="7373479" y="2904491"/>
            <a:ext cx="1844371" cy="866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Google Shape;295;g2b4e50f20d3_0_888"/>
          <p:cNvSpPr/>
          <p:nvPr/>
        </p:nvSpPr>
        <p:spPr>
          <a:xfrm>
            <a:off x="9217849" y="4174412"/>
            <a:ext cx="2128593" cy="34265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15- Select ‘Citizenship</a:t>
            </a: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53" name="Straight Arrow Connector 52"/>
          <p:cNvCxnSpPr>
            <a:cxnSpLocks/>
            <a:stCxn id="55" idx="3"/>
            <a:endCxn id="52" idx="1"/>
          </p:cNvCxnSpPr>
          <p:nvPr/>
        </p:nvCxnSpPr>
        <p:spPr>
          <a:xfrm>
            <a:off x="7365392" y="3268610"/>
            <a:ext cx="1852457" cy="1077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361915" y="1689442"/>
            <a:ext cx="4033093" cy="268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67270" y="2048315"/>
            <a:ext cx="4027738" cy="246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361915" y="2415040"/>
            <a:ext cx="4027736" cy="263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361915" y="2778467"/>
            <a:ext cx="4011564" cy="25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353829" y="3142317"/>
            <a:ext cx="4011563" cy="2525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Google Shape;295;g2b4e50f20d3_0_888"/>
          <p:cNvSpPr/>
          <p:nvPr/>
        </p:nvSpPr>
        <p:spPr>
          <a:xfrm>
            <a:off x="9248673" y="4779446"/>
            <a:ext cx="2120846" cy="35747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16- </a:t>
            </a: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Assign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‘Employee Group’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65" name="Straight Arrow Connector 64"/>
          <p:cNvCxnSpPr>
            <a:cxnSpLocks/>
            <a:stCxn id="67" idx="3"/>
            <a:endCxn id="62" idx="1"/>
          </p:cNvCxnSpPr>
          <p:nvPr/>
        </p:nvCxnSpPr>
        <p:spPr>
          <a:xfrm>
            <a:off x="7373479" y="3634088"/>
            <a:ext cx="1875194" cy="1324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3345741" y="3515136"/>
            <a:ext cx="4027738" cy="237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BBA430-E95C-42C8-AB26-9D04F8B2D6FF}"/>
              </a:ext>
            </a:extLst>
          </p:cNvPr>
          <p:cNvCxnSpPr>
            <a:cxnSpLocks/>
            <a:stCxn id="46" idx="0"/>
            <a:endCxn id="45" idx="2"/>
          </p:cNvCxnSpPr>
          <p:nvPr/>
        </p:nvCxnSpPr>
        <p:spPr>
          <a:xfrm flipH="1" flipV="1">
            <a:off x="3218345" y="5403854"/>
            <a:ext cx="1310112" cy="918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Google Shape;295;g2b4e50f20d3_0_888">
            <a:extLst>
              <a:ext uri="{FF2B5EF4-FFF2-40B4-BE49-F238E27FC236}">
                <a16:creationId xmlns:a16="http://schemas.microsoft.com/office/drawing/2014/main" id="{A08163AD-FCB3-48AE-8D3B-9877287B3CF4}"/>
              </a:ext>
            </a:extLst>
          </p:cNvPr>
          <p:cNvSpPr/>
          <p:nvPr/>
        </p:nvSpPr>
        <p:spPr>
          <a:xfrm>
            <a:off x="2062351" y="5071340"/>
            <a:ext cx="2311988" cy="33251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19- </a:t>
            </a: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lick </a:t>
            </a: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‘S</a:t>
            </a:r>
            <a:r>
              <a:rPr kumimoji="0" lang="en-MY" sz="11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ave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’ once</a:t>
            </a:r>
            <a:r>
              <a:rPr kumimoji="0" lang="en-MY" sz="11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done</a:t>
            </a: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348572-4C80-4292-A018-13CBEB2CB577}"/>
              </a:ext>
            </a:extLst>
          </p:cNvPr>
          <p:cNvSpPr/>
          <p:nvPr/>
        </p:nvSpPr>
        <p:spPr>
          <a:xfrm>
            <a:off x="4249782" y="6321927"/>
            <a:ext cx="557349" cy="3551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4B9AED-5FD8-1D7C-B3E1-95946415C027}"/>
              </a:ext>
            </a:extLst>
          </p:cNvPr>
          <p:cNvSpPr/>
          <p:nvPr/>
        </p:nvSpPr>
        <p:spPr>
          <a:xfrm>
            <a:off x="3345741" y="4186203"/>
            <a:ext cx="3993432" cy="253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Google Shape;295;g2b4e50f20d3_0_888">
            <a:extLst>
              <a:ext uri="{FF2B5EF4-FFF2-40B4-BE49-F238E27FC236}">
                <a16:creationId xmlns:a16="http://schemas.microsoft.com/office/drawing/2014/main" id="{BD729F93-C2E7-94CA-5C7C-836DF38735E7}"/>
              </a:ext>
            </a:extLst>
          </p:cNvPr>
          <p:cNvSpPr/>
          <p:nvPr/>
        </p:nvSpPr>
        <p:spPr>
          <a:xfrm>
            <a:off x="630727" y="4119571"/>
            <a:ext cx="1972233" cy="35747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18- Upload Image File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E08E8B4-2C17-7B2E-3559-03DBBAE563D8}"/>
              </a:ext>
            </a:extLst>
          </p:cNvPr>
          <p:cNvCxnSpPr>
            <a:cxnSpLocks/>
            <a:stCxn id="2" idx="1"/>
            <a:endCxn id="3" idx="3"/>
          </p:cNvCxnSpPr>
          <p:nvPr/>
        </p:nvCxnSpPr>
        <p:spPr>
          <a:xfrm flipH="1" flipV="1">
            <a:off x="2602960" y="4298306"/>
            <a:ext cx="742781" cy="14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2C18CE0B-BE78-264B-3BD8-BD44032AF0AF}"/>
              </a:ext>
            </a:extLst>
          </p:cNvPr>
          <p:cNvSpPr/>
          <p:nvPr/>
        </p:nvSpPr>
        <p:spPr>
          <a:xfrm>
            <a:off x="3361915" y="3879333"/>
            <a:ext cx="4011563" cy="2305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Google Shape;295;g2b4e50f20d3_0_888">
            <a:extLst>
              <a:ext uri="{FF2B5EF4-FFF2-40B4-BE49-F238E27FC236}">
                <a16:creationId xmlns:a16="http://schemas.microsoft.com/office/drawing/2014/main" id="{9480D928-5742-818E-1A70-250AEF3BDF40}"/>
              </a:ext>
            </a:extLst>
          </p:cNvPr>
          <p:cNvSpPr/>
          <p:nvPr/>
        </p:nvSpPr>
        <p:spPr>
          <a:xfrm>
            <a:off x="9225597" y="5393198"/>
            <a:ext cx="2125677" cy="37895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17- Select ‘Primary Employee Group’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767B453-864E-D6B8-CF5C-F022D88DD3A5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7373478" y="3994620"/>
            <a:ext cx="1852119" cy="1588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Google Shape;205;p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E74C8B9D-86F5-6421-3F63-1849C9A97EBF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405145" y="547715"/>
            <a:ext cx="2636845" cy="680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8" grpId="0" animBg="1"/>
      <p:bldP spid="41" grpId="0" animBg="1"/>
      <p:bldP spid="42" grpId="0" animBg="1"/>
      <p:bldP spid="48" grpId="0" animBg="1"/>
      <p:bldP spid="50" grpId="0" animBg="1"/>
      <p:bldP spid="52" grpId="0" animBg="1"/>
      <p:bldP spid="13" grpId="0" animBg="1"/>
      <p:bldP spid="18" grpId="0" animBg="1"/>
      <p:bldP spid="23" grpId="0" animBg="1"/>
      <p:bldP spid="44" grpId="0" animBg="1"/>
      <p:bldP spid="55" grpId="0" animBg="1"/>
      <p:bldP spid="62" grpId="0" animBg="1"/>
      <p:bldP spid="67" grpId="0" animBg="1"/>
      <p:bldP spid="45" grpId="0" animBg="1"/>
      <p:bldP spid="46" grpId="0" animBg="1"/>
      <p:bldP spid="2" grpId="0" animBg="1"/>
      <p:bldP spid="3" grpId="0" animBg="1"/>
      <p:bldP spid="58" grpId="0" animBg="1"/>
      <p:bldP spid="5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5B8882-7BF3-24E9-D74D-AEB80A1E9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44" y="3278677"/>
            <a:ext cx="4692674" cy="27502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C51DBA-DDC0-4007-A249-AB8B7234E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06" y="1438122"/>
            <a:ext cx="9022080" cy="1193933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59581" y="573554"/>
            <a:ext cx="7826719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 - 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Creating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 Profile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9581" y="929439"/>
            <a:ext cx="6945657" cy="40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108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4) </a:t>
            </a:r>
            <a:r>
              <a:rPr lang="en-US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prompt message will appear once the record is 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saved</a:t>
            </a:r>
          </a:p>
        </p:txBody>
      </p:sp>
      <p:cxnSp>
        <p:nvCxnSpPr>
          <p:cNvPr id="5" name="Google Shape;296;g2b4e50f20d3_0_888"/>
          <p:cNvCxnSpPr>
            <a:cxnSpLocks/>
          </p:cNvCxnSpPr>
          <p:nvPr/>
        </p:nvCxnSpPr>
        <p:spPr>
          <a:xfrm flipV="1">
            <a:off x="8690314" y="2504621"/>
            <a:ext cx="0" cy="366088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295;g2b4e50f20d3_0_888"/>
          <p:cNvSpPr/>
          <p:nvPr/>
        </p:nvSpPr>
        <p:spPr>
          <a:xfrm>
            <a:off x="7975218" y="2870709"/>
            <a:ext cx="1430192" cy="31661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20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‘Yes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" name="Google Shape;291;g2b4e50f20d3_0_888"/>
          <p:cNvSpPr txBox="1"/>
          <p:nvPr/>
        </p:nvSpPr>
        <p:spPr>
          <a:xfrm>
            <a:off x="418325" y="2870697"/>
            <a:ext cx="5743126" cy="326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lang="en-US" sz="1600" kern="0" dirty="0">
                <a:solidFill>
                  <a:schemeClr val="tx1"/>
                </a:solidFill>
                <a:latin typeface="Calibri"/>
              </a:rPr>
              <a:t>5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sym typeface="Libre Franklin"/>
              </a:rPr>
              <a:t>) Then click </a:t>
            </a:r>
            <a:r>
              <a:rPr lang="en-US" sz="1600" kern="0" dirty="0">
                <a:solidFill>
                  <a:schemeClr val="tx1"/>
                </a:solidFill>
                <a:latin typeface="Calibri"/>
              </a:rPr>
              <a:t>‘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sym typeface="Libre Franklin"/>
              </a:rPr>
              <a:t> Back</a:t>
            </a:r>
            <a:r>
              <a:rPr lang="en-US" sz="1600" kern="0" dirty="0">
                <a:solidFill>
                  <a:schemeClr val="tx1"/>
                </a:solidFill>
                <a:latin typeface="Calibri"/>
              </a:rPr>
              <a:t>'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sym typeface="Libre Franklin"/>
            </a:endParaRPr>
          </a:p>
        </p:txBody>
      </p:sp>
      <p:cxnSp>
        <p:nvCxnSpPr>
          <p:cNvPr id="20" name="Google Shape;296;g2b4e50f20d3_0_888"/>
          <p:cNvCxnSpPr>
            <a:cxnSpLocks/>
          </p:cNvCxnSpPr>
          <p:nvPr/>
        </p:nvCxnSpPr>
        <p:spPr>
          <a:xfrm flipH="1" flipV="1">
            <a:off x="1400071" y="5880774"/>
            <a:ext cx="1647223" cy="477174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295;g2b4e50f20d3_0_888"/>
          <p:cNvSpPr/>
          <p:nvPr/>
        </p:nvSpPr>
        <p:spPr>
          <a:xfrm>
            <a:off x="2952045" y="6196974"/>
            <a:ext cx="1777703" cy="32194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21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‘Back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450397" y="2201431"/>
            <a:ext cx="479834" cy="3031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52022" y="5708818"/>
            <a:ext cx="659958" cy="3200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pic>
        <p:nvPicPr>
          <p:cNvPr id="8" name="Google Shape;205;p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B8D14D9D-3B29-5F50-BF1E-C44774FB687A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258301" y="555212"/>
            <a:ext cx="2827344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1" grpId="0" animBg="1"/>
      <p:bldP spid="24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2AA78623-231B-422E-63F7-B3A480A16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463" y="2282300"/>
            <a:ext cx="8712077" cy="3702042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99101" y="560086"/>
            <a:ext cx="8678852" cy="35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Employee 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Join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/Resignation</a:t>
            </a:r>
            <a:endParaRPr lang="en-MY" sz="1800" kern="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ranklin Gothic"/>
              <a:buNone/>
              <a:tabLst/>
              <a:defRPr/>
            </a:pPr>
            <a:endParaRPr lang="en-MY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Roboto"/>
              <a:cs typeface="Roboto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67872" y="855077"/>
            <a:ext cx="7958563" cy="371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1) Access ‘Employee Management’ &gt; Access ‘Status’ &gt; Access ‘Employee Join/Resignation’</a:t>
            </a:r>
            <a:endParaRPr lang="en-MY" sz="1600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Google Shape;293;g2b4e50f20d3_0_888"/>
          <p:cNvSpPr/>
          <p:nvPr/>
        </p:nvSpPr>
        <p:spPr>
          <a:xfrm>
            <a:off x="422839" y="2558709"/>
            <a:ext cx="1941246" cy="38118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1- Access ‘Employee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Management’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0" name="Google Shape;294;g2b4e50f20d3_0_888"/>
          <p:cNvCxnSpPr>
            <a:cxnSpLocks/>
            <a:stCxn id="15" idx="1"/>
            <a:endCxn id="9" idx="3"/>
          </p:cNvCxnSpPr>
          <p:nvPr/>
        </p:nvCxnSpPr>
        <p:spPr>
          <a:xfrm flipH="1" flipV="1">
            <a:off x="2364085" y="2749304"/>
            <a:ext cx="762378" cy="7579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95;g2b4e50f20d3_0_888"/>
          <p:cNvSpPr/>
          <p:nvPr/>
        </p:nvSpPr>
        <p:spPr>
          <a:xfrm>
            <a:off x="422839" y="3759882"/>
            <a:ext cx="1941246" cy="32476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2- Access ‘Status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  <a:stCxn id="16" idx="1"/>
            <a:endCxn id="11" idx="3"/>
          </p:cNvCxnSpPr>
          <p:nvPr/>
        </p:nvCxnSpPr>
        <p:spPr>
          <a:xfrm flipH="1" flipV="1">
            <a:off x="2364085" y="3922267"/>
            <a:ext cx="762378" cy="54980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3126463" y="3382610"/>
            <a:ext cx="1502296" cy="2493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26463" y="4336559"/>
            <a:ext cx="1502296" cy="2710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4" name="Google Shape;295;g2b4e50f20d3_0_888"/>
          <p:cNvSpPr/>
          <p:nvPr/>
        </p:nvSpPr>
        <p:spPr>
          <a:xfrm>
            <a:off x="423245" y="4962468"/>
            <a:ext cx="1940840" cy="41529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3- Access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‘Employee Join/Resignation’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7" name="Google Shape;296;g2b4e50f20d3_0_888"/>
          <p:cNvCxnSpPr>
            <a:cxnSpLocks/>
            <a:stCxn id="18" idx="1"/>
            <a:endCxn id="14" idx="3"/>
          </p:cNvCxnSpPr>
          <p:nvPr/>
        </p:nvCxnSpPr>
        <p:spPr>
          <a:xfrm flipH="1" flipV="1">
            <a:off x="2364085" y="5170113"/>
            <a:ext cx="762378" cy="23051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3126463" y="5265112"/>
            <a:ext cx="1502296" cy="2710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pic>
        <p:nvPicPr>
          <p:cNvPr id="3" name="Google Shape;205;p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7A60650B-7869-8EB4-086E-660F668E3EA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214645" y="590930"/>
            <a:ext cx="2827344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5" grpId="0" animBg="1"/>
      <p:bldP spid="16" grpId="0" animBg="1"/>
      <p:bldP spid="14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049FCC-BE60-A915-D059-1008AA669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39" y="2589291"/>
            <a:ext cx="10527632" cy="3058383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56253" y="505760"/>
            <a:ext cx="8449573" cy="52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mployee Join/Resignation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47072" y="897126"/>
            <a:ext cx="6886126" cy="356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2) Create New Employee Join/Resignation</a:t>
            </a:r>
          </a:p>
        </p:txBody>
      </p:sp>
      <p:sp>
        <p:nvSpPr>
          <p:cNvPr id="9" name="Google Shape;293;g2b4e50f20d3_0_888"/>
          <p:cNvSpPr/>
          <p:nvPr/>
        </p:nvSpPr>
        <p:spPr>
          <a:xfrm>
            <a:off x="8920031" y="1706729"/>
            <a:ext cx="2619752" cy="50055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Click ‘Create Employee Join/Resignation’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0" name="Google Shape;294;g2b4e50f20d3_0_888"/>
          <p:cNvCxnSpPr>
            <a:cxnSpLocks/>
          </p:cNvCxnSpPr>
          <p:nvPr/>
        </p:nvCxnSpPr>
        <p:spPr>
          <a:xfrm flipH="1" flipV="1">
            <a:off x="10229907" y="2207279"/>
            <a:ext cx="36723" cy="45444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8980529" y="2661719"/>
            <a:ext cx="2498756" cy="307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pic>
        <p:nvPicPr>
          <p:cNvPr id="3" name="Google Shape;205;p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509E8C8B-C2C8-59CD-C23A-42F297E9D913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89079" y="548756"/>
            <a:ext cx="2652911" cy="730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68DCAD-27F4-9261-3DF4-7352CB8D2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33" y="1423193"/>
            <a:ext cx="5167063" cy="4729274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76662" y="504876"/>
            <a:ext cx="8217421" cy="452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Join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/Resignation</a:t>
            </a:r>
            <a:endParaRPr lang="en-MY" sz="1800" kern="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" name="Google Shape;293;g2b4e50f20d3_0_888"/>
          <p:cNvSpPr/>
          <p:nvPr/>
        </p:nvSpPr>
        <p:spPr>
          <a:xfrm>
            <a:off x="8950830" y="2012453"/>
            <a:ext cx="2097420" cy="32069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Employee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0" name="Google Shape;294;g2b4e50f20d3_0_888"/>
          <p:cNvCxnSpPr>
            <a:cxnSpLocks/>
            <a:stCxn id="15" idx="3"/>
            <a:endCxn id="9" idx="1"/>
          </p:cNvCxnSpPr>
          <p:nvPr/>
        </p:nvCxnSpPr>
        <p:spPr>
          <a:xfrm>
            <a:off x="7871032" y="2154047"/>
            <a:ext cx="1079798" cy="1875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95;g2b4e50f20d3_0_888"/>
          <p:cNvSpPr/>
          <p:nvPr/>
        </p:nvSpPr>
        <p:spPr>
          <a:xfrm>
            <a:off x="8831020" y="2773091"/>
            <a:ext cx="2684357" cy="41884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lang="en-US" sz="120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</a:t>
            </a:r>
            <a:r>
              <a:rPr lang="en-US" sz="120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utomatically</a:t>
            </a:r>
            <a:r>
              <a:rPr lang="en-US" sz="12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populate with the current date of creation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  <a:stCxn id="16" idx="3"/>
            <a:endCxn id="11" idx="1"/>
          </p:cNvCxnSpPr>
          <p:nvPr/>
        </p:nvCxnSpPr>
        <p:spPr>
          <a:xfrm>
            <a:off x="7871032" y="2528026"/>
            <a:ext cx="959988" cy="4544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3447873" y="2012453"/>
            <a:ext cx="4423159" cy="283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000000"/>
              </a:highlight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47873" y="2391881"/>
            <a:ext cx="4423159" cy="272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4" name="Google Shape;295;g2b4e50f20d3_0_888"/>
          <p:cNvSpPr/>
          <p:nvPr/>
        </p:nvSpPr>
        <p:spPr>
          <a:xfrm>
            <a:off x="8831020" y="4345112"/>
            <a:ext cx="2337040" cy="32023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Resignation Type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7" name="Google Shape;296;g2b4e50f20d3_0_888"/>
          <p:cNvCxnSpPr>
            <a:cxnSpLocks/>
            <a:stCxn id="18" idx="3"/>
            <a:endCxn id="14" idx="1"/>
          </p:cNvCxnSpPr>
          <p:nvPr/>
        </p:nvCxnSpPr>
        <p:spPr>
          <a:xfrm>
            <a:off x="7871032" y="4505230"/>
            <a:ext cx="95998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3438101" y="4359898"/>
            <a:ext cx="4432931" cy="290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61FCB4-E871-48DD-965B-02AA6CE4E933}"/>
              </a:ext>
            </a:extLst>
          </p:cNvPr>
          <p:cNvSpPr/>
          <p:nvPr/>
        </p:nvSpPr>
        <p:spPr>
          <a:xfrm>
            <a:off x="4581054" y="5795567"/>
            <a:ext cx="696340" cy="356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0" name="Google Shape;296;g2b4e50f20d3_0_888">
            <a:extLst>
              <a:ext uri="{FF2B5EF4-FFF2-40B4-BE49-F238E27FC236}">
                <a16:creationId xmlns:a16="http://schemas.microsoft.com/office/drawing/2014/main" id="{869A23D8-3848-4D31-BA55-CDF4C15AFD0A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flipH="1">
            <a:off x="3225059" y="5974017"/>
            <a:ext cx="1355995" cy="38234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295;g2b4e50f20d3_0_888">
            <a:extLst>
              <a:ext uri="{FF2B5EF4-FFF2-40B4-BE49-F238E27FC236}">
                <a16:creationId xmlns:a16="http://schemas.microsoft.com/office/drawing/2014/main" id="{7E4E2BE8-7BF6-4ED8-A347-3649E420FE5C}"/>
              </a:ext>
            </a:extLst>
          </p:cNvPr>
          <p:cNvSpPr/>
          <p:nvPr/>
        </p:nvSpPr>
        <p:spPr>
          <a:xfrm>
            <a:off x="1211384" y="6173797"/>
            <a:ext cx="2013675" cy="3651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MY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11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lang="en-US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lick ‘Save’ once done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71825F7-AEC1-7FE6-671C-17313C0FFE12}"/>
              </a:ext>
            </a:extLst>
          </p:cNvPr>
          <p:cNvSpPr/>
          <p:nvPr/>
        </p:nvSpPr>
        <p:spPr>
          <a:xfrm>
            <a:off x="3447873" y="2785340"/>
            <a:ext cx="4423159" cy="10608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48" name="Google Shape;295;g2b4e50f20d3_0_888">
            <a:extLst>
              <a:ext uri="{FF2B5EF4-FFF2-40B4-BE49-F238E27FC236}">
                <a16:creationId xmlns:a16="http://schemas.microsoft.com/office/drawing/2014/main" id="{C868ED2C-25BD-D935-AAC3-372D3B1D3768}"/>
              </a:ext>
            </a:extLst>
          </p:cNvPr>
          <p:cNvSpPr/>
          <p:nvPr/>
        </p:nvSpPr>
        <p:spPr>
          <a:xfrm>
            <a:off x="684435" y="3343123"/>
            <a:ext cx="2013674" cy="3651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Default date and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time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49" name="Google Shape;296;g2b4e50f20d3_0_888">
            <a:extLst>
              <a:ext uri="{FF2B5EF4-FFF2-40B4-BE49-F238E27FC236}">
                <a16:creationId xmlns:a16="http://schemas.microsoft.com/office/drawing/2014/main" id="{38438C5D-6DDD-E625-7E2C-D0F8DCD820F8}"/>
              </a:ext>
            </a:extLst>
          </p:cNvPr>
          <p:cNvCxnSpPr>
            <a:cxnSpLocks/>
            <a:stCxn id="41" idx="1"/>
            <a:endCxn id="48" idx="3"/>
          </p:cNvCxnSpPr>
          <p:nvPr/>
        </p:nvCxnSpPr>
        <p:spPr>
          <a:xfrm flipH="1">
            <a:off x="2698109" y="3315767"/>
            <a:ext cx="749764" cy="20991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Google Shape;295;g2b4e50f20d3_0_888">
            <a:extLst>
              <a:ext uri="{FF2B5EF4-FFF2-40B4-BE49-F238E27FC236}">
                <a16:creationId xmlns:a16="http://schemas.microsoft.com/office/drawing/2014/main" id="{DECC2DEE-24D1-7AA2-4637-0E2FF7449118}"/>
              </a:ext>
            </a:extLst>
          </p:cNvPr>
          <p:cNvSpPr/>
          <p:nvPr/>
        </p:nvSpPr>
        <p:spPr>
          <a:xfrm>
            <a:off x="8831020" y="3646856"/>
            <a:ext cx="2836860" cy="33242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‘Resign Type’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if application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0B83F2-8062-376C-FB73-6FEC451CD59B}"/>
              </a:ext>
            </a:extLst>
          </p:cNvPr>
          <p:cNvSpPr/>
          <p:nvPr/>
        </p:nvSpPr>
        <p:spPr>
          <a:xfrm>
            <a:off x="3438101" y="3978418"/>
            <a:ext cx="4423159" cy="290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8" name="Google Shape;296;g2b4e50f20d3_0_888">
            <a:extLst>
              <a:ext uri="{FF2B5EF4-FFF2-40B4-BE49-F238E27FC236}">
                <a16:creationId xmlns:a16="http://schemas.microsoft.com/office/drawing/2014/main" id="{F8FE8446-7231-AC6A-EAF3-2E97C7105634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 flipV="1">
            <a:off x="7861260" y="3813067"/>
            <a:ext cx="969760" cy="31068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E265020-FE41-3345-500E-CF286BB47D55}"/>
              </a:ext>
            </a:extLst>
          </p:cNvPr>
          <p:cNvSpPr/>
          <p:nvPr/>
        </p:nvSpPr>
        <p:spPr>
          <a:xfrm>
            <a:off x="3438101" y="4734252"/>
            <a:ext cx="4423159" cy="290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8" name="Google Shape;295;g2b4e50f20d3_0_888">
            <a:extLst>
              <a:ext uri="{FF2B5EF4-FFF2-40B4-BE49-F238E27FC236}">
                <a16:creationId xmlns:a16="http://schemas.microsoft.com/office/drawing/2014/main" id="{EF81C39A-EBFE-0D84-840F-DF6BDBF07C93}"/>
              </a:ext>
            </a:extLst>
          </p:cNvPr>
          <p:cNvSpPr/>
          <p:nvPr/>
        </p:nvSpPr>
        <p:spPr>
          <a:xfrm>
            <a:off x="8831020" y="5006619"/>
            <a:ext cx="2525710" cy="32023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Insert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‘Remark’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if application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42" name="Google Shape;296;g2b4e50f20d3_0_888">
            <a:extLst>
              <a:ext uri="{FF2B5EF4-FFF2-40B4-BE49-F238E27FC236}">
                <a16:creationId xmlns:a16="http://schemas.microsoft.com/office/drawing/2014/main" id="{8B68BB74-7E3A-9A6D-2592-7ACBFDC9DA4E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7861260" y="4879584"/>
            <a:ext cx="969760" cy="2871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291;g2b4e50f20d3_0_888">
            <a:extLst>
              <a:ext uri="{FF2B5EF4-FFF2-40B4-BE49-F238E27FC236}">
                <a16:creationId xmlns:a16="http://schemas.microsoft.com/office/drawing/2014/main" id="{B6E02E09-29B4-7E74-8B24-11A5A7DEB5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8519" y="862835"/>
            <a:ext cx="6886126" cy="32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MY" sz="16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3) Adding Employee Join/Resignation details</a:t>
            </a:r>
          </a:p>
        </p:txBody>
      </p:sp>
      <p:pic>
        <p:nvPicPr>
          <p:cNvPr id="22" name="Google Shape;205;p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7B28140A-62CC-FDB2-1B94-C6C6112D5E7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214645" y="567117"/>
            <a:ext cx="2827344" cy="7583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874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5" grpId="0" animBg="1"/>
      <p:bldP spid="16" grpId="0" animBg="1"/>
      <p:bldP spid="14" grpId="0" animBg="1"/>
      <p:bldP spid="18" grpId="0" animBg="1"/>
      <p:bldP spid="19" grpId="0" animBg="1"/>
      <p:bldP spid="21" grpId="0" animBg="1"/>
      <p:bldP spid="41" grpId="0" animBg="1"/>
      <p:bldP spid="48" grpId="0" animBg="1"/>
      <p:bldP spid="25" grpId="0" animBg="1"/>
      <p:bldP spid="27" grpId="0" animBg="1"/>
      <p:bldP spid="37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465C58-195E-DF61-A456-215293B7C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77" y="2485028"/>
            <a:ext cx="9062096" cy="3498935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78847" y="525206"/>
            <a:ext cx="7921967" cy="43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Adding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Employee’s Job Details</a:t>
            </a:r>
            <a:endParaRPr lang="en-MY" sz="1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ibre Franklin"/>
              <a:ea typeface="Roboto"/>
              <a:cs typeface="Roboto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29981" y="854347"/>
            <a:ext cx="9698218" cy="40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1080"/>
              </a:spcBef>
              <a:buNone/>
            </a:pPr>
            <a:r>
              <a:rPr lang="en-MY" sz="1600">
                <a:solidFill>
                  <a:schemeClr val="tx1"/>
                </a:solidFill>
                <a:latin typeface="Calibri"/>
                <a:cs typeface="Calibri"/>
              </a:rPr>
              <a:t>1) Access ‘Employee Management’ &gt; Access ‘Status’ &gt; Access ‘Employee Status’ &gt; Click ‘Create Employee Status’</a:t>
            </a:r>
            <a:endParaRPr lang="en-MY" sz="1600" b="1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9" name="Google Shape;293;g2b4e50f20d3_0_888"/>
          <p:cNvSpPr/>
          <p:nvPr/>
        </p:nvSpPr>
        <p:spPr>
          <a:xfrm>
            <a:off x="197307" y="2601628"/>
            <a:ext cx="1862081" cy="38961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1- Access ‘Employee Management’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0" name="Google Shape;294;g2b4e50f20d3_0_888"/>
          <p:cNvCxnSpPr>
            <a:cxnSpLocks/>
            <a:stCxn id="15" idx="1"/>
            <a:endCxn id="9" idx="2"/>
          </p:cNvCxnSpPr>
          <p:nvPr/>
        </p:nvCxnSpPr>
        <p:spPr>
          <a:xfrm flipH="1" flipV="1">
            <a:off x="1128348" y="2991242"/>
            <a:ext cx="1142829" cy="73433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95;g2b4e50f20d3_0_888"/>
          <p:cNvSpPr/>
          <p:nvPr/>
        </p:nvSpPr>
        <p:spPr>
          <a:xfrm>
            <a:off x="231041" y="4063603"/>
            <a:ext cx="1862080" cy="34178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2- Access ‘Status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  <a:stCxn id="16" idx="1"/>
            <a:endCxn id="11" idx="2"/>
          </p:cNvCxnSpPr>
          <p:nvPr/>
        </p:nvCxnSpPr>
        <p:spPr>
          <a:xfrm flipH="1" flipV="1">
            <a:off x="1162081" y="4405390"/>
            <a:ext cx="1125960" cy="32555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2271177" y="3593636"/>
            <a:ext cx="1550628" cy="263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8041" y="4599008"/>
            <a:ext cx="1550628" cy="263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4" name="Google Shape;295;g2b4e50f20d3_0_888"/>
          <p:cNvSpPr/>
          <p:nvPr/>
        </p:nvSpPr>
        <p:spPr>
          <a:xfrm>
            <a:off x="188568" y="5758671"/>
            <a:ext cx="1947025" cy="38961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3- Access ‘Employee Status’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7" name="Google Shape;296;g2b4e50f20d3_0_888"/>
          <p:cNvCxnSpPr>
            <a:cxnSpLocks/>
            <a:stCxn id="18" idx="1"/>
            <a:endCxn id="14" idx="0"/>
          </p:cNvCxnSpPr>
          <p:nvPr/>
        </p:nvCxnSpPr>
        <p:spPr>
          <a:xfrm flipH="1">
            <a:off x="1162081" y="4994827"/>
            <a:ext cx="1125960" cy="7638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2288041" y="4849805"/>
            <a:ext cx="1550628" cy="2900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1E43114-786E-483A-A7C4-0A355E4EE06C}"/>
              </a:ext>
            </a:extLst>
          </p:cNvPr>
          <p:cNvSpPr/>
          <p:nvPr/>
        </p:nvSpPr>
        <p:spPr>
          <a:xfrm>
            <a:off x="9727853" y="2566988"/>
            <a:ext cx="1498954" cy="321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86" name="Google Shape;293;g2b4e50f20d3_0_888">
            <a:extLst>
              <a:ext uri="{FF2B5EF4-FFF2-40B4-BE49-F238E27FC236}">
                <a16:creationId xmlns:a16="http://schemas.microsoft.com/office/drawing/2014/main" id="{4CEA7F99-40B8-4C7B-BAE4-596B52D0DE42}"/>
              </a:ext>
            </a:extLst>
          </p:cNvPr>
          <p:cNvSpPr/>
          <p:nvPr/>
        </p:nvSpPr>
        <p:spPr>
          <a:xfrm>
            <a:off x="9546067" y="1588137"/>
            <a:ext cx="1862526" cy="53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4- Click ‘Create Employee Status’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7" name="Google Shape;294;g2b4e50f20d3_0_888">
            <a:extLst>
              <a:ext uri="{FF2B5EF4-FFF2-40B4-BE49-F238E27FC236}">
                <a16:creationId xmlns:a16="http://schemas.microsoft.com/office/drawing/2014/main" id="{C416EADF-F739-425C-9CBC-D0FF94084C66}"/>
              </a:ext>
            </a:extLst>
          </p:cNvPr>
          <p:cNvCxnSpPr>
            <a:cxnSpLocks/>
            <a:stCxn id="84" idx="0"/>
            <a:endCxn id="86" idx="2"/>
          </p:cNvCxnSpPr>
          <p:nvPr/>
        </p:nvCxnSpPr>
        <p:spPr>
          <a:xfrm flipV="1">
            <a:off x="10477330" y="2120637"/>
            <a:ext cx="0" cy="44635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" name="Google Shape;205;p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0C9EF83D-0E0A-4518-3D21-5884C816C9D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809076" y="543304"/>
            <a:ext cx="2176469" cy="607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5" grpId="0" animBg="1"/>
      <p:bldP spid="16" grpId="0" animBg="1"/>
      <p:bldP spid="14" grpId="0" animBg="1"/>
      <p:bldP spid="18" grpId="0" animBg="1"/>
      <p:bldP spid="84" grpId="0" animBg="1"/>
      <p:bldP spid="8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5D7CF59-0EB3-AD2E-37B1-262086AA9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75" y="2435909"/>
            <a:ext cx="7603340" cy="2823332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80154" y="565224"/>
            <a:ext cx="8108500" cy="385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Adding</a:t>
            </a: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Employee’s Job Details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81203" y="846013"/>
            <a:ext cx="5151216" cy="38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2) Select Department (if applicable)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38483" y="4076421"/>
            <a:ext cx="6637207" cy="440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Google Shape;295;g2b4e50f20d3_0_888"/>
          <p:cNvSpPr/>
          <p:nvPr/>
        </p:nvSpPr>
        <p:spPr>
          <a:xfrm>
            <a:off x="8811836" y="3800587"/>
            <a:ext cx="2543389" cy="37179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Company update</a:t>
            </a:r>
            <a:r>
              <a:rPr kumimoji="0" lang="en-MY" sz="11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automatically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9" name="Google Shape;296;g2b4e50f20d3_0_888"/>
          <p:cNvCxnSpPr>
            <a:cxnSpLocks/>
            <a:stCxn id="35" idx="1"/>
            <a:endCxn id="22" idx="3"/>
          </p:cNvCxnSpPr>
          <p:nvPr/>
        </p:nvCxnSpPr>
        <p:spPr>
          <a:xfrm flipH="1">
            <a:off x="8075690" y="3986484"/>
            <a:ext cx="736146" cy="31032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" name="Google Shape;295;g2b4e50f20d3_0_888"/>
          <p:cNvSpPr/>
          <p:nvPr/>
        </p:nvSpPr>
        <p:spPr>
          <a:xfrm>
            <a:off x="8811836" y="4730596"/>
            <a:ext cx="2543389" cy="37179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only if applicable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438482" y="4709848"/>
            <a:ext cx="6637208" cy="4407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34" name="Google Shape;296;g2b4e50f20d3_0_888"/>
          <p:cNvCxnSpPr>
            <a:cxnSpLocks/>
            <a:stCxn id="52" idx="1"/>
            <a:endCxn id="32" idx="3"/>
          </p:cNvCxnSpPr>
          <p:nvPr/>
        </p:nvCxnSpPr>
        <p:spPr>
          <a:xfrm flipH="1">
            <a:off x="8075690" y="4916493"/>
            <a:ext cx="736146" cy="1373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295;g2b4e50f20d3_0_888">
            <a:extLst>
              <a:ext uri="{FF2B5EF4-FFF2-40B4-BE49-F238E27FC236}">
                <a16:creationId xmlns:a16="http://schemas.microsoft.com/office/drawing/2014/main" id="{437A8FF0-8C6F-BBB2-FB0F-3F646A1773AE}"/>
              </a:ext>
            </a:extLst>
          </p:cNvPr>
          <p:cNvSpPr/>
          <p:nvPr/>
        </p:nvSpPr>
        <p:spPr>
          <a:xfrm>
            <a:off x="8952344" y="2844375"/>
            <a:ext cx="2058757" cy="37179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Employee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D1BA5C-5DD9-6219-E943-682FC2FA7B13}"/>
              </a:ext>
            </a:extLst>
          </p:cNvPr>
          <p:cNvSpPr/>
          <p:nvPr/>
        </p:nvSpPr>
        <p:spPr>
          <a:xfrm>
            <a:off x="1438483" y="3394306"/>
            <a:ext cx="6637207" cy="440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3" name="Google Shape;296;g2b4e50f20d3_0_888">
            <a:extLst>
              <a:ext uri="{FF2B5EF4-FFF2-40B4-BE49-F238E27FC236}">
                <a16:creationId xmlns:a16="http://schemas.microsoft.com/office/drawing/2014/main" id="{1CE91C03-C310-C3F7-5D5D-FE2F97D86F7E}"/>
              </a:ext>
            </a:extLst>
          </p:cNvPr>
          <p:cNvCxnSpPr>
            <a:cxnSpLocks/>
            <a:stCxn id="3" idx="1"/>
            <a:endCxn id="12" idx="3"/>
          </p:cNvCxnSpPr>
          <p:nvPr/>
        </p:nvCxnSpPr>
        <p:spPr>
          <a:xfrm flipH="1">
            <a:off x="8075690" y="3030272"/>
            <a:ext cx="876654" cy="58441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" name="Google Shape;205;p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F5E6BA67-0B68-8D43-63A4-F408F742D48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221701" y="567117"/>
            <a:ext cx="2827344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5" grpId="0" animBg="1"/>
      <p:bldP spid="52" grpId="0" animBg="1"/>
      <p:bldP spid="32" grpId="0" animBg="1"/>
      <p:bldP spid="3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DADEAA-A189-46FC-82CA-E55A31F69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010" y="2336439"/>
            <a:ext cx="5669822" cy="2593420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75037" y="566806"/>
            <a:ext cx="7990571" cy="435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Adding</a:t>
            </a: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Employee’s Job Details</a:t>
            </a:r>
            <a:endParaRPr lang="en-MY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Libre Franklin"/>
              <a:ea typeface="Roboto"/>
              <a:cs typeface="Roboto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75037" y="838242"/>
            <a:ext cx="7010953" cy="453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>
                <a:solidFill>
                  <a:schemeClr val="tx1"/>
                </a:solidFill>
                <a:latin typeface="Calibri"/>
              </a:rPr>
              <a:t>3) Select these details only if applicable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43892" y="2336439"/>
            <a:ext cx="5684520" cy="2593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Google Shape;295;g2b4e50f20d3_0_888"/>
          <p:cNvSpPr/>
          <p:nvPr/>
        </p:nvSpPr>
        <p:spPr>
          <a:xfrm>
            <a:off x="9417006" y="3138242"/>
            <a:ext cx="2103921" cy="44728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only if applicable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9" name="Google Shape;296;g2b4e50f20d3_0_888"/>
          <p:cNvCxnSpPr>
            <a:cxnSpLocks/>
          </p:cNvCxnSpPr>
          <p:nvPr/>
        </p:nvCxnSpPr>
        <p:spPr>
          <a:xfrm flipH="1" flipV="1">
            <a:off x="7428412" y="3138242"/>
            <a:ext cx="1988594" cy="22111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296;g2b4e50f20d3_0_888"/>
          <p:cNvCxnSpPr>
            <a:cxnSpLocks/>
          </p:cNvCxnSpPr>
          <p:nvPr/>
        </p:nvCxnSpPr>
        <p:spPr>
          <a:xfrm flipH="1" flipV="1">
            <a:off x="7428412" y="2560320"/>
            <a:ext cx="1988594" cy="8015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296;g2b4e50f20d3_0_888"/>
          <p:cNvCxnSpPr>
            <a:cxnSpLocks/>
            <a:stCxn id="35" idx="1"/>
            <a:endCxn id="22" idx="3"/>
          </p:cNvCxnSpPr>
          <p:nvPr/>
        </p:nvCxnSpPr>
        <p:spPr>
          <a:xfrm flipH="1">
            <a:off x="7428412" y="3361883"/>
            <a:ext cx="1988594" cy="2712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" name="Google Shape;296;g2b4e50f20d3_0_888"/>
          <p:cNvCxnSpPr>
            <a:cxnSpLocks/>
            <a:stCxn id="35" idx="1"/>
          </p:cNvCxnSpPr>
          <p:nvPr/>
        </p:nvCxnSpPr>
        <p:spPr>
          <a:xfrm flipH="1">
            <a:off x="7428412" y="3361883"/>
            <a:ext cx="1988594" cy="7603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296;g2b4e50f20d3_0_888"/>
          <p:cNvCxnSpPr>
            <a:cxnSpLocks/>
            <a:stCxn id="35" idx="1"/>
          </p:cNvCxnSpPr>
          <p:nvPr/>
        </p:nvCxnSpPr>
        <p:spPr>
          <a:xfrm flipH="1">
            <a:off x="7428412" y="3361883"/>
            <a:ext cx="1988594" cy="123153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" name="Google Shape;205;p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9B75876C-45BF-5304-2C17-73A6EAF41074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221701" y="567117"/>
            <a:ext cx="2827344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1DF31B-6CBE-4EC2-5315-7F2E0A051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89" y="3915732"/>
            <a:ext cx="4526914" cy="24660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8DCCFF-3905-4762-BE9A-35E614D31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96" y="1621121"/>
            <a:ext cx="5624047" cy="1623201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84761" y="572121"/>
            <a:ext cx="8190143" cy="408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Adding Employee’s Job Details</a:t>
            </a:r>
            <a:endParaRPr lang="en-MY" sz="1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ibre Franklin"/>
              <a:ea typeface="Roboto"/>
              <a:cs typeface="Roboto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93995" y="1016616"/>
            <a:ext cx="6289058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>
                <a:solidFill>
                  <a:schemeClr val="tx1"/>
                </a:solidFill>
                <a:latin typeface="Calibri"/>
                <a:cs typeface="Calibri"/>
              </a:rPr>
              <a:t>4) Select Employee TMS, which is Employee Work Shift.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91742" y="1675315"/>
            <a:ext cx="5197927" cy="1587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5" name="Google Shape;295;g2b4e50f20d3_0_888"/>
          <p:cNvSpPr/>
          <p:nvPr/>
        </p:nvSpPr>
        <p:spPr>
          <a:xfrm>
            <a:off x="8172435" y="2258030"/>
            <a:ext cx="2193784" cy="42180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TMS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9" name="Google Shape;296;g2b4e50f20d3_0_888"/>
          <p:cNvCxnSpPr>
            <a:cxnSpLocks/>
            <a:stCxn id="35" idx="1"/>
            <a:endCxn id="22" idx="3"/>
          </p:cNvCxnSpPr>
          <p:nvPr/>
        </p:nvCxnSpPr>
        <p:spPr>
          <a:xfrm flipH="1">
            <a:off x="6689669" y="2468931"/>
            <a:ext cx="1482766" cy="3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" name="Google Shape;295;g2b4e50f20d3_0_888"/>
          <p:cNvSpPr/>
          <p:nvPr/>
        </p:nvSpPr>
        <p:spPr>
          <a:xfrm>
            <a:off x="6719850" y="4925102"/>
            <a:ext cx="2348680" cy="44728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Employee Job Grade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192936" y="3935370"/>
            <a:ext cx="3389067" cy="24463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34" name="Google Shape;296;g2b4e50f20d3_0_888"/>
          <p:cNvCxnSpPr>
            <a:cxnSpLocks/>
            <a:stCxn id="52" idx="1"/>
            <a:endCxn id="32" idx="3"/>
          </p:cNvCxnSpPr>
          <p:nvPr/>
        </p:nvCxnSpPr>
        <p:spPr>
          <a:xfrm flipH="1">
            <a:off x="5582003" y="5148743"/>
            <a:ext cx="1137847" cy="98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291;g2b4e50f20d3_0_888"/>
          <p:cNvSpPr txBox="1"/>
          <p:nvPr/>
        </p:nvSpPr>
        <p:spPr>
          <a:xfrm>
            <a:off x="525935" y="3448117"/>
            <a:ext cx="594043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MY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5) Select Employee Job Grade.</a:t>
            </a:r>
            <a:endParaRPr lang="en-MY" sz="1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5" name="Google Shape;205;p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23C9FB52-2FCF-2807-3093-46AD7FB07CEF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221701" y="567117"/>
            <a:ext cx="2827344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5" grpId="0" animBg="1"/>
      <p:bldP spid="52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EEA9F7-2A3F-4608-8623-2D6A15B5F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798" y="4033154"/>
            <a:ext cx="6142252" cy="224809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7FB121B-E599-4935-8826-9C96B0875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653" y="1462567"/>
            <a:ext cx="5921253" cy="1844200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72120" y="535124"/>
            <a:ext cx="7981501" cy="417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Adding Employee’s Job Details</a:t>
            </a:r>
            <a:endParaRPr lang="en-MY" sz="1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ibre Franklin"/>
              <a:ea typeface="Roboto"/>
              <a:cs typeface="Roboto"/>
            </a:endParaRPr>
          </a:p>
        </p:txBody>
      </p:sp>
      <p:sp>
        <p:nvSpPr>
          <p:cNvPr id="52" name="Google Shape;295;g2b4e50f20d3_0_888"/>
          <p:cNvSpPr/>
          <p:nvPr/>
        </p:nvSpPr>
        <p:spPr>
          <a:xfrm>
            <a:off x="8622259" y="2236258"/>
            <a:ext cx="2235897" cy="33008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Employee’s</a:t>
            </a:r>
            <a:r>
              <a:rPr kumimoji="0" lang="en-US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Job Title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409079" y="1481795"/>
            <a:ext cx="5040033" cy="1844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34" name="Google Shape;296;g2b4e50f20d3_0_888"/>
          <p:cNvCxnSpPr>
            <a:cxnSpLocks/>
            <a:stCxn id="52" idx="1"/>
            <a:endCxn id="32" idx="3"/>
          </p:cNvCxnSpPr>
          <p:nvPr/>
        </p:nvCxnSpPr>
        <p:spPr>
          <a:xfrm flipH="1">
            <a:off x="7457133" y="2441405"/>
            <a:ext cx="1165126" cy="106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291;g2b4e50f20d3_0_888"/>
          <p:cNvSpPr txBox="1"/>
          <p:nvPr/>
        </p:nvSpPr>
        <p:spPr>
          <a:xfrm>
            <a:off x="364099" y="966098"/>
            <a:ext cx="4126143" cy="403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MY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6) Select Employee Job Title</a:t>
            </a:r>
            <a:endParaRPr lang="en-MY" sz="16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5" name="Google Shape;291;g2b4e50f20d3_0_888"/>
          <p:cNvSpPr txBox="1"/>
          <p:nvPr/>
        </p:nvSpPr>
        <p:spPr>
          <a:xfrm>
            <a:off x="396433" y="3423078"/>
            <a:ext cx="5976714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MY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7) Select Employee Group, </a:t>
            </a:r>
            <a:r>
              <a:rPr lang="en-MY" sz="1600" kern="0" dirty="0">
                <a:solidFill>
                  <a:schemeClr val="tx1"/>
                </a:solidFill>
                <a:latin typeface="Calibri"/>
                <a:cs typeface="Calibri"/>
              </a:rPr>
              <a:t>Employment </a:t>
            </a:r>
            <a:r>
              <a:rPr kumimoji="0" lang="en-MY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Type and Click </a:t>
            </a:r>
            <a:r>
              <a:rPr lang="en-MY" sz="1600" kern="0" dirty="0">
                <a:solidFill>
                  <a:schemeClr val="tx1"/>
                </a:solidFill>
                <a:latin typeface="Calibri"/>
                <a:cs typeface="Calibri"/>
              </a:rPr>
              <a:t>‘</a:t>
            </a:r>
            <a:r>
              <a:rPr kumimoji="0" lang="en-MY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Save</a:t>
            </a:r>
            <a:r>
              <a:rPr lang="en-MY" sz="1600" kern="0" dirty="0">
                <a:solidFill>
                  <a:schemeClr val="tx1"/>
                </a:solidFill>
                <a:latin typeface="Calibri"/>
                <a:cs typeface="Calibri"/>
              </a:rPr>
              <a:t>’</a:t>
            </a:r>
            <a:endParaRPr lang="en-MY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1" name="Google Shape;295;g2b4e50f20d3_0_888"/>
          <p:cNvSpPr/>
          <p:nvPr/>
        </p:nvSpPr>
        <p:spPr>
          <a:xfrm>
            <a:off x="8608221" y="3703304"/>
            <a:ext cx="2235898" cy="32806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if applicable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665459" y="4093384"/>
            <a:ext cx="5977402" cy="2662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4" name="Google Shape;296;g2b4e50f20d3_0_888"/>
          <p:cNvCxnSpPr>
            <a:cxnSpLocks/>
          </p:cNvCxnSpPr>
          <p:nvPr/>
        </p:nvCxnSpPr>
        <p:spPr>
          <a:xfrm flipH="1">
            <a:off x="7642861" y="3867336"/>
            <a:ext cx="965360" cy="3591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Google Shape;295;g2b4e50f20d3_0_888"/>
          <p:cNvSpPr/>
          <p:nvPr/>
        </p:nvSpPr>
        <p:spPr>
          <a:xfrm>
            <a:off x="8608221" y="4453918"/>
            <a:ext cx="2235898" cy="32806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Employee Group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665459" y="4485541"/>
            <a:ext cx="5977401" cy="2662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31" name="Google Shape;296;g2b4e50f20d3_0_888"/>
          <p:cNvCxnSpPr>
            <a:cxnSpLocks/>
          </p:cNvCxnSpPr>
          <p:nvPr/>
        </p:nvCxnSpPr>
        <p:spPr>
          <a:xfrm flipH="1">
            <a:off x="7642860" y="4617950"/>
            <a:ext cx="965361" cy="7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" name="Google Shape;295;g2b4e50f20d3_0_888"/>
          <p:cNvSpPr/>
          <p:nvPr/>
        </p:nvSpPr>
        <p:spPr>
          <a:xfrm>
            <a:off x="8608222" y="5157201"/>
            <a:ext cx="2235897" cy="32806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Employee Type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665460" y="4865526"/>
            <a:ext cx="5977401" cy="2662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40" name="Google Shape;296;g2b4e50f20d3_0_888"/>
          <p:cNvCxnSpPr>
            <a:cxnSpLocks/>
          </p:cNvCxnSpPr>
          <p:nvPr/>
        </p:nvCxnSpPr>
        <p:spPr>
          <a:xfrm flipH="1" flipV="1">
            <a:off x="7642861" y="4998643"/>
            <a:ext cx="965361" cy="32259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" name="Google Shape;295;g2b4e50f20d3_0_888"/>
          <p:cNvSpPr/>
          <p:nvPr/>
        </p:nvSpPr>
        <p:spPr>
          <a:xfrm>
            <a:off x="4518225" y="5305627"/>
            <a:ext cx="1942315" cy="37771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11- Click save once done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864427" y="5913781"/>
            <a:ext cx="663633" cy="2982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44" name="Google Shape;296;g2b4e50f20d3_0_888"/>
          <p:cNvCxnSpPr>
            <a:cxnSpLocks/>
          </p:cNvCxnSpPr>
          <p:nvPr/>
        </p:nvCxnSpPr>
        <p:spPr>
          <a:xfrm flipH="1">
            <a:off x="3196244" y="5494483"/>
            <a:ext cx="1321981" cy="41929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" name="Google Shape;205;p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3D1DC608-3AE8-7487-DE76-03B8F4B92588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221701" y="567117"/>
            <a:ext cx="2827344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32" grpId="0" animBg="1"/>
      <p:bldP spid="21" grpId="0" animBg="1"/>
      <p:bldP spid="23" grpId="0" animBg="1"/>
      <p:bldP spid="29" grpId="0" animBg="1"/>
      <p:bldP spid="30" grpId="0" animBg="1"/>
      <p:bldP spid="36" grpId="0" animBg="1"/>
      <p:bldP spid="37" grpId="0" animBg="1"/>
      <p:bldP spid="42" grpId="0" animBg="1"/>
      <p:bldP spid="4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190A43-CD9E-4AAB-982A-BAEDAC048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292" y="2775180"/>
            <a:ext cx="7792537" cy="762106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73939" y="555268"/>
            <a:ext cx="8026858" cy="408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 - </a:t>
            </a:r>
            <a:r>
              <a:rPr lang="en-MY" sz="1800" b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Adding Employee’s Job Details</a:t>
            </a:r>
            <a:endParaRPr lang="en-MY" sz="180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62098" y="834314"/>
            <a:ext cx="6950604" cy="406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8) Message will prompt upon saving - Click ‘Yes’, then click ‘Back’</a:t>
            </a:r>
          </a:p>
        </p:txBody>
      </p:sp>
      <p:sp>
        <p:nvSpPr>
          <p:cNvPr id="12" name="Google Shape;295;g2b4e50f20d3_0_888"/>
          <p:cNvSpPr/>
          <p:nvPr/>
        </p:nvSpPr>
        <p:spPr>
          <a:xfrm>
            <a:off x="5896890" y="4279199"/>
            <a:ext cx="2653767" cy="3651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12- Click ‘Back’ once record saved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3" name="Google Shape;296;g2b4e50f20d3_0_888"/>
          <p:cNvCxnSpPr>
            <a:cxnSpLocks/>
          </p:cNvCxnSpPr>
          <p:nvPr/>
        </p:nvCxnSpPr>
        <p:spPr>
          <a:xfrm flipH="1">
            <a:off x="7231795" y="3529266"/>
            <a:ext cx="1" cy="77399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6594709" y="3013677"/>
            <a:ext cx="1274173" cy="523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Google Shape;205;p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60F78166-475D-DC13-95C7-F49A4416766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221701" y="567117"/>
            <a:ext cx="2827344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D8C8C1-FE16-72E1-0B43-952A39E74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067" y="2539872"/>
            <a:ext cx="7761602" cy="3024219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64173" y="841497"/>
            <a:ext cx="8571429" cy="414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</a:rPr>
              <a:t>1) Main Portal &gt; Access ‘Employee Management’ &gt; Access ‘Employee Profile’ &gt; Click ‘Maintenance’</a:t>
            </a: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172123" y="563149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4e50f20d3_0_888"/>
          <p:cNvSpPr/>
          <p:nvPr/>
        </p:nvSpPr>
        <p:spPr>
          <a:xfrm>
            <a:off x="444797" y="2298533"/>
            <a:ext cx="2678469" cy="39429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>
                <a:latin typeface="Libre Franklin"/>
                <a:ea typeface="Libre Franklin"/>
                <a:cs typeface="Libre Franklin"/>
                <a:sym typeface="Libre Franklin"/>
              </a:rPr>
              <a:t>1- Access ‘Employee Management’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94" name="Google Shape;294;g2b4e50f20d3_0_888"/>
          <p:cNvCxnSpPr>
            <a:cxnSpLocks/>
          </p:cNvCxnSpPr>
          <p:nvPr/>
        </p:nvCxnSpPr>
        <p:spPr>
          <a:xfrm flipH="1" flipV="1">
            <a:off x="3142316" y="2470281"/>
            <a:ext cx="586564" cy="116265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89287" y="553214"/>
            <a:ext cx="8563121" cy="39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</a:pPr>
            <a:r>
              <a:rPr lang="en-MY" sz="1800" b="1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 On-Boarding Process - Adding Employee Profile (Address)</a:t>
            </a:r>
            <a:endParaRPr lang="en-MY" sz="1800">
              <a:solidFill>
                <a:schemeClr val="tx1"/>
              </a:solidFill>
              <a:latin typeface="Libre Franklin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444797" y="3687985"/>
            <a:ext cx="2388758" cy="39429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>
                <a:latin typeface="Libre Franklin"/>
                <a:ea typeface="Libre Franklin"/>
                <a:cs typeface="Libre Franklin"/>
                <a:sym typeface="Libre Franklin"/>
              </a:rPr>
              <a:t>2- Access ‘Employee Profile’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</p:cNvCxnSpPr>
          <p:nvPr/>
        </p:nvCxnSpPr>
        <p:spPr>
          <a:xfrm flipH="1" flipV="1">
            <a:off x="2833555" y="3885133"/>
            <a:ext cx="984226" cy="933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95;g2b4e50f20d3_0_888"/>
          <p:cNvSpPr/>
          <p:nvPr/>
        </p:nvSpPr>
        <p:spPr>
          <a:xfrm>
            <a:off x="4643992" y="5896357"/>
            <a:ext cx="2004169" cy="3651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>
                <a:latin typeface="Libre Franklin"/>
                <a:ea typeface="Libre Franklin"/>
                <a:cs typeface="Libre Franklin"/>
                <a:sym typeface="Libre Franklin"/>
              </a:rPr>
              <a:t>3- Click ‘Maintenance’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</p:cNvCxnSpPr>
          <p:nvPr/>
        </p:nvCxnSpPr>
        <p:spPr>
          <a:xfrm>
            <a:off x="5692342" y="4987118"/>
            <a:ext cx="4535" cy="91014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3727066" y="3502580"/>
            <a:ext cx="1359142" cy="211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Rectangle 15"/>
          <p:cNvSpPr/>
          <p:nvPr/>
        </p:nvSpPr>
        <p:spPr>
          <a:xfrm>
            <a:off x="3727067" y="3791010"/>
            <a:ext cx="1359141" cy="211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Rectangle 16"/>
          <p:cNvSpPr/>
          <p:nvPr/>
        </p:nvSpPr>
        <p:spPr>
          <a:xfrm>
            <a:off x="5522654" y="4798611"/>
            <a:ext cx="246847" cy="1885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7" grpId="0" animBg="1"/>
      <p:bldP spid="11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048562-4390-4A96-826E-11DD5755C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623" y="4338498"/>
            <a:ext cx="8459381" cy="1324160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54242" y="546326"/>
            <a:ext cx="8816072" cy="3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 - </a:t>
            </a:r>
            <a:r>
              <a:rPr lang="en-MY" sz="1800" b="1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Adding Employee Profile (Address)</a:t>
            </a:r>
            <a:endParaRPr lang="en-MY" sz="1800">
              <a:solidFill>
                <a:schemeClr val="tx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" name="Google Shape;295;g2b4e50f20d3_0_888"/>
          <p:cNvSpPr/>
          <p:nvPr/>
        </p:nvSpPr>
        <p:spPr>
          <a:xfrm>
            <a:off x="7264707" y="5537022"/>
            <a:ext cx="2789321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5</a:t>
            </a:r>
            <a:r>
              <a:rPr kumimoji="0" lang="en-US" sz="12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– Click ‘Create Employee Address’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3" name="Google Shape;296;g2b4e50f20d3_0_888"/>
          <p:cNvCxnSpPr>
            <a:cxnSpLocks/>
            <a:stCxn id="14" idx="2"/>
            <a:endCxn id="12" idx="0"/>
          </p:cNvCxnSpPr>
          <p:nvPr/>
        </p:nvCxnSpPr>
        <p:spPr>
          <a:xfrm>
            <a:off x="8659368" y="5129784"/>
            <a:ext cx="0" cy="4072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7626096" y="4745736"/>
            <a:ext cx="2066544" cy="384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AD4B9E-AB75-4266-B879-05CE32AA8CC7}"/>
              </a:ext>
            </a:extLst>
          </p:cNvPr>
          <p:cNvSpPr/>
          <p:nvPr/>
        </p:nvSpPr>
        <p:spPr>
          <a:xfrm>
            <a:off x="349201" y="820808"/>
            <a:ext cx="7837335" cy="34958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>
              <a:lnSpc>
                <a:spcPct val="110000"/>
              </a:lnSpc>
              <a:spcBef>
                <a:spcPts val="1080"/>
              </a:spcBef>
              <a:buClr>
                <a:srgbClr val="1CADE4"/>
              </a:buClr>
              <a:buSzPts val="1656"/>
              <a:defRPr/>
            </a:pPr>
            <a:r>
              <a:rPr lang="en-US" sz="1600" kern="0">
                <a:latin typeface="Calibri"/>
                <a:ea typeface="Calibri"/>
                <a:cs typeface="Calibri"/>
                <a:sym typeface="Libre Franklin"/>
              </a:rPr>
              <a:t>2) Access ‘Address’ tab &gt; Click ‘Create Employee Address’</a:t>
            </a:r>
            <a:endParaRPr lang="en-US" sz="1600" b="1" kern="0">
              <a:latin typeface="Calibri"/>
              <a:ea typeface="Calibri"/>
              <a:cs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C1DA92-7A0A-4B47-9E7C-548BC35F9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9" y="2223344"/>
            <a:ext cx="10705504" cy="149974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E2B0729-20EB-46BC-9909-AB84DF408F42}"/>
              </a:ext>
            </a:extLst>
          </p:cNvPr>
          <p:cNvSpPr/>
          <p:nvPr/>
        </p:nvSpPr>
        <p:spPr>
          <a:xfrm>
            <a:off x="1000487" y="2243985"/>
            <a:ext cx="698267" cy="1957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0" name="Google Shape;293;g2b4e50f20d3_0_888">
            <a:extLst>
              <a:ext uri="{FF2B5EF4-FFF2-40B4-BE49-F238E27FC236}">
                <a16:creationId xmlns:a16="http://schemas.microsoft.com/office/drawing/2014/main" id="{A55B11F0-612C-407E-B3FB-340BD44DB470}"/>
              </a:ext>
            </a:extLst>
          </p:cNvPr>
          <p:cNvSpPr/>
          <p:nvPr/>
        </p:nvSpPr>
        <p:spPr>
          <a:xfrm>
            <a:off x="2244817" y="1746104"/>
            <a:ext cx="2129400" cy="3183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>
                <a:latin typeface="Libre Franklin"/>
                <a:ea typeface="Libre Franklin"/>
                <a:cs typeface="Libre Franklin"/>
                <a:sym typeface="Libre Franklin"/>
              </a:rPr>
              <a:t>4- Click ‘Address’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1" name="Google Shape;294;g2b4e50f20d3_0_888">
            <a:extLst>
              <a:ext uri="{FF2B5EF4-FFF2-40B4-BE49-F238E27FC236}">
                <a16:creationId xmlns:a16="http://schemas.microsoft.com/office/drawing/2014/main" id="{B088C549-4F62-4030-A55C-42FDE94AD1C2}"/>
              </a:ext>
            </a:extLst>
          </p:cNvPr>
          <p:cNvCxnSpPr>
            <a:cxnSpLocks/>
            <a:stCxn id="19" idx="0"/>
            <a:endCxn id="20" idx="1"/>
          </p:cNvCxnSpPr>
          <p:nvPr/>
        </p:nvCxnSpPr>
        <p:spPr>
          <a:xfrm flipV="1">
            <a:off x="1349621" y="1905267"/>
            <a:ext cx="895196" cy="33871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" name="Google Shape;292;g2b4e50f20d3_0_88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3879D351-B32B-E8A6-DC4C-27A7E66E1C37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208409" y="563149"/>
            <a:ext cx="2827345" cy="7583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106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Picture 268">
            <a:extLst>
              <a:ext uri="{FF2B5EF4-FFF2-40B4-BE49-F238E27FC236}">
                <a16:creationId xmlns:a16="http://schemas.microsoft.com/office/drawing/2014/main" id="{FA4A3125-1F81-40DB-A6CB-FA2426B38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494" y="1722698"/>
            <a:ext cx="6972904" cy="2019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078331C-9E28-4714-B184-223BD2314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503" y="3789942"/>
            <a:ext cx="5670934" cy="2286198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3647" y="827258"/>
            <a:ext cx="3830630" cy="387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3) Proceed to add address details</a:t>
            </a:r>
            <a:endParaRPr lang="en-US" sz="16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217480" y="563149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61271" y="549857"/>
            <a:ext cx="7818214" cy="403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Adding Employee Profile 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(Address)</a:t>
            </a:r>
            <a:endParaRPr lang="en-MY" sz="1800" kern="0">
              <a:solidFill>
                <a:schemeClr val="tx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" name="Google Shape;295;g2b4e50f20d3_0_888"/>
          <p:cNvSpPr/>
          <p:nvPr/>
        </p:nvSpPr>
        <p:spPr>
          <a:xfrm>
            <a:off x="8936358" y="2242728"/>
            <a:ext cx="2827345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Address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Type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  <a:stCxn id="11" idx="1"/>
            <a:endCxn id="17" idx="3"/>
          </p:cNvCxnSpPr>
          <p:nvPr/>
        </p:nvCxnSpPr>
        <p:spPr>
          <a:xfrm flipH="1">
            <a:off x="8390134" y="2453628"/>
            <a:ext cx="546224" cy="44899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3514478" y="2298020"/>
            <a:ext cx="4875656" cy="1209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8" name="Google Shape;293;g2b4e50f20d3_0_888"/>
          <p:cNvSpPr/>
          <p:nvPr/>
        </p:nvSpPr>
        <p:spPr>
          <a:xfrm>
            <a:off x="8939154" y="3272288"/>
            <a:ext cx="3057773" cy="4698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S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elect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Effective Date and Time 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from calendar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9" name="Google Shape;294;g2b4e50f20d3_0_888"/>
          <p:cNvCxnSpPr>
            <a:cxnSpLocks/>
            <a:stCxn id="8" idx="1"/>
            <a:endCxn id="10" idx="3"/>
          </p:cNvCxnSpPr>
          <p:nvPr/>
        </p:nvCxnSpPr>
        <p:spPr>
          <a:xfrm flipH="1">
            <a:off x="8422346" y="3507231"/>
            <a:ext cx="516808" cy="47407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3574817" y="3833152"/>
            <a:ext cx="4847529" cy="296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1" name="Straight Arrow Connector 20"/>
          <p:cNvCxnSpPr>
            <a:cxnSpLocks/>
            <a:stCxn id="32" idx="1"/>
            <a:endCxn id="22" idx="3"/>
          </p:cNvCxnSpPr>
          <p:nvPr/>
        </p:nvCxnSpPr>
        <p:spPr>
          <a:xfrm flipH="1" flipV="1">
            <a:off x="8414398" y="4349933"/>
            <a:ext cx="1026844" cy="766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589088" y="4217827"/>
            <a:ext cx="4825310" cy="2642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9" name="Straight Arrow Connector 28"/>
          <p:cNvCxnSpPr>
            <a:cxnSpLocks/>
            <a:stCxn id="3" idx="3"/>
            <a:endCxn id="30" idx="1"/>
          </p:cNvCxnSpPr>
          <p:nvPr/>
        </p:nvCxnSpPr>
        <p:spPr>
          <a:xfrm flipV="1">
            <a:off x="2335346" y="4734418"/>
            <a:ext cx="1239471" cy="33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574817" y="4601762"/>
            <a:ext cx="4847529" cy="265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2" name="Google Shape;295;g2b4e50f20d3_0_888"/>
          <p:cNvSpPr/>
          <p:nvPr/>
        </p:nvSpPr>
        <p:spPr>
          <a:xfrm>
            <a:off x="9441242" y="4867074"/>
            <a:ext cx="2075553" cy="49892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Fill up the necessary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3" name="Straight Arrow Connector 32"/>
          <p:cNvCxnSpPr>
            <a:cxnSpLocks/>
            <a:stCxn id="32" idx="1"/>
            <a:endCxn id="34" idx="3"/>
          </p:cNvCxnSpPr>
          <p:nvPr/>
        </p:nvCxnSpPr>
        <p:spPr>
          <a:xfrm flipH="1">
            <a:off x="8382186" y="5116536"/>
            <a:ext cx="1059056" cy="20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574817" y="5009958"/>
            <a:ext cx="4807369" cy="254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36" name="Straight Arrow Connector 35"/>
          <p:cNvCxnSpPr>
            <a:cxnSpLocks/>
            <a:stCxn id="32" idx="1"/>
            <a:endCxn id="37" idx="3"/>
          </p:cNvCxnSpPr>
          <p:nvPr/>
        </p:nvCxnSpPr>
        <p:spPr>
          <a:xfrm flipH="1">
            <a:off x="8390133" y="5116536"/>
            <a:ext cx="1051109" cy="405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582765" y="5388817"/>
            <a:ext cx="4807368" cy="2665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C2FCEC6-770A-455F-9752-C8DFCFD1D310}"/>
              </a:ext>
            </a:extLst>
          </p:cNvPr>
          <p:cNvSpPr/>
          <p:nvPr/>
        </p:nvSpPr>
        <p:spPr>
          <a:xfrm>
            <a:off x="3574817" y="5766936"/>
            <a:ext cx="4856658" cy="264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8DA64F6-F7CC-40FC-B81C-B85DF0B074D1}"/>
              </a:ext>
            </a:extLst>
          </p:cNvPr>
          <p:cNvCxnSpPr>
            <a:cxnSpLocks/>
            <a:stCxn id="32" idx="1"/>
            <a:endCxn id="53" idx="3"/>
          </p:cNvCxnSpPr>
          <p:nvPr/>
        </p:nvCxnSpPr>
        <p:spPr>
          <a:xfrm flipH="1">
            <a:off x="8431475" y="5116536"/>
            <a:ext cx="1009767" cy="78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295;g2b4e50f20d3_0_888">
            <a:extLst>
              <a:ext uri="{FF2B5EF4-FFF2-40B4-BE49-F238E27FC236}">
                <a16:creationId xmlns:a16="http://schemas.microsoft.com/office/drawing/2014/main" id="{7EC81E7B-D222-65F1-2122-C8C84944CA88}"/>
              </a:ext>
            </a:extLst>
          </p:cNvPr>
          <p:cNvSpPr/>
          <p:nvPr/>
        </p:nvSpPr>
        <p:spPr>
          <a:xfrm>
            <a:off x="274316" y="4867073"/>
            <a:ext cx="2061030" cy="40155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Fill up if application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8" grpId="0" animBg="1"/>
      <p:bldP spid="10" grpId="0" animBg="1"/>
      <p:bldP spid="22" grpId="0" animBg="1"/>
      <p:bldP spid="30" grpId="0" animBg="1"/>
      <p:bldP spid="32" grpId="0" animBg="1"/>
      <p:bldP spid="34" grpId="0" animBg="1"/>
      <p:bldP spid="37" grpId="0" animBg="1"/>
      <p:bldP spid="53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DB0F6-5739-452B-B0CC-36B7AF150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275" y="4128286"/>
            <a:ext cx="6623147" cy="232940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99E9B95-9EEA-4777-AD41-D4A79CAE7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275" y="1409438"/>
            <a:ext cx="6958305" cy="2647851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70009" y="795476"/>
            <a:ext cx="8303389" cy="44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4) Upon selecting the ‘Country’, will derive selection of ‘State’, then selection of ‘city’</a:t>
            </a:r>
            <a:endParaRPr lang="en-US" sz="16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527043" y="536503"/>
            <a:ext cx="2470158" cy="69884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72845" y="526304"/>
            <a:ext cx="8602885" cy="42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 Adding 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Profile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(Address)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11" name="Google Shape;295;g2b4e50f20d3_0_888"/>
          <p:cNvSpPr/>
          <p:nvPr/>
        </p:nvSpPr>
        <p:spPr>
          <a:xfrm>
            <a:off x="8918123" y="1355502"/>
            <a:ext cx="2129400" cy="35831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‘Region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</p:cNvCxnSpPr>
          <p:nvPr/>
        </p:nvCxnSpPr>
        <p:spPr>
          <a:xfrm flipH="1" flipV="1">
            <a:off x="8168640" y="1989258"/>
            <a:ext cx="749483" cy="34267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2571559" y="1392784"/>
            <a:ext cx="5597081" cy="3015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71559" y="2275894"/>
            <a:ext cx="5597081" cy="17735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8" name="Google Shape;293;g2b4e50f20d3_0_888"/>
          <p:cNvSpPr/>
          <p:nvPr/>
        </p:nvSpPr>
        <p:spPr>
          <a:xfrm>
            <a:off x="8918123" y="2152777"/>
            <a:ext cx="2129400" cy="35831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‘Country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9" name="Google Shape;294;g2b4e50f20d3_0_888"/>
          <p:cNvCxnSpPr>
            <a:cxnSpLocks/>
          </p:cNvCxnSpPr>
          <p:nvPr/>
        </p:nvCxnSpPr>
        <p:spPr>
          <a:xfrm flipH="1">
            <a:off x="8168640" y="1534661"/>
            <a:ext cx="749483" cy="890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296;g2b4e50f20d3_0_888"/>
          <p:cNvCxnSpPr>
            <a:cxnSpLocks/>
          </p:cNvCxnSpPr>
          <p:nvPr/>
        </p:nvCxnSpPr>
        <p:spPr>
          <a:xfrm flipH="1" flipV="1">
            <a:off x="8204358" y="3257921"/>
            <a:ext cx="825337" cy="4762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2327986" y="4140533"/>
            <a:ext cx="5639807" cy="23049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4" name="Google Shape;293;g2b4e50f20d3_0_888"/>
          <p:cNvSpPr/>
          <p:nvPr/>
        </p:nvSpPr>
        <p:spPr>
          <a:xfrm>
            <a:off x="8982071" y="3047023"/>
            <a:ext cx="2130799" cy="40989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11- State Listing 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appear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14DB65-6B9E-4C10-8DD4-F4066FCBB61E}"/>
              </a:ext>
            </a:extLst>
          </p:cNvPr>
          <p:cNvSpPr/>
          <p:nvPr/>
        </p:nvSpPr>
        <p:spPr>
          <a:xfrm>
            <a:off x="2571559" y="1838475"/>
            <a:ext cx="5597081" cy="3015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6" name="Google Shape;296;g2b4e50f20d3_0_888">
            <a:extLst>
              <a:ext uri="{FF2B5EF4-FFF2-40B4-BE49-F238E27FC236}">
                <a16:creationId xmlns:a16="http://schemas.microsoft.com/office/drawing/2014/main" id="{C8C52942-162D-4D57-BA24-954EE9DD6BC3}"/>
              </a:ext>
            </a:extLst>
          </p:cNvPr>
          <p:cNvCxnSpPr>
            <a:cxnSpLocks/>
          </p:cNvCxnSpPr>
          <p:nvPr/>
        </p:nvCxnSpPr>
        <p:spPr>
          <a:xfrm flipH="1" flipV="1">
            <a:off x="7991605" y="5400145"/>
            <a:ext cx="1097483" cy="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293;g2b4e50f20d3_0_888">
            <a:extLst>
              <a:ext uri="{FF2B5EF4-FFF2-40B4-BE49-F238E27FC236}">
                <a16:creationId xmlns:a16="http://schemas.microsoft.com/office/drawing/2014/main" id="{52BE599A-EA41-497A-8843-AD56DCCC4BB0}"/>
              </a:ext>
            </a:extLst>
          </p:cNvPr>
          <p:cNvSpPr/>
          <p:nvPr/>
        </p:nvSpPr>
        <p:spPr>
          <a:xfrm>
            <a:off x="9005745" y="5177340"/>
            <a:ext cx="2095219" cy="36226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12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City Listing 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appear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10" grpId="0" animBg="1"/>
      <p:bldP spid="18" grpId="0" animBg="1"/>
      <p:bldP spid="23" grpId="0" animBg="1"/>
      <p:bldP spid="24" grpId="0" animBg="1"/>
      <p:bldP spid="33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8A6B38-27E9-4B9F-86FE-A5CD11411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499" y="1880246"/>
            <a:ext cx="6141100" cy="24060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679399-9131-4BC7-8285-1ED8695BA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269" y="4592767"/>
            <a:ext cx="8999738" cy="779743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2804" y="819503"/>
            <a:ext cx="6593858" cy="43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5) Continue with the necessary information and click ‘Save’ once done</a:t>
            </a:r>
            <a:endParaRPr lang="en-US" sz="16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407407" y="562481"/>
            <a:ext cx="2658903" cy="71025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60825" y="546196"/>
            <a:ext cx="7853164" cy="43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Adding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Profile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(Address)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11" name="Google Shape;295;g2b4e50f20d3_0_888"/>
          <p:cNvSpPr/>
          <p:nvPr/>
        </p:nvSpPr>
        <p:spPr>
          <a:xfrm>
            <a:off x="8927384" y="2812001"/>
            <a:ext cx="2129400" cy="53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13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Continue as required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</p:cNvCxnSpPr>
          <p:nvPr/>
        </p:nvCxnSpPr>
        <p:spPr>
          <a:xfrm flipV="1">
            <a:off x="3619026" y="5372388"/>
            <a:ext cx="0" cy="31463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3619027" y="1989003"/>
            <a:ext cx="4548358" cy="21784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81332" y="4860417"/>
            <a:ext cx="1475388" cy="5119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8" name="Google Shape;293;g2b4e50f20d3_0_888"/>
          <p:cNvSpPr/>
          <p:nvPr/>
        </p:nvSpPr>
        <p:spPr>
          <a:xfrm>
            <a:off x="2554326" y="5687022"/>
            <a:ext cx="2129400" cy="43329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14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‘Save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once completed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9" name="Google Shape;294;g2b4e50f20d3_0_888"/>
          <p:cNvCxnSpPr>
            <a:cxnSpLocks/>
          </p:cNvCxnSpPr>
          <p:nvPr/>
        </p:nvCxnSpPr>
        <p:spPr>
          <a:xfrm flipH="1">
            <a:off x="8167385" y="3078251"/>
            <a:ext cx="75999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10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D385F-26E5-4917-A31F-18B7A0940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778" y="2526532"/>
            <a:ext cx="7315060" cy="2413847"/>
          </a:xfrm>
          <a:prstGeom prst="rect">
            <a:avLst/>
          </a:prstGeom>
        </p:spPr>
      </p:pic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8595" y="864181"/>
            <a:ext cx="6794384" cy="372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6) Message will prompt upon saving - Click ‘Yes’ , then click ‘Back'</a:t>
            </a:r>
            <a:endParaRPr lang="en-MY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295;g2b4e50f20d3_0_888"/>
          <p:cNvSpPr/>
          <p:nvPr/>
        </p:nvSpPr>
        <p:spPr>
          <a:xfrm>
            <a:off x="5302544" y="5436468"/>
            <a:ext cx="2648760" cy="3651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15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‘Back’ once record saved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3" name="Google Shape;296;g2b4e50f20d3_0_888"/>
          <p:cNvCxnSpPr>
            <a:cxnSpLocks/>
            <a:stCxn id="14" idx="2"/>
            <a:endCxn id="12" idx="0"/>
          </p:cNvCxnSpPr>
          <p:nvPr/>
        </p:nvCxnSpPr>
        <p:spPr>
          <a:xfrm flipH="1">
            <a:off x="6626924" y="4852657"/>
            <a:ext cx="1722" cy="5838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6096000" y="4309450"/>
            <a:ext cx="1065291" cy="5432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" name="Google Shape;282;g2b4e50f20d3_0_902"/>
          <p:cNvSpPr txBox="1"/>
          <p:nvPr/>
        </p:nvSpPr>
        <p:spPr>
          <a:xfrm>
            <a:off x="382658" y="524944"/>
            <a:ext cx="8069731" cy="47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Adding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Profile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(Address)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pic>
        <p:nvPicPr>
          <p:cNvPr id="5" name="Google Shape;292;g2b4e50f20d3_0_88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A545423E-58C2-CA72-3516-EA195CB88CAF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99386" y="562481"/>
            <a:ext cx="2658903" cy="71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17CD98-CAD8-795A-3C83-489750DDC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328" y="2115598"/>
            <a:ext cx="8322123" cy="3535101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8127" y="848126"/>
            <a:ext cx="7644344" cy="401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1) Access ‘Employee Management’ &gt; Access ‘Salary’ &gt; Access ‘Employee Salary’</a:t>
            </a:r>
            <a:endParaRPr sz="16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629920" lvl="1" indent="-224155" algn="l" rtl="0">
              <a:spcBef>
                <a:spcPts val="880"/>
              </a:spcBef>
              <a:spcAft>
                <a:spcPts val="0"/>
              </a:spcAft>
              <a:buSzPts val="1288"/>
              <a:buNone/>
            </a:pPr>
            <a:endParaRPr sz="1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222923" y="546438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4e50f20d3_0_888"/>
          <p:cNvSpPr/>
          <p:nvPr/>
        </p:nvSpPr>
        <p:spPr>
          <a:xfrm>
            <a:off x="412446" y="2662781"/>
            <a:ext cx="2473877" cy="36091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1- Access ‘Employee Management’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94" name="Google Shape;294;g2b4e50f20d3_0_888"/>
          <p:cNvCxnSpPr>
            <a:cxnSpLocks/>
            <a:stCxn id="15" idx="1"/>
            <a:endCxn id="293" idx="3"/>
          </p:cNvCxnSpPr>
          <p:nvPr/>
        </p:nvCxnSpPr>
        <p:spPr>
          <a:xfrm flipH="1" flipV="1">
            <a:off x="2886323" y="2843237"/>
            <a:ext cx="731006" cy="39229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66148" y="551084"/>
            <a:ext cx="8133901" cy="415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 - Adding Employee Details (Salary)</a:t>
            </a: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412446" y="3652431"/>
            <a:ext cx="2473876" cy="33518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2- Access ‘Salary</a:t>
            </a:r>
            <a:r>
              <a:rPr lang="en-MY" sz="12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  <a:stCxn id="16" idx="1"/>
            <a:endCxn id="7" idx="3"/>
          </p:cNvCxnSpPr>
          <p:nvPr/>
        </p:nvCxnSpPr>
        <p:spPr>
          <a:xfrm flipH="1" flipV="1">
            <a:off x="2886322" y="3820026"/>
            <a:ext cx="731005" cy="37640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95;g2b4e50f20d3_0_888"/>
          <p:cNvSpPr/>
          <p:nvPr/>
        </p:nvSpPr>
        <p:spPr>
          <a:xfrm>
            <a:off x="412446" y="4676543"/>
            <a:ext cx="2473876" cy="33518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3- Access ‘Employee Salary’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  <a:stCxn id="17" idx="1"/>
            <a:endCxn id="11" idx="3"/>
          </p:cNvCxnSpPr>
          <p:nvPr/>
        </p:nvCxnSpPr>
        <p:spPr>
          <a:xfrm flipH="1">
            <a:off x="2886322" y="4404518"/>
            <a:ext cx="731005" cy="4396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3617329" y="3111799"/>
            <a:ext cx="1399944" cy="247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17327" y="4092383"/>
            <a:ext cx="1399945" cy="2080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17327" y="4300473"/>
            <a:ext cx="1399945" cy="208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7" grpId="0" animBg="1"/>
      <p:bldP spid="11" grpId="0" animBg="1"/>
      <p:bldP spid="15" grpId="0" animBg="1"/>
      <p:bldP spid="16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77A4C-4566-4A29-B832-3B7FCEC05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76" y="2517632"/>
            <a:ext cx="7837541" cy="2333806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5480" y="819619"/>
            <a:ext cx="3746385" cy="41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2) Create New Employee Salary</a:t>
            </a: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21995" y="552529"/>
            <a:ext cx="2707030" cy="71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4e50f20d3_0_888"/>
          <p:cNvSpPr/>
          <p:nvPr/>
        </p:nvSpPr>
        <p:spPr>
          <a:xfrm>
            <a:off x="9102607" y="3356268"/>
            <a:ext cx="2556949" cy="3413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>
                <a:latin typeface="Libre Franklin"/>
                <a:ea typeface="Libre Franklin"/>
                <a:cs typeface="Libre Franklin"/>
                <a:sym typeface="Libre Franklin"/>
              </a:rPr>
              <a:t>4- Click ‘Create Employee Salary’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94" name="Google Shape;294;g2b4e50f20d3_0_888"/>
          <p:cNvCxnSpPr>
            <a:cxnSpLocks/>
          </p:cNvCxnSpPr>
          <p:nvPr/>
        </p:nvCxnSpPr>
        <p:spPr>
          <a:xfrm>
            <a:off x="8183293" y="3525253"/>
            <a:ext cx="1103798" cy="9796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63501" y="551467"/>
            <a:ext cx="8542974" cy="41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</a:pPr>
            <a:r>
              <a:rPr lang="en-MY" sz="1800" b="1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 On-Boarding Process - Adding Employee Details (Salary)</a:t>
            </a:r>
            <a:endParaRPr lang="en-MY" sz="1800"/>
          </a:p>
        </p:txBody>
      </p:sp>
      <p:sp>
        <p:nvSpPr>
          <p:cNvPr id="15" name="Rectangle 14"/>
          <p:cNvSpPr/>
          <p:nvPr/>
        </p:nvSpPr>
        <p:spPr>
          <a:xfrm>
            <a:off x="5856204" y="3335130"/>
            <a:ext cx="2327089" cy="380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153DE7-C9EF-25B0-858A-320287913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442" y="1937525"/>
            <a:ext cx="4751069" cy="4078097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69746" y="860410"/>
            <a:ext cx="4380046" cy="36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3) Adding the Employee's Basic Salary</a:t>
            </a: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07407" y="554460"/>
            <a:ext cx="2610778" cy="69421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4e50f20d3_0_888"/>
          <p:cNvSpPr/>
          <p:nvPr/>
        </p:nvSpPr>
        <p:spPr>
          <a:xfrm>
            <a:off x="8806984" y="2157683"/>
            <a:ext cx="2708428" cy="37338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2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</a:t>
            </a: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Insert</a:t>
            </a:r>
            <a:r>
              <a:rPr lang="en-MY" sz="12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Basic Salary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94" name="Google Shape;294;g2b4e50f20d3_0_888"/>
          <p:cNvCxnSpPr>
            <a:cxnSpLocks/>
            <a:stCxn id="15" idx="3"/>
            <a:endCxn id="293" idx="1"/>
          </p:cNvCxnSpPr>
          <p:nvPr/>
        </p:nvCxnSpPr>
        <p:spPr>
          <a:xfrm flipV="1">
            <a:off x="7506031" y="2344377"/>
            <a:ext cx="1300953" cy="4979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69746" y="513086"/>
            <a:ext cx="7933374" cy="48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 Adding Employee Details (Salary)</a:t>
            </a: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70861" y="2687382"/>
            <a:ext cx="4235170" cy="3099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43417" y="5575965"/>
            <a:ext cx="780844" cy="3129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Google Shape;293;g2b4e50f20d3_0_888"/>
          <p:cNvSpPr/>
          <p:nvPr/>
        </p:nvSpPr>
        <p:spPr>
          <a:xfrm>
            <a:off x="807969" y="5076825"/>
            <a:ext cx="2161965" cy="36512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11- Click ‘Save</a:t>
            </a:r>
            <a:r>
              <a:rPr lang="en-MY" sz="12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 once done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9" name="Google Shape;294;g2b4e50f20d3_0_888"/>
          <p:cNvCxnSpPr>
            <a:cxnSpLocks/>
            <a:stCxn id="17" idx="1"/>
            <a:endCxn id="18" idx="3"/>
          </p:cNvCxnSpPr>
          <p:nvPr/>
        </p:nvCxnSpPr>
        <p:spPr>
          <a:xfrm flipH="1" flipV="1">
            <a:off x="2969934" y="5259388"/>
            <a:ext cx="1373483" cy="4730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3352C5A-8A52-4A36-A4EF-4D99D840C4CF}"/>
              </a:ext>
            </a:extLst>
          </p:cNvPr>
          <p:cNvSpPr/>
          <p:nvPr/>
        </p:nvSpPr>
        <p:spPr>
          <a:xfrm>
            <a:off x="3270862" y="3125242"/>
            <a:ext cx="4235169" cy="303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06EC4E-21FC-4728-AB76-6066A0234F6F}"/>
              </a:ext>
            </a:extLst>
          </p:cNvPr>
          <p:cNvSpPr/>
          <p:nvPr/>
        </p:nvSpPr>
        <p:spPr>
          <a:xfrm>
            <a:off x="3270862" y="3541725"/>
            <a:ext cx="4235169" cy="303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C03FC7-36C8-4582-86CE-9DCDCD6A7CDD}"/>
              </a:ext>
            </a:extLst>
          </p:cNvPr>
          <p:cNvSpPr/>
          <p:nvPr/>
        </p:nvSpPr>
        <p:spPr>
          <a:xfrm>
            <a:off x="3270862" y="3946796"/>
            <a:ext cx="4235169" cy="314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19A8E2-4735-4264-85FC-CE6BB851231E}"/>
              </a:ext>
            </a:extLst>
          </p:cNvPr>
          <p:cNvSpPr/>
          <p:nvPr/>
        </p:nvSpPr>
        <p:spPr>
          <a:xfrm>
            <a:off x="3270862" y="4372341"/>
            <a:ext cx="4235169" cy="314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Google Shape;293;g2b4e50f20d3_0_888">
            <a:extLst>
              <a:ext uri="{FF2B5EF4-FFF2-40B4-BE49-F238E27FC236}">
                <a16:creationId xmlns:a16="http://schemas.microsoft.com/office/drawing/2014/main" id="{89C5529B-F9B5-4A72-934E-1AE1EE9543C8}"/>
              </a:ext>
            </a:extLst>
          </p:cNvPr>
          <p:cNvSpPr/>
          <p:nvPr/>
        </p:nvSpPr>
        <p:spPr>
          <a:xfrm>
            <a:off x="8806984" y="2801585"/>
            <a:ext cx="2708428" cy="34615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– Select ‘Currency Id’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" name="Google Shape;293;g2b4e50f20d3_0_888">
            <a:extLst>
              <a:ext uri="{FF2B5EF4-FFF2-40B4-BE49-F238E27FC236}">
                <a16:creationId xmlns:a16="http://schemas.microsoft.com/office/drawing/2014/main" id="{3BC93C9C-B2F1-4FEB-AEFC-814B89DB3645}"/>
              </a:ext>
            </a:extLst>
          </p:cNvPr>
          <p:cNvSpPr/>
          <p:nvPr/>
        </p:nvSpPr>
        <p:spPr>
          <a:xfrm>
            <a:off x="8806984" y="4125809"/>
            <a:ext cx="2708428" cy="32518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– Select ‘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PayType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Id’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6" name="Google Shape;293;g2b4e50f20d3_0_888">
            <a:extLst>
              <a:ext uri="{FF2B5EF4-FFF2-40B4-BE49-F238E27FC236}">
                <a16:creationId xmlns:a16="http://schemas.microsoft.com/office/drawing/2014/main" id="{21B93DA0-BB6B-4701-BD33-A2ECCF225F73}"/>
              </a:ext>
            </a:extLst>
          </p:cNvPr>
          <p:cNvSpPr/>
          <p:nvPr/>
        </p:nvSpPr>
        <p:spPr>
          <a:xfrm>
            <a:off x="8806984" y="4731670"/>
            <a:ext cx="2708428" cy="32518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– Select ‘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ProcessMode_Id</a:t>
            </a:r>
            <a:r>
              <a:rPr lang="en-US" sz="12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" name="Google Shape;293;g2b4e50f20d3_0_888">
            <a:extLst>
              <a:ext uri="{FF2B5EF4-FFF2-40B4-BE49-F238E27FC236}">
                <a16:creationId xmlns:a16="http://schemas.microsoft.com/office/drawing/2014/main" id="{3A2AF3B9-9EC3-4D5F-AA9F-92862C586549}"/>
              </a:ext>
            </a:extLst>
          </p:cNvPr>
          <p:cNvSpPr/>
          <p:nvPr/>
        </p:nvSpPr>
        <p:spPr>
          <a:xfrm>
            <a:off x="8806984" y="3493522"/>
            <a:ext cx="2708428" cy="32665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2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–Select ‘</a:t>
            </a:r>
            <a:r>
              <a:rPr kumimoji="0" lang="en-MY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PayMode</a:t>
            </a: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Id’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8" name="Google Shape;294;g2b4e50f20d3_0_888">
            <a:extLst>
              <a:ext uri="{FF2B5EF4-FFF2-40B4-BE49-F238E27FC236}">
                <a16:creationId xmlns:a16="http://schemas.microsoft.com/office/drawing/2014/main" id="{05897EF8-6275-44A1-B969-A61F5E138823}"/>
              </a:ext>
            </a:extLst>
          </p:cNvPr>
          <p:cNvCxnSpPr>
            <a:cxnSpLocks/>
            <a:stCxn id="16" idx="3"/>
            <a:endCxn id="24" idx="1"/>
          </p:cNvCxnSpPr>
          <p:nvPr/>
        </p:nvCxnSpPr>
        <p:spPr>
          <a:xfrm flipV="1">
            <a:off x="7506031" y="2974661"/>
            <a:ext cx="1300953" cy="3024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294;g2b4e50f20d3_0_888">
            <a:extLst>
              <a:ext uri="{FF2B5EF4-FFF2-40B4-BE49-F238E27FC236}">
                <a16:creationId xmlns:a16="http://schemas.microsoft.com/office/drawing/2014/main" id="{157EBC13-07D7-4C7B-A100-7A27C14A1FA6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 flipV="1">
            <a:off x="7506031" y="3656850"/>
            <a:ext cx="1300953" cy="3675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294;g2b4e50f20d3_0_888">
            <a:extLst>
              <a:ext uri="{FF2B5EF4-FFF2-40B4-BE49-F238E27FC236}">
                <a16:creationId xmlns:a16="http://schemas.microsoft.com/office/drawing/2014/main" id="{7BC49310-4C3E-4594-91C7-C0B383A5316C}"/>
              </a:ext>
            </a:extLst>
          </p:cNvPr>
          <p:cNvCxnSpPr>
            <a:cxnSpLocks/>
            <a:stCxn id="22" idx="3"/>
            <a:endCxn id="25" idx="1"/>
          </p:cNvCxnSpPr>
          <p:nvPr/>
        </p:nvCxnSpPr>
        <p:spPr>
          <a:xfrm>
            <a:off x="7506031" y="4104099"/>
            <a:ext cx="1300953" cy="18430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" name="Google Shape;294;g2b4e50f20d3_0_888">
            <a:extLst>
              <a:ext uri="{FF2B5EF4-FFF2-40B4-BE49-F238E27FC236}">
                <a16:creationId xmlns:a16="http://schemas.microsoft.com/office/drawing/2014/main" id="{A371430A-6787-4283-91E9-A85F5148E31D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7506031" y="4529644"/>
            <a:ext cx="1300953" cy="36461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D8D8F81-62D8-9905-ECA4-BF9C7ACE49EC}"/>
              </a:ext>
            </a:extLst>
          </p:cNvPr>
          <p:cNvSpPr/>
          <p:nvPr/>
        </p:nvSpPr>
        <p:spPr>
          <a:xfrm>
            <a:off x="3270861" y="2257945"/>
            <a:ext cx="4235170" cy="3099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" name="Google Shape;294;g2b4e50f20d3_0_888">
            <a:extLst>
              <a:ext uri="{FF2B5EF4-FFF2-40B4-BE49-F238E27FC236}">
                <a16:creationId xmlns:a16="http://schemas.microsoft.com/office/drawing/2014/main" id="{9E41D8F9-0676-CAD1-5567-89CB815DAF9A}"/>
              </a:ext>
            </a:extLst>
          </p:cNvPr>
          <p:cNvCxnSpPr>
            <a:cxnSpLocks/>
            <a:stCxn id="5" idx="0"/>
            <a:endCxn id="8" idx="1"/>
          </p:cNvCxnSpPr>
          <p:nvPr/>
        </p:nvCxnSpPr>
        <p:spPr>
          <a:xfrm flipV="1">
            <a:off x="5388446" y="1686931"/>
            <a:ext cx="1040227" cy="57101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293;g2b4e50f20d3_0_888">
            <a:extLst>
              <a:ext uri="{FF2B5EF4-FFF2-40B4-BE49-F238E27FC236}">
                <a16:creationId xmlns:a16="http://schemas.microsoft.com/office/drawing/2014/main" id="{0AC9EEF4-FEB9-770A-0548-5114FF68B512}"/>
              </a:ext>
            </a:extLst>
          </p:cNvPr>
          <p:cNvSpPr/>
          <p:nvPr/>
        </p:nvSpPr>
        <p:spPr>
          <a:xfrm>
            <a:off x="6428673" y="1500284"/>
            <a:ext cx="2154716" cy="37329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5- Select Employee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15" grpId="0" animBg="1"/>
      <p:bldP spid="17" grpId="0" animBg="1"/>
      <p:bldP spid="18" grpId="0" animBg="1"/>
      <p:bldP spid="16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5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D9E68-C651-EB25-C854-BEF38C1F7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49" y="3048992"/>
            <a:ext cx="8843299" cy="773045"/>
          </a:xfrm>
          <a:prstGeom prst="rect">
            <a:avLst/>
          </a:prstGeom>
        </p:spPr>
      </p:pic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63501" y="843582"/>
            <a:ext cx="7861184" cy="42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4) Message will prompt upon saving - click ‘Yes’, then click ‘Back’</a:t>
            </a:r>
          </a:p>
        </p:txBody>
      </p:sp>
      <p:sp>
        <p:nvSpPr>
          <p:cNvPr id="12" name="Google Shape;295;g2b4e50f20d3_0_888"/>
          <p:cNvSpPr/>
          <p:nvPr/>
        </p:nvSpPr>
        <p:spPr>
          <a:xfrm>
            <a:off x="8702998" y="4174435"/>
            <a:ext cx="2644699" cy="34702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>
                <a:latin typeface="Libre Franklin"/>
                <a:ea typeface="Libre Franklin"/>
                <a:cs typeface="Libre Franklin"/>
                <a:sym typeface="Libre Franklin"/>
              </a:rPr>
              <a:t>12- Click ‘Back’ once record saved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3" name="Google Shape;296;g2b4e50f20d3_0_888"/>
          <p:cNvCxnSpPr>
            <a:cxnSpLocks/>
          </p:cNvCxnSpPr>
          <p:nvPr/>
        </p:nvCxnSpPr>
        <p:spPr>
          <a:xfrm>
            <a:off x="8076224" y="3769268"/>
            <a:ext cx="610732" cy="61878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7435795" y="3204377"/>
            <a:ext cx="1200647" cy="5247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Google Shape;282;g2b4e50f20d3_0_902"/>
          <p:cNvSpPr txBox="1"/>
          <p:nvPr/>
        </p:nvSpPr>
        <p:spPr>
          <a:xfrm>
            <a:off x="363501" y="530321"/>
            <a:ext cx="8125880" cy="45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</a:pPr>
            <a:r>
              <a:rPr lang="en-MY" sz="1800" b="1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 On-Boarding Process- Adding Employee Details (Salary)</a:t>
            </a:r>
            <a:endParaRPr lang="en-MY" sz="1800"/>
          </a:p>
        </p:txBody>
      </p:sp>
      <p:pic>
        <p:nvPicPr>
          <p:cNvPr id="4" name="Google Shape;292;g2b4e50f20d3_0_88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442D4064-EC4F-ABE8-41CF-67A3AB9C331F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375323" y="562481"/>
            <a:ext cx="2658903" cy="71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3885F4-1399-48ED-922E-E4E5CAFCB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770" y="2007474"/>
            <a:ext cx="6062717" cy="4362095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40919" y="879450"/>
            <a:ext cx="8783607" cy="68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08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1) </a:t>
            </a:r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Access Payroll Management &gt; Access Employee Benefit </a:t>
            </a:r>
            <a:endParaRPr lang="en-US" dirty="0">
              <a:solidFill>
                <a:schemeClr val="tx1"/>
              </a:solidFill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108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: Adding the Employee’s Fixed monthly allowance, such as Travel Allowance, Transport Allowance, etc.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09033" y="569333"/>
            <a:ext cx="2546609" cy="6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48941" y="550798"/>
            <a:ext cx="9012104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 - Adding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mployee Details (Allowance)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7" name="Google Shape;293;g2b4e50f20d3_0_888"/>
          <p:cNvSpPr/>
          <p:nvPr/>
        </p:nvSpPr>
        <p:spPr>
          <a:xfrm>
            <a:off x="1275108" y="3429000"/>
            <a:ext cx="2467972" cy="36512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1- Access ‘Payroll Management’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4;g2b4e50f20d3_0_888"/>
          <p:cNvCxnSpPr>
            <a:cxnSpLocks/>
            <a:stCxn id="13" idx="1"/>
            <a:endCxn id="7" idx="3"/>
          </p:cNvCxnSpPr>
          <p:nvPr/>
        </p:nvCxnSpPr>
        <p:spPr>
          <a:xfrm flipH="1" flipV="1">
            <a:off x="3743080" y="3611562"/>
            <a:ext cx="1185690" cy="113587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95;g2b4e50f20d3_0_888"/>
          <p:cNvSpPr/>
          <p:nvPr/>
        </p:nvSpPr>
        <p:spPr>
          <a:xfrm>
            <a:off x="1275108" y="4904404"/>
            <a:ext cx="2467972" cy="3651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2- Access ‘Employee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Benefit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  <a:stCxn id="16" idx="1"/>
            <a:endCxn id="11" idx="3"/>
          </p:cNvCxnSpPr>
          <p:nvPr/>
        </p:nvCxnSpPr>
        <p:spPr>
          <a:xfrm flipH="1" flipV="1">
            <a:off x="3743080" y="5086967"/>
            <a:ext cx="1185690" cy="2595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4928770" y="4604424"/>
            <a:ext cx="1782682" cy="2860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928770" y="4969910"/>
            <a:ext cx="1782682" cy="2860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78B7C6-30C6-D61D-77C9-25007DEB5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483" y="3258663"/>
            <a:ext cx="9892876" cy="1844657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49139" y="553292"/>
            <a:ext cx="2466399" cy="63806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65400" y="534626"/>
            <a:ext cx="8165984" cy="426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 - Adding Employee Details (Allowance)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65399" y="838128"/>
            <a:ext cx="6297080" cy="42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2) 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Create New Employee Benefit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Google Shape;295;g2b4e50f20d3_0_888"/>
          <p:cNvSpPr/>
          <p:nvPr/>
        </p:nvSpPr>
        <p:spPr>
          <a:xfrm>
            <a:off x="8730935" y="2035617"/>
            <a:ext cx="2631881" cy="36068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‘Create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 Benefit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9" name="Google Shape;296;g2b4e50f20d3_0_888"/>
          <p:cNvCxnSpPr>
            <a:cxnSpLocks/>
            <a:stCxn id="10" idx="0"/>
            <a:endCxn id="8" idx="2"/>
          </p:cNvCxnSpPr>
          <p:nvPr/>
        </p:nvCxnSpPr>
        <p:spPr>
          <a:xfrm flipV="1">
            <a:off x="10046094" y="2396297"/>
            <a:ext cx="782" cy="94634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9033930" y="3342639"/>
            <a:ext cx="2024328" cy="3747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A2F74EFA-0D98-76F2-BF6A-016D152B4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616" y="1613982"/>
            <a:ext cx="5140270" cy="4934188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92992" y="561313"/>
            <a:ext cx="2506503" cy="70223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73853" y="546281"/>
            <a:ext cx="7901290" cy="41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Process-Adding employee Details (Allowance)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79105" y="843997"/>
            <a:ext cx="5260073" cy="41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3) Adding Employee Allowance 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etails</a:t>
            </a:r>
            <a:endParaRPr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8429590" y="1760993"/>
            <a:ext cx="2791038" cy="35347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‘Employee Profile’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  <a:stCxn id="9" idx="3"/>
            <a:endCxn id="7" idx="1"/>
          </p:cNvCxnSpPr>
          <p:nvPr/>
        </p:nvCxnSpPr>
        <p:spPr>
          <a:xfrm>
            <a:off x="6990460" y="1926045"/>
            <a:ext cx="1439130" cy="1168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Rectangle 8"/>
          <p:cNvSpPr/>
          <p:nvPr/>
        </p:nvSpPr>
        <p:spPr>
          <a:xfrm>
            <a:off x="2597921" y="1777071"/>
            <a:ext cx="4392539" cy="2979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Google Shape;295;g2b4e50f20d3_0_888"/>
          <p:cNvSpPr/>
          <p:nvPr/>
        </p:nvSpPr>
        <p:spPr>
          <a:xfrm>
            <a:off x="8429590" y="2371061"/>
            <a:ext cx="2791038" cy="32487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Allowance Type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7" name="Google Shape;296;g2b4e50f20d3_0_888"/>
          <p:cNvCxnSpPr>
            <a:cxnSpLocks/>
            <a:stCxn id="18" idx="3"/>
            <a:endCxn id="16" idx="1"/>
          </p:cNvCxnSpPr>
          <p:nvPr/>
        </p:nvCxnSpPr>
        <p:spPr>
          <a:xfrm>
            <a:off x="6990460" y="2365550"/>
            <a:ext cx="1439130" cy="16795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2597921" y="2211265"/>
            <a:ext cx="4392539" cy="3085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400" kern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9" name="Google Shape;295;g2b4e50f20d3_0_888"/>
          <p:cNvSpPr/>
          <p:nvPr/>
        </p:nvSpPr>
        <p:spPr>
          <a:xfrm>
            <a:off x="8429589" y="3002125"/>
            <a:ext cx="2850860" cy="35077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Start Date from the Calendar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0" name="Google Shape;296;g2b4e50f20d3_0_888"/>
          <p:cNvCxnSpPr>
            <a:cxnSpLocks/>
            <a:stCxn id="11" idx="3"/>
            <a:endCxn id="19" idx="1"/>
          </p:cNvCxnSpPr>
          <p:nvPr/>
        </p:nvCxnSpPr>
        <p:spPr>
          <a:xfrm>
            <a:off x="6990459" y="2793293"/>
            <a:ext cx="1439130" cy="3842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295;g2b4e50f20d3_0_888"/>
          <p:cNvSpPr/>
          <p:nvPr/>
        </p:nvSpPr>
        <p:spPr>
          <a:xfrm>
            <a:off x="8429590" y="3659080"/>
            <a:ext cx="3346514" cy="61237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Insert 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AutoNum type="alphaLcParenR"/>
              <a:tabLst/>
              <a:defRPr/>
            </a:pP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</a:t>
            </a:r>
            <a:r>
              <a:rPr kumimoji="0" lang="en-US" sz="11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efault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/Fixed </a:t>
            </a:r>
            <a:r>
              <a:rPr kumimoji="0" lang="en-US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Date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for ‘Fixed Allowance’.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AutoNum type="alphaLcParenR"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End date for ‘Non-fixed Allowance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3" name="Google Shape;296;g2b4e50f20d3_0_888"/>
          <p:cNvCxnSpPr>
            <a:cxnSpLocks/>
            <a:stCxn id="24" idx="3"/>
            <a:endCxn id="22" idx="1"/>
          </p:cNvCxnSpPr>
          <p:nvPr/>
        </p:nvCxnSpPr>
        <p:spPr>
          <a:xfrm>
            <a:off x="6990459" y="3245372"/>
            <a:ext cx="1439131" cy="71989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2597920" y="3098617"/>
            <a:ext cx="4392539" cy="2935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5" name="Google Shape;295;g2b4e50f20d3_0_888"/>
          <p:cNvSpPr/>
          <p:nvPr/>
        </p:nvSpPr>
        <p:spPr>
          <a:xfrm>
            <a:off x="8429589" y="4526754"/>
            <a:ext cx="2491936" cy="36346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Insert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Amount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6" name="Google Shape;296;g2b4e50f20d3_0_888"/>
          <p:cNvCxnSpPr>
            <a:cxnSpLocks/>
            <a:stCxn id="27" idx="3"/>
            <a:endCxn id="25" idx="1"/>
          </p:cNvCxnSpPr>
          <p:nvPr/>
        </p:nvCxnSpPr>
        <p:spPr>
          <a:xfrm>
            <a:off x="6990459" y="3694305"/>
            <a:ext cx="1439130" cy="101418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2597920" y="3543400"/>
            <a:ext cx="4392539" cy="3018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9" name="Google Shape;296;g2b4e50f20d3_0_888"/>
          <p:cNvCxnSpPr>
            <a:cxnSpLocks/>
            <a:stCxn id="30" idx="3"/>
            <a:endCxn id="36" idx="1"/>
          </p:cNvCxnSpPr>
          <p:nvPr/>
        </p:nvCxnSpPr>
        <p:spPr>
          <a:xfrm>
            <a:off x="6990458" y="4135694"/>
            <a:ext cx="1439130" cy="117380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2597919" y="3988216"/>
            <a:ext cx="4392539" cy="2949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597919" y="4426179"/>
            <a:ext cx="4392540" cy="2938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597919" y="4846542"/>
            <a:ext cx="4392540" cy="2938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6" name="Google Shape;295;g2b4e50f20d3_0_888"/>
          <p:cNvSpPr/>
          <p:nvPr/>
        </p:nvSpPr>
        <p:spPr>
          <a:xfrm>
            <a:off x="8429588" y="5127768"/>
            <a:ext cx="2491936" cy="36346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9- 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Insert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</a:t>
            </a:r>
            <a:r>
              <a:rPr kumimoji="0" lang="en-MY" sz="11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efault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</a:t>
            </a:r>
            <a:r>
              <a:rPr kumimoji="0" lang="en-MY" sz="11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etails</a:t>
            </a: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7" name="Google Shape;296;g2b4e50f20d3_0_888"/>
          <p:cNvCxnSpPr>
            <a:cxnSpLocks/>
            <a:stCxn id="31" idx="3"/>
            <a:endCxn id="36" idx="1"/>
          </p:cNvCxnSpPr>
          <p:nvPr/>
        </p:nvCxnSpPr>
        <p:spPr>
          <a:xfrm>
            <a:off x="6990459" y="4573081"/>
            <a:ext cx="1439129" cy="73642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296;g2b4e50f20d3_0_888"/>
          <p:cNvCxnSpPr>
            <a:cxnSpLocks/>
            <a:stCxn id="32" idx="3"/>
            <a:endCxn id="36" idx="1"/>
          </p:cNvCxnSpPr>
          <p:nvPr/>
        </p:nvCxnSpPr>
        <p:spPr>
          <a:xfrm>
            <a:off x="6990459" y="4993443"/>
            <a:ext cx="1439129" cy="3160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" name="Google Shape;295;g2b4e50f20d3_0_888"/>
          <p:cNvSpPr/>
          <p:nvPr/>
        </p:nvSpPr>
        <p:spPr>
          <a:xfrm>
            <a:off x="599426" y="6065978"/>
            <a:ext cx="2075408" cy="33270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10- Click ‘Save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 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once done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44" name="Google Shape;296;g2b4e50f20d3_0_888"/>
          <p:cNvCxnSpPr>
            <a:cxnSpLocks/>
            <a:stCxn id="43" idx="3"/>
            <a:endCxn id="45" idx="1"/>
          </p:cNvCxnSpPr>
          <p:nvPr/>
        </p:nvCxnSpPr>
        <p:spPr>
          <a:xfrm>
            <a:off x="2674834" y="6232329"/>
            <a:ext cx="110240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" name="Rectangle 44"/>
          <p:cNvSpPr/>
          <p:nvPr/>
        </p:nvSpPr>
        <p:spPr>
          <a:xfrm>
            <a:off x="3777241" y="6085428"/>
            <a:ext cx="803305" cy="2938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552E00-19FC-F454-4FD9-F2D44DC5E452}"/>
              </a:ext>
            </a:extLst>
          </p:cNvPr>
          <p:cNvSpPr/>
          <p:nvPr/>
        </p:nvSpPr>
        <p:spPr>
          <a:xfrm>
            <a:off x="2597920" y="2631846"/>
            <a:ext cx="4392539" cy="3228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400" kern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6" grpId="0" animBg="1"/>
      <p:bldP spid="18" grpId="0" animBg="1"/>
      <p:bldP spid="19" grpId="0" animBg="1"/>
      <p:bldP spid="22" grpId="0" animBg="1"/>
      <p:bldP spid="24" grpId="0" animBg="1"/>
      <p:bldP spid="25" grpId="0" animBg="1"/>
      <p:bldP spid="27" grpId="0" animBg="1"/>
      <p:bldP spid="30" grpId="0" animBg="1"/>
      <p:bldP spid="31" grpId="0" animBg="1"/>
      <p:bldP spid="32" grpId="0" animBg="1"/>
      <p:bldP spid="36" grpId="0" animBg="1"/>
      <p:bldP spid="43" grpId="0" animBg="1"/>
      <p:bldP spid="45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1B2C7-F590-423B-84AD-B720030E8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53" y="2136393"/>
            <a:ext cx="9381033" cy="3589331"/>
          </a:xfrm>
          <a:prstGeom prst="rect">
            <a:avLst/>
          </a:prstGeom>
        </p:spPr>
      </p:pic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47766" y="837347"/>
            <a:ext cx="5775711" cy="373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4) Message will prompt upon saving-click ‘Yes’ , then click ‘Back’</a:t>
            </a:r>
            <a:endParaRPr lang="en-MY" sz="1600" b="1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12" name="Google Shape;295;g2b4e50f20d3_0_888"/>
          <p:cNvSpPr/>
          <p:nvPr/>
        </p:nvSpPr>
        <p:spPr>
          <a:xfrm>
            <a:off x="8228592" y="5965352"/>
            <a:ext cx="1812715" cy="50381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‘Back’ once record saved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3" name="Google Shape;296;g2b4e50f20d3_0_888"/>
          <p:cNvCxnSpPr>
            <a:cxnSpLocks/>
            <a:stCxn id="14" idx="3"/>
            <a:endCxn id="12" idx="0"/>
          </p:cNvCxnSpPr>
          <p:nvPr/>
        </p:nvCxnSpPr>
        <p:spPr>
          <a:xfrm>
            <a:off x="7990317" y="5287204"/>
            <a:ext cx="1144633" cy="6781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6868202" y="5084748"/>
            <a:ext cx="1122115" cy="404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" name="Google Shape;282;g2b4e50f20d3_0_902"/>
          <p:cNvSpPr txBox="1"/>
          <p:nvPr/>
        </p:nvSpPr>
        <p:spPr>
          <a:xfrm>
            <a:off x="355787" y="542983"/>
            <a:ext cx="8302343" cy="445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Process-Adding employee Details (Allowance)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pic>
        <p:nvPicPr>
          <p:cNvPr id="5" name="Google Shape;292;g2b4e50f20d3_0_888" descr="A blue and red text on a white background&#10;&#10;AI-generated content may be incorrect.">
            <a:extLst>
              <a:ext uri="{FF2B5EF4-FFF2-40B4-BE49-F238E27FC236}">
                <a16:creationId xmlns:a16="http://schemas.microsoft.com/office/drawing/2014/main" id="{EB6BF501-5E9A-3A7B-B7C6-2CDFE3E0DCD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492992" y="561313"/>
            <a:ext cx="2506503" cy="702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71E24839-B235-975E-24A5-B0412AFC5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84" y="1876035"/>
            <a:ext cx="8305800" cy="4105275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36032" y="814498"/>
            <a:ext cx="8623184" cy="366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1) Main Portal &gt; Accessing ‘Employee Management’ &gt;Access ‘Statutory’&gt; Access ‘Employee Statutory’ </a:t>
            </a:r>
            <a:endParaRPr lang="en-US" sz="16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93694" y="551249"/>
            <a:ext cx="2506503" cy="66212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4e50f20d3_0_888"/>
          <p:cNvSpPr/>
          <p:nvPr/>
        </p:nvSpPr>
        <p:spPr>
          <a:xfrm>
            <a:off x="628109" y="2861740"/>
            <a:ext cx="2129399" cy="45772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1- Access ‘Employee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Management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94" name="Google Shape;294;g2b4e50f20d3_0_888"/>
          <p:cNvCxnSpPr>
            <a:cxnSpLocks/>
          </p:cNvCxnSpPr>
          <p:nvPr/>
        </p:nvCxnSpPr>
        <p:spPr>
          <a:xfrm flipH="1" flipV="1">
            <a:off x="1660725" y="3311447"/>
            <a:ext cx="1252922" cy="6058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60096" y="551085"/>
            <a:ext cx="7387942" cy="369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 Adding Statutory Details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628109" y="4409812"/>
            <a:ext cx="2129399" cy="38348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2- Access ‘Statutory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</p:cNvCxnSpPr>
          <p:nvPr/>
        </p:nvCxnSpPr>
        <p:spPr>
          <a:xfrm flipH="1" flipV="1">
            <a:off x="1684788" y="4761209"/>
            <a:ext cx="1212816" cy="82574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95;g2b4e50f20d3_0_888"/>
          <p:cNvSpPr/>
          <p:nvPr/>
        </p:nvSpPr>
        <p:spPr>
          <a:xfrm>
            <a:off x="464786" y="6224382"/>
            <a:ext cx="2440839" cy="35881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3- Access ‘Employee Statutory’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</p:cNvCxnSpPr>
          <p:nvPr/>
        </p:nvCxnSpPr>
        <p:spPr>
          <a:xfrm flipH="1">
            <a:off x="1661143" y="5842975"/>
            <a:ext cx="1212398" cy="38140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2889584" y="3741945"/>
            <a:ext cx="2100609" cy="302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89583" y="5432944"/>
            <a:ext cx="2100609" cy="2598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89583" y="5745113"/>
            <a:ext cx="2100609" cy="2598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7" grpId="0" animBg="1"/>
      <p:bldP spid="11" grpId="0" animBg="1"/>
      <p:bldP spid="15" grpId="0" animBg="1"/>
      <p:bldP spid="16" grpId="0" animBg="1"/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044633-09D1-43CD-9758-C0EFC084F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33" y="2751046"/>
            <a:ext cx="10672163" cy="2775657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5480" y="804892"/>
            <a:ext cx="4091290" cy="463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2) Adding Employee Statutory details</a:t>
            </a:r>
            <a:endParaRPr lang="en-US" sz="160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91891" y="546438"/>
            <a:ext cx="2426293" cy="5899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63501" y="530396"/>
            <a:ext cx="7067100" cy="46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 Adding Statutory Details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50994" y="3085717"/>
            <a:ext cx="1501502" cy="4089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3" name="Google Shape;293;g2b4e50f20d3_0_888"/>
          <p:cNvSpPr/>
          <p:nvPr/>
        </p:nvSpPr>
        <p:spPr>
          <a:xfrm>
            <a:off x="8977721" y="1751258"/>
            <a:ext cx="2848048" cy="34451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4- Click ‘Create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 Statutory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4" name="Google Shape;294;g2b4e50f20d3_0_888"/>
          <p:cNvCxnSpPr>
            <a:cxnSpLocks/>
            <a:stCxn id="13" idx="2"/>
            <a:endCxn id="10" idx="0"/>
          </p:cNvCxnSpPr>
          <p:nvPr/>
        </p:nvCxnSpPr>
        <p:spPr>
          <a:xfrm>
            <a:off x="10401745" y="2095774"/>
            <a:ext cx="0" cy="98994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5CE850-6CF9-7195-C837-1AC89D7FE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571" y="1714570"/>
            <a:ext cx="5722947" cy="4544515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52886" y="561313"/>
            <a:ext cx="2570672" cy="71827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62088" y="550789"/>
            <a:ext cx="7612532" cy="41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Adding Statutory Details (EPF)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54067" y="826974"/>
            <a:ext cx="3714300" cy="40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3) Adding the Statutory details  </a:t>
            </a:r>
            <a:endParaRPr lang="en-US" sz="160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8856994" y="2175369"/>
            <a:ext cx="2534594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5- Select Employee Profile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  <a:stCxn id="11" idx="3"/>
            <a:endCxn id="7" idx="1"/>
          </p:cNvCxnSpPr>
          <p:nvPr/>
        </p:nvCxnSpPr>
        <p:spPr>
          <a:xfrm flipV="1">
            <a:off x="6871579" y="2386269"/>
            <a:ext cx="1985415" cy="1462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2290525" y="2368083"/>
            <a:ext cx="4581054" cy="3289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2" name="Google Shape;295;g2b4e50f20d3_0_888"/>
          <p:cNvSpPr/>
          <p:nvPr/>
        </p:nvSpPr>
        <p:spPr>
          <a:xfrm>
            <a:off x="8856994" y="3197185"/>
            <a:ext cx="2534594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6- Select the effective from calendar only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3" name="Google Shape;296;g2b4e50f20d3_0_888"/>
          <p:cNvCxnSpPr>
            <a:cxnSpLocks/>
            <a:stCxn id="14" idx="3"/>
            <a:endCxn id="12" idx="1"/>
          </p:cNvCxnSpPr>
          <p:nvPr/>
        </p:nvCxnSpPr>
        <p:spPr>
          <a:xfrm>
            <a:off x="6871579" y="2968753"/>
            <a:ext cx="1985415" cy="43933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2290525" y="2812006"/>
            <a:ext cx="4581054" cy="3134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7" name="Google Shape;295;g2b4e50f20d3_0_888"/>
          <p:cNvSpPr/>
          <p:nvPr/>
        </p:nvSpPr>
        <p:spPr>
          <a:xfrm>
            <a:off x="8856994" y="4288424"/>
            <a:ext cx="2534594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7- Select Type of Statutory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9" name="Google Shape;296;g2b4e50f20d3_0_888"/>
          <p:cNvCxnSpPr>
            <a:cxnSpLocks/>
            <a:stCxn id="20" idx="3"/>
            <a:endCxn id="17" idx="1"/>
          </p:cNvCxnSpPr>
          <p:nvPr/>
        </p:nvCxnSpPr>
        <p:spPr>
          <a:xfrm>
            <a:off x="6871579" y="4478044"/>
            <a:ext cx="1985415" cy="2128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2290526" y="3297672"/>
            <a:ext cx="4581053" cy="2360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4" grpId="0" animBg="1"/>
      <p:bldP spid="17" grpId="0" animBg="1"/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D66E31-1AAC-140D-DFEA-C7DCAACDA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876" y="1586118"/>
            <a:ext cx="4874580" cy="4777545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64655" y="569334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49715" y="530564"/>
            <a:ext cx="8182027" cy="47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 Adding Statutory Details (EPF)</a:t>
            </a: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41694" y="820644"/>
            <a:ext cx="3866701" cy="469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4) Adding the Statutory Details</a:t>
            </a:r>
          </a:p>
        </p:txBody>
      </p:sp>
      <p:sp>
        <p:nvSpPr>
          <p:cNvPr id="28" name="Google Shape;295;g2b4e50f20d3_0_888"/>
          <p:cNvSpPr/>
          <p:nvPr/>
        </p:nvSpPr>
        <p:spPr>
          <a:xfrm>
            <a:off x="592517" y="3429000"/>
            <a:ext cx="2157389" cy="35092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8- Select ‘Statutory Details’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43" name="Google Shape;296;g2b4e50f20d3_0_888"/>
          <p:cNvCxnSpPr>
            <a:cxnSpLocks/>
            <a:stCxn id="28" idx="3"/>
            <a:endCxn id="31" idx="1"/>
          </p:cNvCxnSpPr>
          <p:nvPr/>
        </p:nvCxnSpPr>
        <p:spPr>
          <a:xfrm>
            <a:off x="2749906" y="3604462"/>
            <a:ext cx="1007282" cy="15406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295;g2b4e50f20d3_0_888"/>
          <p:cNvSpPr/>
          <p:nvPr/>
        </p:nvSpPr>
        <p:spPr>
          <a:xfrm>
            <a:off x="8044838" y="5574799"/>
            <a:ext cx="3382018" cy="35738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for employee with </a:t>
            </a:r>
            <a:r>
              <a:rPr lang="en-US" sz="10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EPF contribution</a:t>
            </a:r>
            <a:r>
              <a:rPr lang="en-US" sz="10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(exp: Permanent Staff)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02437" y="5648468"/>
            <a:ext cx="2442501" cy="2181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02438" y="4792072"/>
            <a:ext cx="2442500" cy="2181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Google Shape;295;g2b4e50f20d3_0_888"/>
          <p:cNvSpPr/>
          <p:nvPr/>
        </p:nvSpPr>
        <p:spPr>
          <a:xfrm>
            <a:off x="8044838" y="4690259"/>
            <a:ext cx="3382018" cy="421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for employee with ‘No EPF contribution’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(exp: Contract staff, Part time Staff and Foreigner)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  <a:stCxn id="6" idx="3"/>
            <a:endCxn id="3" idx="1"/>
          </p:cNvCxnSpPr>
          <p:nvPr/>
        </p:nvCxnSpPr>
        <p:spPr>
          <a:xfrm flipV="1">
            <a:off x="6944938" y="5753491"/>
            <a:ext cx="1099900" cy="4064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296;g2b4e50f20d3_0_888"/>
          <p:cNvCxnSpPr>
            <a:cxnSpLocks/>
            <a:stCxn id="9" idx="3"/>
            <a:endCxn id="10" idx="1"/>
          </p:cNvCxnSpPr>
          <p:nvPr/>
        </p:nvCxnSpPr>
        <p:spPr>
          <a:xfrm>
            <a:off x="6944938" y="4901159"/>
            <a:ext cx="1099900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3757188" y="3926597"/>
            <a:ext cx="3992578" cy="2437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" grpId="0" animBg="1"/>
      <p:bldP spid="6" grpId="0" animBg="1"/>
      <p:bldP spid="9" grpId="0" animBg="1"/>
      <p:bldP spid="1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4EB592F-7F9E-C24A-0DAD-ED209F4E8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442" y="5461050"/>
            <a:ext cx="4867116" cy="762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1239F2-9540-598D-DD27-74400C4CA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680" y="1760199"/>
            <a:ext cx="5014205" cy="3481774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444865" y="553292"/>
            <a:ext cx="2570672" cy="73431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73778" y="529229"/>
            <a:ext cx="7716806" cy="480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Adding Statutory Details (EPF)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73778" y="841752"/>
            <a:ext cx="5406743" cy="417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4) </a:t>
            </a:r>
            <a:r>
              <a:rPr lang="en-US" sz="1600" kern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Adding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the Statutory Details  </a:t>
            </a:r>
            <a:endParaRPr lang="en-US" sz="16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8" name="Google Shape;296;g2b4e50f20d3_0_888"/>
          <p:cNvCxnSpPr>
            <a:cxnSpLocks/>
            <a:stCxn id="11" idx="3"/>
            <a:endCxn id="27" idx="1"/>
          </p:cNvCxnSpPr>
          <p:nvPr/>
        </p:nvCxnSpPr>
        <p:spPr>
          <a:xfrm flipV="1">
            <a:off x="8066638" y="3440503"/>
            <a:ext cx="1298017" cy="34411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3947312" y="3637630"/>
            <a:ext cx="4119326" cy="2939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7" name="Google Shape;295;g2b4e50f20d3_0_888"/>
          <p:cNvSpPr/>
          <p:nvPr/>
        </p:nvSpPr>
        <p:spPr>
          <a:xfrm>
            <a:off x="9364655" y="3254791"/>
            <a:ext cx="2177377" cy="37142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9- Insert EPF no</a:t>
            </a:r>
          </a:p>
        </p:txBody>
      </p:sp>
      <p:cxnSp>
        <p:nvCxnSpPr>
          <p:cNvPr id="19" name="Google Shape;296;g2b4e50f20d3_0_888"/>
          <p:cNvCxnSpPr>
            <a:cxnSpLocks/>
            <a:stCxn id="20" idx="3"/>
            <a:endCxn id="22" idx="1"/>
          </p:cNvCxnSpPr>
          <p:nvPr/>
        </p:nvCxnSpPr>
        <p:spPr>
          <a:xfrm flipV="1">
            <a:off x="8066638" y="4467283"/>
            <a:ext cx="1298018" cy="15555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3947312" y="4475845"/>
            <a:ext cx="4119326" cy="2939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2" name="Google Shape;295;g2b4e50f20d3_0_888"/>
          <p:cNvSpPr/>
          <p:nvPr/>
        </p:nvSpPr>
        <p:spPr>
          <a:xfrm>
            <a:off x="9364656" y="4281571"/>
            <a:ext cx="2177376" cy="37142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10- Select Location</a:t>
            </a:r>
          </a:p>
        </p:txBody>
      </p:sp>
      <p:cxnSp>
        <p:nvCxnSpPr>
          <p:cNvPr id="25" name="Google Shape;296;g2b4e50f20d3_0_888"/>
          <p:cNvCxnSpPr>
            <a:cxnSpLocks/>
            <a:stCxn id="26" idx="1"/>
            <a:endCxn id="29" idx="3"/>
          </p:cNvCxnSpPr>
          <p:nvPr/>
        </p:nvCxnSpPr>
        <p:spPr>
          <a:xfrm flipH="1" flipV="1">
            <a:off x="2869949" y="5672171"/>
            <a:ext cx="1419024" cy="20400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4288973" y="5672171"/>
            <a:ext cx="989197" cy="4080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9" name="Google Shape;295;g2b4e50f20d3_0_888"/>
          <p:cNvSpPr/>
          <p:nvPr/>
        </p:nvSpPr>
        <p:spPr>
          <a:xfrm>
            <a:off x="588202" y="5461271"/>
            <a:ext cx="2281747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11- Click ‘Save’ once done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 animBg="1"/>
      <p:bldP spid="20" grpId="0" animBg="1"/>
      <p:bldP spid="22" grpId="0" animBg="1"/>
      <p:bldP spid="26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50DB5B-8E7F-D7B9-9E52-D71AF3C49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588" y="1882397"/>
            <a:ext cx="5031255" cy="4280736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88718" y="553292"/>
            <a:ext cx="2618798" cy="71025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61683" y="555116"/>
            <a:ext cx="8102353" cy="42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 Adding Statutory Details (SOCSO)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65819" y="956511"/>
            <a:ext cx="5715177" cy="552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080"/>
              </a:spcBef>
              <a:buClr>
                <a:srgbClr val="1CADE4"/>
              </a:buClr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5) Repeat Steps to add Employee Statutory 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etails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en-US" sz="1600" kern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1656"/>
              <a:buFont typeface="Noto Sans Symbols"/>
              <a:buNone/>
              <a:tabLst/>
              <a:defRPr/>
            </a:pPr>
            <a:r>
              <a:rPr lang="en-MY" sz="1600" kern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6) Select Statutory Type ‘SOCSO’ and complete the details.</a:t>
            </a:r>
            <a:endParaRPr lang="en-US" sz="1600" kern="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1" name="Google Shape;296;g2b4e50f20d3_0_888"/>
          <p:cNvCxnSpPr>
            <a:cxnSpLocks/>
            <a:stCxn id="18" idx="3"/>
            <a:endCxn id="22" idx="1"/>
          </p:cNvCxnSpPr>
          <p:nvPr/>
        </p:nvCxnSpPr>
        <p:spPr>
          <a:xfrm flipV="1">
            <a:off x="7532483" y="3364073"/>
            <a:ext cx="1832172" cy="11278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3277354" y="3341653"/>
            <a:ext cx="4255129" cy="2704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9" name="Google Shape;295;g2b4e50f20d3_0_888"/>
          <p:cNvSpPr/>
          <p:nvPr/>
        </p:nvSpPr>
        <p:spPr>
          <a:xfrm>
            <a:off x="441296" y="3921556"/>
            <a:ext cx="2055110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13- Select </a:t>
            </a:r>
            <a:r>
              <a:rPr lang="en-MY" sz="10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MY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Socso</a:t>
            </a:r>
            <a:r>
              <a:rPr lang="en-MY" sz="10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Details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1" name="Google Shape;296;g2b4e50f20d3_0_888"/>
          <p:cNvCxnSpPr>
            <a:cxnSpLocks/>
            <a:stCxn id="19" idx="3"/>
            <a:endCxn id="29" idx="1"/>
          </p:cNvCxnSpPr>
          <p:nvPr/>
        </p:nvCxnSpPr>
        <p:spPr>
          <a:xfrm>
            <a:off x="2496406" y="4132456"/>
            <a:ext cx="780948" cy="88266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295;g2b4e50f20d3_0_888"/>
          <p:cNvSpPr/>
          <p:nvPr/>
        </p:nvSpPr>
        <p:spPr>
          <a:xfrm>
            <a:off x="9364655" y="3153173"/>
            <a:ext cx="1655738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12- Select </a:t>
            </a:r>
            <a:r>
              <a:rPr lang="en-US" sz="10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SOCSO</a:t>
            </a:r>
            <a:r>
              <a:rPr lang="en-US" sz="10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54874" y="5429057"/>
            <a:ext cx="3114236" cy="2038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4" name="Google Shape;295;g2b4e50f20d3_0_888"/>
          <p:cNvSpPr/>
          <p:nvPr/>
        </p:nvSpPr>
        <p:spPr>
          <a:xfrm>
            <a:off x="8319024" y="4614010"/>
            <a:ext cx="3195530" cy="3816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for employee with ‘</a:t>
            </a:r>
            <a:r>
              <a:rPr kumimoji="0" lang="en-MY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Socso</a:t>
            </a: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contribution’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For Malaysian only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5" name="Google Shape;296;g2b4e50f20d3_0_888"/>
          <p:cNvCxnSpPr>
            <a:cxnSpLocks/>
            <a:stCxn id="23" idx="3"/>
            <a:endCxn id="36" idx="1"/>
          </p:cNvCxnSpPr>
          <p:nvPr/>
        </p:nvCxnSpPr>
        <p:spPr>
          <a:xfrm flipV="1">
            <a:off x="7469110" y="5449173"/>
            <a:ext cx="850961" cy="81797"/>
          </a:xfrm>
          <a:prstGeom prst="straightConnector1">
            <a:avLst/>
          </a:prstGeom>
          <a:noFill/>
          <a:ln w="9525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3277354" y="4154534"/>
            <a:ext cx="4255129" cy="1721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0" name="Google Shape;295;g2b4e50f20d3_0_888"/>
          <p:cNvSpPr/>
          <p:nvPr/>
        </p:nvSpPr>
        <p:spPr>
          <a:xfrm>
            <a:off x="8308609" y="5820579"/>
            <a:ext cx="3196577" cy="421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for employee with ‘No </a:t>
            </a:r>
            <a:r>
              <a:rPr kumimoji="0" lang="en-MY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Socso</a:t>
            </a: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contribution’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(exp: Contract staff, Part time Staff)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54873" y="5640021"/>
            <a:ext cx="3114236" cy="231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32" name="Google Shape;296;g2b4e50f20d3_0_888"/>
          <p:cNvCxnSpPr>
            <a:cxnSpLocks/>
            <a:stCxn id="31" idx="3"/>
            <a:endCxn id="30" idx="1"/>
          </p:cNvCxnSpPr>
          <p:nvPr/>
        </p:nvCxnSpPr>
        <p:spPr>
          <a:xfrm>
            <a:off x="7469109" y="5755891"/>
            <a:ext cx="839500" cy="275588"/>
          </a:xfrm>
          <a:prstGeom prst="straightConnector1">
            <a:avLst/>
          </a:prstGeom>
          <a:noFill/>
          <a:ln w="9525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" name="Rectangle 34"/>
          <p:cNvSpPr/>
          <p:nvPr/>
        </p:nvSpPr>
        <p:spPr>
          <a:xfrm>
            <a:off x="4354874" y="4995707"/>
            <a:ext cx="3114236" cy="194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6" name="Google Shape;295;g2b4e50f20d3_0_888"/>
          <p:cNvSpPr/>
          <p:nvPr/>
        </p:nvSpPr>
        <p:spPr>
          <a:xfrm>
            <a:off x="8320071" y="5258324"/>
            <a:ext cx="3195530" cy="38169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for employee with ‘</a:t>
            </a:r>
            <a:r>
              <a:rPr kumimoji="0" lang="en-MY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Socso</a:t>
            </a: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contribution’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For Foreigner </a:t>
            </a:r>
            <a:r>
              <a:rPr lang="en-MY" sz="10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</a:t>
            </a:r>
            <a:r>
              <a:rPr kumimoji="0" lang="en-MY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mployee</a:t>
            </a: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- </a:t>
            </a:r>
            <a:r>
              <a:rPr lang="en-MY" sz="10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</a:t>
            </a:r>
            <a:r>
              <a:rPr kumimoji="0" lang="en-MY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ffective</a:t>
            </a: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1</a:t>
            </a:r>
            <a:r>
              <a:rPr kumimoji="0" lang="en-MY" sz="1000" b="0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st</a:t>
            </a: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July 2024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7" name="Google Shape;296;g2b4e50f20d3_0_888"/>
          <p:cNvCxnSpPr>
            <a:cxnSpLocks/>
            <a:stCxn id="35" idx="3"/>
            <a:endCxn id="24" idx="1"/>
          </p:cNvCxnSpPr>
          <p:nvPr/>
        </p:nvCxnSpPr>
        <p:spPr>
          <a:xfrm flipV="1">
            <a:off x="7469110" y="4804859"/>
            <a:ext cx="849914" cy="288238"/>
          </a:xfrm>
          <a:prstGeom prst="straightConnector1">
            <a:avLst/>
          </a:prstGeom>
          <a:noFill/>
          <a:ln w="9525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5" grpId="0" animBg="1"/>
      <p:bldP spid="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CDB020-8A88-964A-0BEF-854E3BF0F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772" y="1656787"/>
            <a:ext cx="5582138" cy="4487134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64655" y="569334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1;g2b4e50f20d3_0_888"/>
          <p:cNvSpPr txBox="1"/>
          <p:nvPr/>
        </p:nvSpPr>
        <p:spPr>
          <a:xfrm>
            <a:off x="346674" y="847714"/>
            <a:ext cx="4283795" cy="39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Libre Franklin"/>
              </a:rPr>
              <a:t>7) Completing the Statutory Details</a:t>
            </a:r>
          </a:p>
        </p:txBody>
      </p:sp>
      <p:cxnSp>
        <p:nvCxnSpPr>
          <p:cNvPr id="8" name="Google Shape;296;g2b4e50f20d3_0_888"/>
          <p:cNvCxnSpPr>
            <a:cxnSpLocks/>
            <a:stCxn id="11" idx="3"/>
            <a:endCxn id="27" idx="1"/>
          </p:cNvCxnSpPr>
          <p:nvPr/>
        </p:nvCxnSpPr>
        <p:spPr>
          <a:xfrm flipV="1">
            <a:off x="8039477" y="3780866"/>
            <a:ext cx="1481969" cy="22918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3832850" y="3653150"/>
            <a:ext cx="4206627" cy="301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7" name="Google Shape;295;g2b4e50f20d3_0_888"/>
          <p:cNvSpPr/>
          <p:nvPr/>
        </p:nvSpPr>
        <p:spPr>
          <a:xfrm>
            <a:off x="9521446" y="3602712"/>
            <a:ext cx="2074929" cy="35630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14- 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Insert SOCSO Value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9" name="Google Shape;296;g2b4e50f20d3_0_888"/>
          <p:cNvCxnSpPr>
            <a:cxnSpLocks/>
            <a:stCxn id="20" idx="3"/>
            <a:endCxn id="22" idx="1"/>
          </p:cNvCxnSpPr>
          <p:nvPr/>
        </p:nvCxnSpPr>
        <p:spPr>
          <a:xfrm>
            <a:off x="8039477" y="4687377"/>
            <a:ext cx="1481969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3832850" y="4536744"/>
            <a:ext cx="4206627" cy="301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2" name="Google Shape;295;g2b4e50f20d3_0_888"/>
          <p:cNvSpPr/>
          <p:nvPr/>
        </p:nvSpPr>
        <p:spPr>
          <a:xfrm>
            <a:off x="9521446" y="4522682"/>
            <a:ext cx="2097299" cy="32938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15- Select Location</a:t>
            </a:r>
          </a:p>
        </p:txBody>
      </p:sp>
      <p:cxnSp>
        <p:nvCxnSpPr>
          <p:cNvPr id="25" name="Google Shape;296;g2b4e50f20d3_0_888"/>
          <p:cNvCxnSpPr>
            <a:cxnSpLocks/>
            <a:stCxn id="26" idx="1"/>
            <a:endCxn id="29" idx="3"/>
          </p:cNvCxnSpPr>
          <p:nvPr/>
        </p:nvCxnSpPr>
        <p:spPr>
          <a:xfrm flipH="1">
            <a:off x="2936267" y="5929103"/>
            <a:ext cx="1834909" cy="287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4771176" y="5745866"/>
            <a:ext cx="823865" cy="366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9" name="Google Shape;295;g2b4e50f20d3_0_888"/>
          <p:cNvSpPr/>
          <p:nvPr/>
        </p:nvSpPr>
        <p:spPr>
          <a:xfrm>
            <a:off x="953852" y="5751621"/>
            <a:ext cx="1982415" cy="36071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16- Click ‘Save’ once done</a:t>
            </a:r>
          </a:p>
        </p:txBody>
      </p:sp>
      <p:sp>
        <p:nvSpPr>
          <p:cNvPr id="6" name="Google Shape;282;g2b4e50f20d3_0_902"/>
          <p:cNvSpPr txBox="1"/>
          <p:nvPr/>
        </p:nvSpPr>
        <p:spPr>
          <a:xfrm>
            <a:off x="354695" y="560042"/>
            <a:ext cx="11029500" cy="38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 Adding Statutory Details (SOCSO)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 animBg="1"/>
      <p:bldP spid="20" grpId="0" animBg="1"/>
      <p:bldP spid="22" grpId="0" animBg="1"/>
      <p:bldP spid="26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9E5420-6200-F8D5-E71D-1E88AF736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864" y="1652609"/>
            <a:ext cx="5988699" cy="4721381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64655" y="569334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78679" y="535658"/>
            <a:ext cx="8109838" cy="45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</a:t>
            </a:r>
            <a:r>
              <a:rPr kumimoji="0" lang="en-MY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On-Boarding Process- Adding Statutory Details (EIS)</a:t>
            </a:r>
            <a:endParaRPr kumimoji="0" lang="en-MY" sz="19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73789" y="814391"/>
            <a:ext cx="7063428" cy="41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080"/>
              </a:spcBef>
              <a:buClr>
                <a:srgbClr val="1CADE4"/>
              </a:buClr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8) Repeat Steps Statutory </a:t>
            </a:r>
            <a:r>
              <a:rPr lang="en-US" sz="1600" kern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details - Only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for Malaysian Employee with IC  </a:t>
            </a:r>
            <a:endParaRPr lang="en-US" sz="16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6" name="Google Shape;296;g2b4e50f20d3_0_888"/>
          <p:cNvCxnSpPr>
            <a:cxnSpLocks/>
            <a:stCxn id="7" idx="3"/>
            <a:endCxn id="20" idx="1"/>
          </p:cNvCxnSpPr>
          <p:nvPr/>
        </p:nvCxnSpPr>
        <p:spPr>
          <a:xfrm>
            <a:off x="8492150" y="3414963"/>
            <a:ext cx="124426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" name="Rectangle 6"/>
          <p:cNvSpPr/>
          <p:nvPr/>
        </p:nvSpPr>
        <p:spPr>
          <a:xfrm>
            <a:off x="3747712" y="3254802"/>
            <a:ext cx="4744438" cy="320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8" name="Google Shape;295;g2b4e50f20d3_0_888"/>
          <p:cNvSpPr/>
          <p:nvPr/>
        </p:nvSpPr>
        <p:spPr>
          <a:xfrm>
            <a:off x="9736411" y="4169775"/>
            <a:ext cx="1888239" cy="35935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18- Select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SIP</a:t>
            </a:r>
            <a:r>
              <a:rPr lang="en-MY" sz="11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Details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9" name="Google Shape;296;g2b4e50f20d3_0_888"/>
          <p:cNvCxnSpPr>
            <a:cxnSpLocks/>
            <a:stCxn id="22" idx="3"/>
            <a:endCxn id="18" idx="1"/>
          </p:cNvCxnSpPr>
          <p:nvPr/>
        </p:nvCxnSpPr>
        <p:spPr>
          <a:xfrm flipV="1">
            <a:off x="8492150" y="4349452"/>
            <a:ext cx="1244261" cy="55549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oogle Shape;295;g2b4e50f20d3_0_888"/>
          <p:cNvSpPr/>
          <p:nvPr/>
        </p:nvSpPr>
        <p:spPr>
          <a:xfrm>
            <a:off x="9736411" y="3235286"/>
            <a:ext cx="1468187" cy="35935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17-Select 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SIP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747712" y="4182701"/>
            <a:ext cx="4744438" cy="14444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979406" y="5337477"/>
            <a:ext cx="3440317" cy="221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5" name="Google Shape;296;g2b4e50f20d3_0_888"/>
          <p:cNvCxnSpPr>
            <a:cxnSpLocks/>
            <a:stCxn id="24" idx="1"/>
            <a:endCxn id="26" idx="3"/>
          </p:cNvCxnSpPr>
          <p:nvPr/>
        </p:nvCxnSpPr>
        <p:spPr>
          <a:xfrm flipH="1" flipV="1">
            <a:off x="3318864" y="4974560"/>
            <a:ext cx="1660542" cy="473593"/>
          </a:xfrm>
          <a:prstGeom prst="straightConnector1">
            <a:avLst/>
          </a:prstGeom>
          <a:noFill/>
          <a:ln w="9525" cap="flat" cmpd="sng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295;g2b4e50f20d3_0_888"/>
          <p:cNvSpPr/>
          <p:nvPr/>
        </p:nvSpPr>
        <p:spPr>
          <a:xfrm>
            <a:off x="393706" y="4763660"/>
            <a:ext cx="2925158" cy="421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for employee with ‘EIS contribution’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(exp: Malaysian only- Permanent Staff)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20" grpId="0" animBg="1"/>
      <p:bldP spid="22" grpId="0" animBg="1"/>
      <p:bldP spid="24" grpId="0" animBg="1"/>
      <p:bldP spid="2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5ED8AC-6B68-5385-9FF8-64ABCB391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734" y="1783534"/>
            <a:ext cx="5629894" cy="4448384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44865" y="569334"/>
            <a:ext cx="2546609" cy="7102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1;g2b4e50f20d3_0_888"/>
          <p:cNvSpPr txBox="1"/>
          <p:nvPr/>
        </p:nvSpPr>
        <p:spPr>
          <a:xfrm>
            <a:off x="355776" y="872953"/>
            <a:ext cx="4388069" cy="389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9) Completing the Statutory 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Details</a:t>
            </a:r>
            <a:endParaRPr lang="en-US" sz="1600">
              <a:solidFill>
                <a:schemeClr val="tx1"/>
              </a:solidFill>
              <a:latin typeface="Calibri"/>
              <a:cs typeface="Calibri"/>
            </a:endParaRPr>
          </a:p>
        </p:txBody>
      </p:sp>
      <p:cxnSp>
        <p:nvCxnSpPr>
          <p:cNvPr id="8" name="Google Shape;296;g2b4e50f20d3_0_888"/>
          <p:cNvCxnSpPr>
            <a:cxnSpLocks/>
            <a:stCxn id="11" idx="3"/>
            <a:endCxn id="27" idx="1"/>
          </p:cNvCxnSpPr>
          <p:nvPr/>
        </p:nvCxnSpPr>
        <p:spPr>
          <a:xfrm flipV="1">
            <a:off x="7744279" y="3473823"/>
            <a:ext cx="1368939" cy="4314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3561578" y="3762604"/>
            <a:ext cx="4182701" cy="285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7" name="Google Shape;295;g2b4e50f20d3_0_888"/>
          <p:cNvSpPr/>
          <p:nvPr/>
        </p:nvSpPr>
        <p:spPr>
          <a:xfrm>
            <a:off x="9113218" y="3274127"/>
            <a:ext cx="2356379" cy="39939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19- Insert EIS Value</a:t>
            </a:r>
          </a:p>
        </p:txBody>
      </p:sp>
      <p:cxnSp>
        <p:nvCxnSpPr>
          <p:cNvPr id="19" name="Google Shape;296;g2b4e50f20d3_0_888"/>
          <p:cNvCxnSpPr>
            <a:cxnSpLocks/>
            <a:stCxn id="20" idx="3"/>
            <a:endCxn id="22" idx="1"/>
          </p:cNvCxnSpPr>
          <p:nvPr/>
        </p:nvCxnSpPr>
        <p:spPr>
          <a:xfrm flipV="1">
            <a:off x="7781198" y="4490214"/>
            <a:ext cx="1332020" cy="26288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3598497" y="4610468"/>
            <a:ext cx="4182701" cy="2852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2" name="Google Shape;295;g2b4e50f20d3_0_888"/>
          <p:cNvSpPr/>
          <p:nvPr/>
        </p:nvSpPr>
        <p:spPr>
          <a:xfrm>
            <a:off x="9113218" y="4290519"/>
            <a:ext cx="2356379" cy="39939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20- Select Location</a:t>
            </a:r>
          </a:p>
        </p:txBody>
      </p:sp>
      <p:cxnSp>
        <p:nvCxnSpPr>
          <p:cNvPr id="25" name="Google Shape;296;g2b4e50f20d3_0_888"/>
          <p:cNvCxnSpPr>
            <a:cxnSpLocks/>
            <a:stCxn id="26" idx="1"/>
            <a:endCxn id="29" idx="3"/>
          </p:cNvCxnSpPr>
          <p:nvPr/>
        </p:nvCxnSpPr>
        <p:spPr>
          <a:xfrm flipH="1" flipV="1">
            <a:off x="2923586" y="5302781"/>
            <a:ext cx="1591919" cy="72415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4515505" y="5893797"/>
            <a:ext cx="798576" cy="2662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9" name="Google Shape;295;g2b4e50f20d3_0_888"/>
          <p:cNvSpPr/>
          <p:nvPr/>
        </p:nvSpPr>
        <p:spPr>
          <a:xfrm>
            <a:off x="567207" y="5091880"/>
            <a:ext cx="2356379" cy="42180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21- Once completed, click </a:t>
            </a:r>
            <a:r>
              <a:rPr lang="en-US" sz="1100" kern="0"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Save</a:t>
            </a:r>
            <a:r>
              <a:rPr lang="en-US" sz="1100" kern="0"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" name="Google Shape;282;g2b4e50f20d3_0_902"/>
          <p:cNvSpPr txBox="1"/>
          <p:nvPr/>
        </p:nvSpPr>
        <p:spPr>
          <a:xfrm>
            <a:off x="355776" y="544839"/>
            <a:ext cx="7861184" cy="41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</a:t>
            </a:r>
            <a:r>
              <a:rPr kumimoji="0" lang="en-MY" sz="1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On-Boarding Process- Adding Statutory Details (EIS)</a:t>
            </a:r>
            <a:endParaRPr kumimoji="0" lang="en-MY" sz="19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 animBg="1"/>
      <p:bldP spid="20" grpId="0" animBg="1"/>
      <p:bldP spid="22" grpId="0" animBg="1"/>
      <p:bldP spid="26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8D4087-04AE-B94E-0FA2-B69153F3B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155" y="1667194"/>
            <a:ext cx="5041305" cy="4476939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81223" y="553291"/>
            <a:ext cx="2450356" cy="6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70063" y="553540"/>
            <a:ext cx="7580448" cy="45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Process-Adding Employee Details (PCB)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54021" y="851477"/>
            <a:ext cx="2438953" cy="42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Libre Franklin"/>
              </a:rPr>
              <a:t>10) Repeat Steps</a:t>
            </a:r>
          </a:p>
        </p:txBody>
      </p:sp>
      <p:cxnSp>
        <p:nvCxnSpPr>
          <p:cNvPr id="7" name="Google Shape;296;g2b4e50f20d3_0_888"/>
          <p:cNvCxnSpPr>
            <a:cxnSpLocks/>
            <a:stCxn id="8" idx="3"/>
            <a:endCxn id="11" idx="1"/>
          </p:cNvCxnSpPr>
          <p:nvPr/>
        </p:nvCxnSpPr>
        <p:spPr>
          <a:xfrm flipV="1">
            <a:off x="7601691" y="3178573"/>
            <a:ext cx="1718586" cy="17957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3488973" y="3053901"/>
            <a:ext cx="4112718" cy="285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1" name="Google Shape;295;g2b4e50f20d3_0_888"/>
          <p:cNvSpPr/>
          <p:nvPr/>
        </p:nvSpPr>
        <p:spPr>
          <a:xfrm>
            <a:off x="9320277" y="3010106"/>
            <a:ext cx="2063244" cy="33693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22-</a:t>
            </a:r>
            <a:r>
              <a:rPr kumimoji="0" lang="en-US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PCB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" name="Google Shape;295;g2b4e50f20d3_0_888"/>
          <p:cNvSpPr/>
          <p:nvPr/>
        </p:nvSpPr>
        <p:spPr>
          <a:xfrm>
            <a:off x="480799" y="3193295"/>
            <a:ext cx="2187180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23- Select ‘Statutory Details’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1" name="Google Shape;296;g2b4e50f20d3_0_888"/>
          <p:cNvCxnSpPr>
            <a:cxnSpLocks/>
            <a:stCxn id="20" idx="2"/>
            <a:endCxn id="25" idx="1"/>
          </p:cNvCxnSpPr>
          <p:nvPr/>
        </p:nvCxnSpPr>
        <p:spPr>
          <a:xfrm flipH="1" flipV="1">
            <a:off x="1579964" y="3621149"/>
            <a:ext cx="1911456" cy="1365546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3488974" y="3857409"/>
            <a:ext cx="4112718" cy="2286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6" name="Google Shape;296;g2b4e50f20d3_0_888"/>
          <p:cNvCxnSpPr>
            <a:cxnSpLocks/>
            <a:stCxn id="22" idx="3"/>
            <a:endCxn id="27" idx="1"/>
          </p:cNvCxnSpPr>
          <p:nvPr/>
        </p:nvCxnSpPr>
        <p:spPr>
          <a:xfrm flipV="1">
            <a:off x="7441949" y="4746752"/>
            <a:ext cx="1878328" cy="24578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295;g2b4e50f20d3_0_888"/>
          <p:cNvSpPr/>
          <p:nvPr/>
        </p:nvSpPr>
        <p:spPr>
          <a:xfrm>
            <a:off x="9320277" y="4526582"/>
            <a:ext cx="2349640" cy="4403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for employee with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‘PCB’</a:t>
            </a: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  <a:p>
            <a:pPr>
              <a:buClr>
                <a:srgbClr val="000000"/>
              </a:buClr>
              <a:buFont typeface="Arial" panose="020B0604020202020204"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(exp: Permanent Staf)</a:t>
            </a:r>
            <a:endParaRPr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CAF936-EF90-4AC7-74FF-E62A80782A01}"/>
              </a:ext>
            </a:extLst>
          </p:cNvPr>
          <p:cNvSpPr/>
          <p:nvPr/>
        </p:nvSpPr>
        <p:spPr>
          <a:xfrm>
            <a:off x="4499572" y="4635682"/>
            <a:ext cx="2942377" cy="271296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20" grpId="0" animBg="1"/>
      <p:bldP spid="25" grpId="0" animBg="1"/>
      <p:bldP spid="27" grpId="0" animBg="1"/>
      <p:bldP spid="2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411956-EB67-5F9B-D3E9-13B996963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481" y="1800495"/>
            <a:ext cx="5298590" cy="4413564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44771" y="554485"/>
            <a:ext cx="2498482" cy="6541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1;g2b4e50f20d3_0_888"/>
          <p:cNvSpPr txBox="1"/>
          <p:nvPr/>
        </p:nvSpPr>
        <p:spPr>
          <a:xfrm>
            <a:off x="367487" y="825861"/>
            <a:ext cx="3545858" cy="40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11) Completing the PCB Details  </a:t>
            </a:r>
            <a:endParaRPr lang="en-US" sz="1600">
              <a:solidFill>
                <a:schemeClr val="tx1"/>
              </a:solidFill>
              <a:latin typeface="Calibri"/>
              <a:cs typeface="Calibri"/>
            </a:endParaRPr>
          </a:p>
        </p:txBody>
      </p:sp>
      <p:cxnSp>
        <p:nvCxnSpPr>
          <p:cNvPr id="8" name="Google Shape;296;g2b4e50f20d3_0_888"/>
          <p:cNvCxnSpPr>
            <a:cxnSpLocks/>
            <a:stCxn id="11" idx="3"/>
            <a:endCxn id="27" idx="1"/>
          </p:cNvCxnSpPr>
          <p:nvPr/>
        </p:nvCxnSpPr>
        <p:spPr>
          <a:xfrm flipV="1">
            <a:off x="7318197" y="3358439"/>
            <a:ext cx="1730432" cy="51390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3177765" y="3737417"/>
            <a:ext cx="4140432" cy="269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Google Shape;295;g2b4e50f20d3_0_888"/>
          <p:cNvSpPr/>
          <p:nvPr/>
        </p:nvSpPr>
        <p:spPr>
          <a:xfrm>
            <a:off x="9048629" y="3158744"/>
            <a:ext cx="2356379" cy="39939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24- Insert PCB </a:t>
            </a:r>
            <a:r>
              <a:rPr lang="en-US" sz="11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9" name="Google Shape;296;g2b4e50f20d3_0_888"/>
          <p:cNvCxnSpPr>
            <a:cxnSpLocks/>
            <a:stCxn id="20" idx="3"/>
            <a:endCxn id="22" idx="1"/>
          </p:cNvCxnSpPr>
          <p:nvPr/>
        </p:nvCxnSpPr>
        <p:spPr>
          <a:xfrm flipV="1">
            <a:off x="7318198" y="4348639"/>
            <a:ext cx="1730430" cy="37000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3177766" y="4548334"/>
            <a:ext cx="4140432" cy="3406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Google Shape;295;g2b4e50f20d3_0_888"/>
          <p:cNvSpPr/>
          <p:nvPr/>
        </p:nvSpPr>
        <p:spPr>
          <a:xfrm>
            <a:off x="9048628" y="4148944"/>
            <a:ext cx="2356379" cy="39939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25- Select Location</a:t>
            </a:r>
          </a:p>
        </p:txBody>
      </p:sp>
      <p:cxnSp>
        <p:nvCxnSpPr>
          <p:cNvPr id="25" name="Google Shape;296;g2b4e50f20d3_0_888"/>
          <p:cNvCxnSpPr>
            <a:cxnSpLocks/>
            <a:stCxn id="26" idx="3"/>
            <a:endCxn id="29" idx="1"/>
          </p:cNvCxnSpPr>
          <p:nvPr/>
        </p:nvCxnSpPr>
        <p:spPr>
          <a:xfrm flipV="1">
            <a:off x="4861711" y="5366323"/>
            <a:ext cx="4186918" cy="5832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4110272" y="5767007"/>
            <a:ext cx="751439" cy="3651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Google Shape;295;g2b4e50f20d3_0_888"/>
          <p:cNvSpPr/>
          <p:nvPr/>
        </p:nvSpPr>
        <p:spPr>
          <a:xfrm>
            <a:off x="9048629" y="5183760"/>
            <a:ext cx="2489703" cy="36512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26- Click</a:t>
            </a:r>
            <a:r>
              <a:rPr kumimoji="0" lang="en-US" sz="11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Save</a:t>
            </a: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 once done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" name="Google Shape;282;g2b4e50f20d3_0_902"/>
          <p:cNvSpPr txBox="1"/>
          <p:nvPr/>
        </p:nvSpPr>
        <p:spPr>
          <a:xfrm>
            <a:off x="367487" y="543715"/>
            <a:ext cx="76767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Process-Adding Employee Details (PCB)</a:t>
            </a: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 animBg="1"/>
      <p:bldP spid="20" grpId="0" animBg="1"/>
      <p:bldP spid="22" grpId="0" animBg="1"/>
      <p:bldP spid="26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5650959B-BB05-5902-7F07-137871C40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C7FA9F-F328-FD0E-0A96-6088D643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70" y="1377863"/>
            <a:ext cx="6449882" cy="5156548"/>
          </a:xfrm>
          <a:prstGeom prst="rect">
            <a:avLst/>
          </a:prstGeom>
        </p:spPr>
      </p:pic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51CA78F0-2381-DB36-BF14-38259DECFF08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81223" y="553291"/>
            <a:ext cx="2450356" cy="6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5DBE6E63-DAA5-04BC-E956-C33E27F20897}"/>
              </a:ext>
            </a:extLst>
          </p:cNvPr>
          <p:cNvSpPr txBox="1"/>
          <p:nvPr/>
        </p:nvSpPr>
        <p:spPr>
          <a:xfrm>
            <a:off x="370063" y="553540"/>
            <a:ext cx="7580448" cy="45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Process-Adding Employee Details (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NEISS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)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>
            <a:extLst>
              <a:ext uri="{FF2B5EF4-FFF2-40B4-BE49-F238E27FC236}">
                <a16:creationId xmlns:a16="http://schemas.microsoft.com/office/drawing/2014/main" id="{E7F4FDDD-6AAF-1995-8555-20B4617DE7C4}"/>
              </a:ext>
            </a:extLst>
          </p:cNvPr>
          <p:cNvSpPr txBox="1"/>
          <p:nvPr/>
        </p:nvSpPr>
        <p:spPr>
          <a:xfrm>
            <a:off x="354021" y="851477"/>
            <a:ext cx="2438953" cy="42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lang="en-US" sz="1600" kern="0">
                <a:solidFill>
                  <a:schemeClr val="tx1"/>
                </a:solidFill>
                <a:latin typeface="Calibri"/>
                <a:cs typeface="Calibri"/>
              </a:rPr>
              <a:t>12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) Repeat Steps</a:t>
            </a:r>
          </a:p>
        </p:txBody>
      </p:sp>
      <p:cxnSp>
        <p:nvCxnSpPr>
          <p:cNvPr id="7" name="Google Shape;296;g2b4e50f20d3_0_888">
            <a:extLst>
              <a:ext uri="{FF2B5EF4-FFF2-40B4-BE49-F238E27FC236}">
                <a16:creationId xmlns:a16="http://schemas.microsoft.com/office/drawing/2014/main" id="{5334F554-A96A-8A32-CCD1-25748F24DC48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8342814" y="3178573"/>
            <a:ext cx="977463" cy="419835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1BB8EA3-97EB-D6CD-23F5-433B94695F2F}"/>
              </a:ext>
            </a:extLst>
          </p:cNvPr>
          <p:cNvSpPr/>
          <p:nvPr/>
        </p:nvSpPr>
        <p:spPr>
          <a:xfrm>
            <a:off x="3551603" y="3429684"/>
            <a:ext cx="4791211" cy="3374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1" name="Google Shape;295;g2b4e50f20d3_0_888">
            <a:extLst>
              <a:ext uri="{FF2B5EF4-FFF2-40B4-BE49-F238E27FC236}">
                <a16:creationId xmlns:a16="http://schemas.microsoft.com/office/drawing/2014/main" id="{32B065FA-E9DF-EF48-E17F-6E6F00F38B1C}"/>
              </a:ext>
            </a:extLst>
          </p:cNvPr>
          <p:cNvSpPr/>
          <p:nvPr/>
        </p:nvSpPr>
        <p:spPr>
          <a:xfrm>
            <a:off x="9320277" y="3010106"/>
            <a:ext cx="2063244" cy="33693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27-</a:t>
            </a:r>
            <a:r>
              <a:rPr kumimoji="0" lang="en-US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‘NEISS’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" name="Google Shape;295;g2b4e50f20d3_0_888">
            <a:extLst>
              <a:ext uri="{FF2B5EF4-FFF2-40B4-BE49-F238E27FC236}">
                <a16:creationId xmlns:a16="http://schemas.microsoft.com/office/drawing/2014/main" id="{6D38874F-8690-4CDE-9C4A-88A170D5419A}"/>
              </a:ext>
            </a:extLst>
          </p:cNvPr>
          <p:cNvSpPr/>
          <p:nvPr/>
        </p:nvSpPr>
        <p:spPr>
          <a:xfrm>
            <a:off x="365977" y="4090994"/>
            <a:ext cx="2187180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28-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Select ‘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NEISS Details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1" name="Google Shape;296;g2b4e50f20d3_0_888">
            <a:extLst>
              <a:ext uri="{FF2B5EF4-FFF2-40B4-BE49-F238E27FC236}">
                <a16:creationId xmlns:a16="http://schemas.microsoft.com/office/drawing/2014/main" id="{01F8EB72-A37A-3573-0F4F-D5D10816E5A8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 flipH="1" flipV="1">
            <a:off x="2559961" y="4322275"/>
            <a:ext cx="997714" cy="722876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7E4D445-4B1A-51EE-1B01-3F045F8E1DE5}"/>
              </a:ext>
            </a:extLst>
          </p:cNvPr>
          <p:cNvSpPr/>
          <p:nvPr/>
        </p:nvSpPr>
        <p:spPr>
          <a:xfrm>
            <a:off x="3551605" y="4295818"/>
            <a:ext cx="4832963" cy="14725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6" name="Google Shape;296;g2b4e50f20d3_0_888">
            <a:extLst>
              <a:ext uri="{FF2B5EF4-FFF2-40B4-BE49-F238E27FC236}">
                <a16:creationId xmlns:a16="http://schemas.microsoft.com/office/drawing/2014/main" id="{4C93F35C-E41E-9297-864C-BB12CC18DF62}"/>
              </a:ext>
            </a:extLst>
          </p:cNvPr>
          <p:cNvCxnSpPr>
            <a:cxnSpLocks/>
            <a:stCxn id="22" idx="3"/>
            <a:endCxn id="27" idx="1"/>
          </p:cNvCxnSpPr>
          <p:nvPr/>
        </p:nvCxnSpPr>
        <p:spPr>
          <a:xfrm flipV="1">
            <a:off x="8339647" y="5320860"/>
            <a:ext cx="1032820" cy="55894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Google Shape;295;g2b4e50f20d3_0_888">
            <a:extLst>
              <a:ext uri="{FF2B5EF4-FFF2-40B4-BE49-F238E27FC236}">
                <a16:creationId xmlns:a16="http://schemas.microsoft.com/office/drawing/2014/main" id="{2BD916B8-29F8-0CB6-64BE-D04B0DB89494}"/>
              </a:ext>
            </a:extLst>
          </p:cNvPr>
          <p:cNvSpPr/>
          <p:nvPr/>
        </p:nvSpPr>
        <p:spPr>
          <a:xfrm>
            <a:off x="9372467" y="4432637"/>
            <a:ext cx="2276573" cy="177644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for employee with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‘C1’</a:t>
            </a: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  <a:p>
            <a:pPr>
              <a:buClr>
                <a:srgbClr val="000000"/>
              </a:buClr>
              <a:buFont typeface="Arial" panose="020B0604020202020204"/>
              <a:defRPr/>
            </a:pPr>
            <a:r>
              <a:rPr kumimoji="0" lang="en-MY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100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Employment Injury and invalidity schemes</a:t>
            </a:r>
            <a:r>
              <a:rPr lang="en-MY" sz="1100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</a:t>
            </a:r>
          </a:p>
          <a:p>
            <a:pPr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</a:rPr>
              <a:t>Select for employee with ‘C2’</a:t>
            </a:r>
            <a:endParaRPr lang="en-US" sz="1100" kern="0">
              <a:solidFill>
                <a:srgbClr val="000000"/>
              </a:solidFill>
              <a:latin typeface="Libre Franklin"/>
              <a:ea typeface="Libre Franklin"/>
              <a:cs typeface="Libre Franklin"/>
            </a:endParaRPr>
          </a:p>
          <a:p>
            <a:pPr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</a:rPr>
              <a:t>(Employment Injury schemes only)</a:t>
            </a:r>
            <a:endParaRPr lang="en-US" sz="1100" kern="0">
              <a:solidFill>
                <a:srgbClr val="000000"/>
              </a:solidFill>
              <a:latin typeface="Libre Franklin"/>
              <a:ea typeface="Libre Franklin"/>
              <a:cs typeface="Libre Franklin"/>
            </a:endParaRPr>
          </a:p>
          <a:p>
            <a:pPr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</a:rPr>
              <a:t>Select for employee with ‘NA’</a:t>
            </a:r>
            <a:endParaRPr lang="en-US" sz="1100" kern="0">
              <a:solidFill>
                <a:srgbClr val="000000"/>
              </a:solidFill>
              <a:latin typeface="Libre Franklin"/>
              <a:ea typeface="Libre Franklin"/>
              <a:cs typeface="Libre Franklin"/>
            </a:endParaRPr>
          </a:p>
          <a:p>
            <a:pPr>
              <a:defRPr/>
            </a:pPr>
            <a:r>
              <a:rPr lang="en-MY" sz="1100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</a:rPr>
              <a:t>(Exempt from NEISS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</a:rPr>
              <a:t>contributions)</a:t>
            </a:r>
            <a:endParaRPr lang="en-US" sz="1100" kern="0">
              <a:solidFill>
                <a:srgbClr val="000000"/>
              </a:solidFill>
              <a:latin typeface="Libre Franklin"/>
              <a:ea typeface="Libre Franklin"/>
              <a:cs typeface="Libre Franklin"/>
            </a:endParaRPr>
          </a:p>
          <a:p>
            <a:pPr>
              <a:buFont typeface="Arial" panose="020B0604020202020204"/>
              <a:defRPr/>
            </a:pPr>
            <a:endParaRPr lang="en-MY" sz="1100" kern="0" dirty="0">
              <a:solidFill>
                <a:srgbClr val="000000"/>
              </a:solidFill>
              <a:latin typeface="Libre Franklin"/>
              <a:ea typeface="Libre Franklin"/>
              <a:cs typeface="Libre Franklin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75389E-773E-32C6-9FA7-2AED1724A992}"/>
              </a:ext>
            </a:extLst>
          </p:cNvPr>
          <p:cNvSpPr/>
          <p:nvPr/>
        </p:nvSpPr>
        <p:spPr>
          <a:xfrm>
            <a:off x="4551763" y="5063653"/>
            <a:ext cx="3787884" cy="62620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7548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20" grpId="0" animBg="1"/>
      <p:bldP spid="25" grpId="0" animBg="1"/>
      <p:bldP spid="27" grpId="0" animBg="1"/>
      <p:bldP spid="2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ED70D8C8-2D64-226A-7138-539BBCD9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F7F245-451E-0371-CB89-DCFC58DD1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473" y="1717240"/>
            <a:ext cx="6132535" cy="4603054"/>
          </a:xfrm>
          <a:prstGeom prst="rect">
            <a:avLst/>
          </a:prstGeom>
        </p:spPr>
      </p:pic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F8018C49-7608-7942-9014-619F7C27D7C5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44771" y="554485"/>
            <a:ext cx="2498482" cy="6541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1;g2b4e50f20d3_0_888">
            <a:extLst>
              <a:ext uri="{FF2B5EF4-FFF2-40B4-BE49-F238E27FC236}">
                <a16:creationId xmlns:a16="http://schemas.microsoft.com/office/drawing/2014/main" id="{9BF934CA-C009-FD06-B84F-AF57F9D86A47}"/>
              </a:ext>
            </a:extLst>
          </p:cNvPr>
          <p:cNvSpPr txBox="1"/>
          <p:nvPr/>
        </p:nvSpPr>
        <p:spPr>
          <a:xfrm>
            <a:off x="367487" y="825861"/>
            <a:ext cx="3545858" cy="40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080"/>
              </a:spcBef>
              <a:buClr>
                <a:srgbClr val="1CADE4"/>
              </a:buClr>
              <a:buNone/>
              <a:defRPr/>
            </a:pPr>
            <a:r>
              <a:rPr lang="en-US" sz="1600">
                <a:solidFill>
                  <a:schemeClr val="tx1"/>
                </a:solidFill>
                <a:latin typeface="Calibri"/>
                <a:cs typeface="Calibri"/>
              </a:rPr>
              <a:t>13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) Completing the </a:t>
            </a:r>
            <a:r>
              <a:rPr lang="en-US" sz="1600">
                <a:solidFill>
                  <a:schemeClr val="tx1"/>
                </a:solidFill>
                <a:latin typeface="Calibri"/>
                <a:cs typeface="Calibri"/>
              </a:rPr>
              <a:t>NEISS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Details  </a:t>
            </a:r>
            <a:endParaRPr lang="en-US" sz="1600">
              <a:solidFill>
                <a:schemeClr val="tx1"/>
              </a:solidFill>
              <a:latin typeface="Calibri"/>
              <a:cs typeface="Calibri"/>
            </a:endParaRPr>
          </a:p>
        </p:txBody>
      </p:sp>
      <p:cxnSp>
        <p:nvCxnSpPr>
          <p:cNvPr id="8" name="Google Shape;296;g2b4e50f20d3_0_888">
            <a:extLst>
              <a:ext uri="{FF2B5EF4-FFF2-40B4-BE49-F238E27FC236}">
                <a16:creationId xmlns:a16="http://schemas.microsoft.com/office/drawing/2014/main" id="{D52381B7-5399-01CB-D4BB-A11F28C2DA79}"/>
              </a:ext>
            </a:extLst>
          </p:cNvPr>
          <p:cNvCxnSpPr>
            <a:cxnSpLocks/>
            <a:stCxn id="11" idx="3"/>
            <a:endCxn id="27" idx="1"/>
          </p:cNvCxnSpPr>
          <p:nvPr/>
        </p:nvCxnSpPr>
        <p:spPr>
          <a:xfrm flipV="1">
            <a:off x="8038444" y="3358439"/>
            <a:ext cx="1010185" cy="3938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68B9F-AE88-024D-65C8-19A123108518}"/>
              </a:ext>
            </a:extLst>
          </p:cNvPr>
          <p:cNvSpPr/>
          <p:nvPr/>
        </p:nvSpPr>
        <p:spPr>
          <a:xfrm>
            <a:off x="3042067" y="3601718"/>
            <a:ext cx="4996377" cy="301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Google Shape;295;g2b4e50f20d3_0_888">
            <a:extLst>
              <a:ext uri="{FF2B5EF4-FFF2-40B4-BE49-F238E27FC236}">
                <a16:creationId xmlns:a16="http://schemas.microsoft.com/office/drawing/2014/main" id="{22F92A18-3652-CEDA-45C9-E9EE957EFFCF}"/>
              </a:ext>
            </a:extLst>
          </p:cNvPr>
          <p:cNvSpPr/>
          <p:nvPr/>
        </p:nvSpPr>
        <p:spPr>
          <a:xfrm>
            <a:off x="9048629" y="3158744"/>
            <a:ext cx="2356379" cy="39939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29-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Insert </a:t>
            </a: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NEISS No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9" name="Google Shape;296;g2b4e50f20d3_0_888">
            <a:extLst>
              <a:ext uri="{FF2B5EF4-FFF2-40B4-BE49-F238E27FC236}">
                <a16:creationId xmlns:a16="http://schemas.microsoft.com/office/drawing/2014/main" id="{DAC4757C-8389-701E-8BB5-1031047731F1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7986253" y="4348639"/>
            <a:ext cx="1062375" cy="2499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722F99A-7381-7475-0304-7FA10D236B82}"/>
              </a:ext>
            </a:extLst>
          </p:cNvPr>
          <p:cNvSpPr/>
          <p:nvPr/>
        </p:nvSpPr>
        <p:spPr>
          <a:xfrm>
            <a:off x="3052506" y="4433511"/>
            <a:ext cx="4933747" cy="330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Google Shape;295;g2b4e50f20d3_0_888">
            <a:extLst>
              <a:ext uri="{FF2B5EF4-FFF2-40B4-BE49-F238E27FC236}">
                <a16:creationId xmlns:a16="http://schemas.microsoft.com/office/drawing/2014/main" id="{4A688667-CC04-19C0-9BDF-7AD7B0DD8C79}"/>
              </a:ext>
            </a:extLst>
          </p:cNvPr>
          <p:cNvSpPr/>
          <p:nvPr/>
        </p:nvSpPr>
        <p:spPr>
          <a:xfrm>
            <a:off x="9048628" y="4148944"/>
            <a:ext cx="2356379" cy="39939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30-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Select Location</a:t>
            </a:r>
          </a:p>
        </p:txBody>
      </p:sp>
      <p:cxnSp>
        <p:nvCxnSpPr>
          <p:cNvPr id="25" name="Google Shape;296;g2b4e50f20d3_0_888">
            <a:extLst>
              <a:ext uri="{FF2B5EF4-FFF2-40B4-BE49-F238E27FC236}">
                <a16:creationId xmlns:a16="http://schemas.microsoft.com/office/drawing/2014/main" id="{FB5E822E-FFBC-5247-D335-1EEF808C58B0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 flipV="1">
            <a:off x="3212451" y="5366323"/>
            <a:ext cx="5836178" cy="39535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1B40A0B-1727-BDE3-CB62-B99D9D2ACF2F}"/>
              </a:ext>
            </a:extLst>
          </p:cNvPr>
          <p:cNvSpPr/>
          <p:nvPr/>
        </p:nvSpPr>
        <p:spPr>
          <a:xfrm>
            <a:off x="2461012" y="5579117"/>
            <a:ext cx="751439" cy="3651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Google Shape;295;g2b4e50f20d3_0_888">
            <a:extLst>
              <a:ext uri="{FF2B5EF4-FFF2-40B4-BE49-F238E27FC236}">
                <a16:creationId xmlns:a16="http://schemas.microsoft.com/office/drawing/2014/main" id="{1DF83C5F-03D4-37FB-BFD7-C4B1DBAE5FBF}"/>
              </a:ext>
            </a:extLst>
          </p:cNvPr>
          <p:cNvSpPr/>
          <p:nvPr/>
        </p:nvSpPr>
        <p:spPr>
          <a:xfrm>
            <a:off x="9048629" y="5183760"/>
            <a:ext cx="2489703" cy="36512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31-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Click</a:t>
            </a:r>
            <a:r>
              <a:rPr kumimoji="0" lang="en-US" sz="11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Save</a:t>
            </a: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 once done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A6BF5825-06DD-E2F0-0898-4DB7E37A728C}"/>
              </a:ext>
            </a:extLst>
          </p:cNvPr>
          <p:cNvSpPr txBox="1"/>
          <p:nvPr/>
        </p:nvSpPr>
        <p:spPr>
          <a:xfrm>
            <a:off x="367487" y="543715"/>
            <a:ext cx="76767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Process-Adding Employee Details (</a:t>
            </a:r>
            <a:r>
              <a:rPr lang="en-MY" sz="1800" b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NEISS</a:t>
            </a: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)</a:t>
            </a: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2617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7" grpId="0" animBg="1"/>
      <p:bldP spid="20" grpId="0" animBg="1"/>
      <p:bldP spid="22" grpId="0" animBg="1"/>
      <p:bldP spid="26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F6797D-D8C2-47EE-63D0-85E20864D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330" y="1827676"/>
            <a:ext cx="5628628" cy="4504099"/>
          </a:xfrm>
          <a:prstGeom prst="rect">
            <a:avLst/>
          </a:prstGeom>
        </p:spPr>
      </p:pic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47375" y="861663"/>
            <a:ext cx="6052688" cy="39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>
                <a:solidFill>
                  <a:schemeClr val="tx1"/>
                </a:solidFill>
                <a:latin typeface="Calibri"/>
                <a:cs typeface="Calibri"/>
              </a:rPr>
              <a:t>14) Message will prompt upon saving - Click ‘Yes’ , then click ‘Back’</a:t>
            </a:r>
            <a:endParaRPr lang="en-MY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295;g2b4e50f20d3_0_888"/>
          <p:cNvSpPr/>
          <p:nvPr/>
        </p:nvSpPr>
        <p:spPr>
          <a:xfrm>
            <a:off x="8782326" y="4545151"/>
            <a:ext cx="2332688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32-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Click 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Back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 once done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3" name="Google Shape;296;g2b4e50f20d3_0_888"/>
          <p:cNvCxnSpPr>
            <a:cxnSpLocks/>
            <a:stCxn id="14" idx="3"/>
            <a:endCxn id="12" idx="1"/>
          </p:cNvCxnSpPr>
          <p:nvPr/>
        </p:nvCxnSpPr>
        <p:spPr>
          <a:xfrm flipV="1">
            <a:off x="6808206" y="4756051"/>
            <a:ext cx="1974120" cy="133949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5958954" y="5926095"/>
            <a:ext cx="849252" cy="338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" name="Google Shape;282;g2b4e50f20d3_0_902"/>
          <p:cNvSpPr txBox="1"/>
          <p:nvPr/>
        </p:nvSpPr>
        <p:spPr>
          <a:xfrm>
            <a:off x="355313" y="545377"/>
            <a:ext cx="7687813" cy="40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20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</a:t>
            </a:r>
            <a:r>
              <a:rPr kumimoji="0" lang="en-MY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Adding Statutory 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Details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pic>
        <p:nvPicPr>
          <p:cNvPr id="16" name="Google Shape;292;g2b4e50f20d3_0_888">
            <a:extLst>
              <a:ext uri="{FF2B5EF4-FFF2-40B4-BE49-F238E27FC236}">
                <a16:creationId xmlns:a16="http://schemas.microsoft.com/office/drawing/2014/main" id="{23E11F42-2869-A127-BCB9-6CC86BA688A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20435" y="563109"/>
            <a:ext cx="2486033" cy="694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D0977-1A53-8AE9-A315-D2AE1E593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432" y="2306602"/>
            <a:ext cx="8781762" cy="3379761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16192" y="559096"/>
            <a:ext cx="2414595" cy="68694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39438" y="850948"/>
            <a:ext cx="8465688" cy="39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1) Main Portal &gt; Access ‘Employee Management’ &gt; Access ‘Salary’ &gt; Access ‘Multi-Bank Payment’ </a:t>
            </a:r>
            <a:endParaRPr lang="en-US" sz="16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93" name="Google Shape;293;g2b4e50f20d3_0_888"/>
          <p:cNvSpPr/>
          <p:nvPr/>
        </p:nvSpPr>
        <p:spPr>
          <a:xfrm>
            <a:off x="225806" y="2861326"/>
            <a:ext cx="2651024" cy="31745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1-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 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Access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 ‘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Employee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 Management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294" name="Google Shape;294;g2b4e50f20d3_0_888"/>
          <p:cNvCxnSpPr>
            <a:cxnSpLocks/>
            <a:stCxn id="15" idx="1"/>
            <a:endCxn id="293" idx="3"/>
          </p:cNvCxnSpPr>
          <p:nvPr/>
        </p:nvCxnSpPr>
        <p:spPr>
          <a:xfrm flipH="1" flipV="1">
            <a:off x="2876830" y="3020053"/>
            <a:ext cx="306984" cy="107135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47376" y="549825"/>
            <a:ext cx="8227562" cy="40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Calibri"/>
                <a:cs typeface="Calibri"/>
                <a:sym typeface="Libre Franklin"/>
              </a:rPr>
              <a:t>Employee On-Boarding 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Calibri"/>
                <a:cs typeface="Calibri"/>
                <a:sym typeface="Libre Franklin"/>
              </a:rPr>
              <a:t>Process - Adding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Calibri"/>
                <a:cs typeface="Calibri"/>
                <a:sym typeface="Libre Franklin"/>
              </a:rPr>
              <a:t> Employee Details (Bank Details)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ea typeface="Calibri"/>
              <a:cs typeface="Calibri"/>
              <a:sym typeface="Franklin Gothic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282299" y="4035754"/>
            <a:ext cx="2129400" cy="31745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2- Access ‘Salary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  <a:stCxn id="16" idx="1"/>
            <a:endCxn id="7" idx="3"/>
          </p:cNvCxnSpPr>
          <p:nvPr/>
        </p:nvCxnSpPr>
        <p:spPr>
          <a:xfrm flipH="1" flipV="1">
            <a:off x="2411699" y="4194481"/>
            <a:ext cx="772732" cy="41590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95;g2b4e50f20d3_0_888"/>
          <p:cNvSpPr/>
          <p:nvPr/>
        </p:nvSpPr>
        <p:spPr>
          <a:xfrm>
            <a:off x="225806" y="5368910"/>
            <a:ext cx="2451765" cy="31745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3-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 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Access ‘Multi-Bank Payment’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  <a:stCxn id="17" idx="1"/>
            <a:endCxn id="11" idx="3"/>
          </p:cNvCxnSpPr>
          <p:nvPr/>
        </p:nvCxnSpPr>
        <p:spPr>
          <a:xfrm flipH="1">
            <a:off x="2677571" y="5313184"/>
            <a:ext cx="506243" cy="2144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3183814" y="3982192"/>
            <a:ext cx="1546699" cy="218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84431" y="4491425"/>
            <a:ext cx="1546699" cy="237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83814" y="5203964"/>
            <a:ext cx="1546699" cy="218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7" grpId="0" animBg="1"/>
      <p:bldP spid="11" grpId="0" animBg="1"/>
      <p:bldP spid="15" grpId="0" animBg="1"/>
      <p:bldP spid="16" grpId="0" animBg="1"/>
      <p:bldP spid="1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2b4e50f20d3_0_88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50786" y="553326"/>
            <a:ext cx="2374908" cy="639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766B01-118A-B335-2C91-E503A90C7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251" y="2577324"/>
            <a:ext cx="8380491" cy="3317968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5313" y="834920"/>
            <a:ext cx="4385813" cy="40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2) Adding Employee Bank Details</a:t>
            </a:r>
            <a:endParaRPr lang="en-US" sz="16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4" name="Google Shape;282;g2b4e50f20d3_0_902"/>
          <p:cNvSpPr txBox="1"/>
          <p:nvPr/>
        </p:nvSpPr>
        <p:spPr>
          <a:xfrm>
            <a:off x="363250" y="539262"/>
            <a:ext cx="8235500" cy="41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Adding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Details (Bank Details)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48459" y="3015822"/>
            <a:ext cx="1876906" cy="357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3" name="Google Shape;293;g2b4e50f20d3_0_888"/>
          <p:cNvSpPr/>
          <p:nvPr/>
        </p:nvSpPr>
        <p:spPr>
          <a:xfrm>
            <a:off x="8120958" y="1674001"/>
            <a:ext cx="2716040" cy="40583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4- Click ‘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Create Multi Bank Payment’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14" name="Google Shape;294;g2b4e50f20d3_0_888"/>
          <p:cNvCxnSpPr>
            <a:cxnSpLocks/>
            <a:stCxn id="10" idx="0"/>
            <a:endCxn id="13" idx="2"/>
          </p:cNvCxnSpPr>
          <p:nvPr/>
        </p:nvCxnSpPr>
        <p:spPr>
          <a:xfrm flipH="1" flipV="1">
            <a:off x="9478978" y="2079833"/>
            <a:ext cx="7934" cy="9359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801568-BFB0-98C3-5B15-BA1F50BAD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571" y="1701587"/>
            <a:ext cx="6422784" cy="4185860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76181" y="547889"/>
            <a:ext cx="2454283" cy="62344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47375" y="825854"/>
            <a:ext cx="3536501" cy="42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3) Adding Employee Bank Details</a:t>
            </a:r>
          </a:p>
        </p:txBody>
      </p:sp>
      <p:sp>
        <p:nvSpPr>
          <p:cNvPr id="293" name="Google Shape;293;g2b4e50f20d3_0_888"/>
          <p:cNvSpPr/>
          <p:nvPr/>
        </p:nvSpPr>
        <p:spPr>
          <a:xfrm>
            <a:off x="8799125" y="2434763"/>
            <a:ext cx="2440083" cy="37528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5-</a:t>
            </a:r>
            <a:r>
              <a:rPr kumimoji="0" lang="en-US" sz="13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 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Search for Employee Profile</a:t>
            </a:r>
          </a:p>
        </p:txBody>
      </p:sp>
      <p:cxnSp>
        <p:nvCxnSpPr>
          <p:cNvPr id="294" name="Google Shape;294;g2b4e50f20d3_0_888"/>
          <p:cNvCxnSpPr>
            <a:cxnSpLocks/>
            <a:stCxn id="15" idx="3"/>
            <a:endCxn id="293" idx="1"/>
          </p:cNvCxnSpPr>
          <p:nvPr/>
        </p:nvCxnSpPr>
        <p:spPr>
          <a:xfrm flipV="1">
            <a:off x="7012613" y="2622406"/>
            <a:ext cx="1786512" cy="15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55313" y="532015"/>
            <a:ext cx="8283125" cy="43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Adding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Details (Bank Details)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63366" y="2480675"/>
            <a:ext cx="4749247" cy="2866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2" name="Google Shape;293;g2b4e50f20d3_0_888"/>
          <p:cNvSpPr/>
          <p:nvPr/>
        </p:nvSpPr>
        <p:spPr>
          <a:xfrm>
            <a:off x="8793465" y="4221217"/>
            <a:ext cx="2443412" cy="35692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6- Select Bank Profile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263366" y="2931671"/>
            <a:ext cx="4749247" cy="28172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14" name="Google Shape;294;g2b4e50f20d3_0_888"/>
          <p:cNvCxnSpPr>
            <a:cxnSpLocks/>
            <a:stCxn id="22" idx="3"/>
            <a:endCxn id="12" idx="1"/>
          </p:cNvCxnSpPr>
          <p:nvPr/>
        </p:nvCxnSpPr>
        <p:spPr>
          <a:xfrm>
            <a:off x="7012613" y="4340311"/>
            <a:ext cx="1780852" cy="5936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15" grpId="0" animBg="1"/>
      <p:bldP spid="12" grpId="0" animBg="1"/>
      <p:bldP spid="2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48510C3-F4A3-9C69-8119-68C5F573A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852" y="1616223"/>
            <a:ext cx="5465280" cy="4521974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10717" y="550317"/>
            <a:ext cx="2422533" cy="67106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43976" y="558255"/>
            <a:ext cx="8235500" cy="41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Adding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Details (Bank Details)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28101" y="843738"/>
            <a:ext cx="4750938" cy="39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3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) </a:t>
            </a:r>
            <a:r>
              <a:rPr kumimoji="0" lang="en-US" sz="1600" b="0" i="0" u="none" strike="noStrike" kern="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Cont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-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Complete 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mployee Bank 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etails</a:t>
            </a:r>
            <a:endParaRPr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4" name="Google Shape;293;g2b4e50f20d3_0_888"/>
          <p:cNvSpPr/>
          <p:nvPr/>
        </p:nvSpPr>
        <p:spPr>
          <a:xfrm>
            <a:off x="9297167" y="2596913"/>
            <a:ext cx="2129400" cy="3559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300" kern="0">
                <a:solidFill>
                  <a:srgbClr val="000000"/>
                </a:solidFill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7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- Insert Bank Account</a:t>
            </a:r>
            <a:r>
              <a:rPr kumimoji="0" lang="en-US" sz="13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 </a:t>
            </a:r>
            <a:r>
              <a:rPr lang="en-US" sz="1300" kern="0">
                <a:solidFill>
                  <a:srgbClr val="000000"/>
                </a:solidFill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N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o</a:t>
            </a:r>
          </a:p>
        </p:txBody>
      </p:sp>
      <p:cxnSp>
        <p:nvCxnSpPr>
          <p:cNvPr id="45" name="Google Shape;294;g2b4e50f20d3_0_888"/>
          <p:cNvCxnSpPr>
            <a:cxnSpLocks/>
            <a:stCxn id="46" idx="3"/>
            <a:endCxn id="44" idx="1"/>
          </p:cNvCxnSpPr>
          <p:nvPr/>
        </p:nvCxnSpPr>
        <p:spPr>
          <a:xfrm flipV="1">
            <a:off x="7251423" y="2774906"/>
            <a:ext cx="2045744" cy="50969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" name="Rectangle 45"/>
          <p:cNvSpPr/>
          <p:nvPr/>
        </p:nvSpPr>
        <p:spPr>
          <a:xfrm>
            <a:off x="2516860" y="3130883"/>
            <a:ext cx="4734563" cy="307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47" name="Google Shape;293;g2b4e50f20d3_0_888"/>
          <p:cNvSpPr/>
          <p:nvPr/>
        </p:nvSpPr>
        <p:spPr>
          <a:xfrm>
            <a:off x="9297167" y="3586339"/>
            <a:ext cx="2129400" cy="3559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300" kern="0">
                <a:solidFill>
                  <a:srgbClr val="000000"/>
                </a:solidFill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8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- Set as default</a:t>
            </a:r>
          </a:p>
        </p:txBody>
      </p:sp>
      <p:cxnSp>
        <p:nvCxnSpPr>
          <p:cNvPr id="48" name="Google Shape;294;g2b4e50f20d3_0_888"/>
          <p:cNvCxnSpPr>
            <a:cxnSpLocks/>
            <a:stCxn id="49" idx="3"/>
            <a:endCxn id="47" idx="1"/>
          </p:cNvCxnSpPr>
          <p:nvPr/>
        </p:nvCxnSpPr>
        <p:spPr>
          <a:xfrm>
            <a:off x="7251424" y="3728211"/>
            <a:ext cx="2045743" cy="3612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" name="Rectangle 48"/>
          <p:cNvSpPr/>
          <p:nvPr/>
        </p:nvSpPr>
        <p:spPr>
          <a:xfrm>
            <a:off x="2516861" y="3586339"/>
            <a:ext cx="4734563" cy="283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52" name="Google Shape;294;g2b4e50f20d3_0_888"/>
          <p:cNvCxnSpPr>
            <a:cxnSpLocks/>
            <a:stCxn id="53" idx="3"/>
            <a:endCxn id="47" idx="1"/>
          </p:cNvCxnSpPr>
          <p:nvPr/>
        </p:nvCxnSpPr>
        <p:spPr>
          <a:xfrm flipV="1">
            <a:off x="7251426" y="3764332"/>
            <a:ext cx="2045741" cy="40901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" name="Rectangle 52"/>
          <p:cNvSpPr/>
          <p:nvPr/>
        </p:nvSpPr>
        <p:spPr>
          <a:xfrm>
            <a:off x="2516864" y="4031472"/>
            <a:ext cx="4734562" cy="283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58" name="Google Shape;293;g2b4e50f20d3_0_888"/>
          <p:cNvSpPr/>
          <p:nvPr/>
        </p:nvSpPr>
        <p:spPr>
          <a:xfrm>
            <a:off x="9297167" y="4622861"/>
            <a:ext cx="2325262" cy="65283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300" kern="0">
                <a:solidFill>
                  <a:srgbClr val="000000"/>
                </a:solidFill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9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- Select effective date and time from calendar</a:t>
            </a:r>
          </a:p>
        </p:txBody>
      </p:sp>
      <p:cxnSp>
        <p:nvCxnSpPr>
          <p:cNvPr id="60" name="Google Shape;294;g2b4e50f20d3_0_888"/>
          <p:cNvCxnSpPr>
            <a:cxnSpLocks/>
            <a:stCxn id="61" idx="3"/>
            <a:endCxn id="58" idx="1"/>
          </p:cNvCxnSpPr>
          <p:nvPr/>
        </p:nvCxnSpPr>
        <p:spPr>
          <a:xfrm>
            <a:off x="7251425" y="4622979"/>
            <a:ext cx="2045742" cy="32630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1" name="Rectangle 60"/>
          <p:cNvSpPr/>
          <p:nvPr/>
        </p:nvSpPr>
        <p:spPr>
          <a:xfrm>
            <a:off x="2516862" y="4465846"/>
            <a:ext cx="4734563" cy="314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62" name="Google Shape;296;g2b4e50f20d3_0_888"/>
          <p:cNvCxnSpPr>
            <a:cxnSpLocks/>
            <a:stCxn id="63" idx="1"/>
            <a:endCxn id="256" idx="3"/>
          </p:cNvCxnSpPr>
          <p:nvPr/>
        </p:nvCxnSpPr>
        <p:spPr>
          <a:xfrm flipH="1">
            <a:off x="2725582" y="5889110"/>
            <a:ext cx="1288858" cy="833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" name="Rectangle 62"/>
          <p:cNvSpPr/>
          <p:nvPr/>
        </p:nvSpPr>
        <p:spPr>
          <a:xfrm>
            <a:off x="4014440" y="5731977"/>
            <a:ext cx="802004" cy="314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56" name="Google Shape;295;g2b4e50f20d3_0_888"/>
          <p:cNvSpPr/>
          <p:nvPr/>
        </p:nvSpPr>
        <p:spPr>
          <a:xfrm>
            <a:off x="616805" y="5694337"/>
            <a:ext cx="2108777" cy="40622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10- Click ‘Save</a:t>
            </a:r>
            <a:r>
              <a:rPr lang="en-US" sz="1300" kern="0">
                <a:solidFill>
                  <a:srgbClr val="000000"/>
                </a:solidFill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’ once done</a:t>
            </a:r>
            <a:endParaRPr kumimoji="0" lang="en-US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6" grpId="0" animBg="1"/>
      <p:bldP spid="47" grpId="0" animBg="1"/>
      <p:bldP spid="49" grpId="0" animBg="1"/>
      <p:bldP spid="53" grpId="0" animBg="1"/>
      <p:bldP spid="58" grpId="0" animBg="1"/>
      <p:bldP spid="61" grpId="0" animBg="1"/>
      <p:bldP spid="63" grpId="0" animBg="1"/>
      <p:bldP spid="25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292;g2b4e50f20d3_0_888">
            <a:extLst>
              <a:ext uri="{FF2B5EF4-FFF2-40B4-BE49-F238E27FC236}">
                <a16:creationId xmlns:a16="http://schemas.microsoft.com/office/drawing/2014/main" id="{BBE0447F-599B-8165-97B3-0D9CC1A5958E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715389" y="559020"/>
            <a:ext cx="2335221" cy="623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CDA8063-6D1B-4B45-A7C2-B0D541E7F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756" y="2796781"/>
            <a:ext cx="10048010" cy="2568422"/>
          </a:xfrm>
          <a:prstGeom prst="rect">
            <a:avLst/>
          </a:prstGeom>
        </p:spPr>
      </p:pic>
      <p:sp>
        <p:nvSpPr>
          <p:cNvPr id="6" name="Google Shape;282;g2b4e50f20d3_0_902"/>
          <p:cNvSpPr txBox="1"/>
          <p:nvPr/>
        </p:nvSpPr>
        <p:spPr>
          <a:xfrm>
            <a:off x="356821" y="552057"/>
            <a:ext cx="7884190" cy="37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Ensuring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Join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Date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48884" y="885272"/>
            <a:ext cx="9344046" cy="542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1) Access ‘Employee Management’ &gt; Access ‘Statutory’ &gt; Access ‘Working/Non-Work Child’ &gt; Click ‘Create Child Working Status’</a:t>
            </a:r>
            <a:endParaRPr lang="en-MY" sz="16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9" name="Google Shape;293;g2b4e50f20d3_0_888"/>
          <p:cNvSpPr/>
          <p:nvPr/>
        </p:nvSpPr>
        <p:spPr>
          <a:xfrm>
            <a:off x="1007560" y="1883536"/>
            <a:ext cx="2616632" cy="33043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1- Access ‘Employee Management’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10" name="Google Shape;294;g2b4e50f20d3_0_888"/>
          <p:cNvCxnSpPr>
            <a:cxnSpLocks/>
            <a:stCxn id="15" idx="0"/>
            <a:endCxn id="9" idx="2"/>
          </p:cNvCxnSpPr>
          <p:nvPr/>
        </p:nvCxnSpPr>
        <p:spPr>
          <a:xfrm flipH="1" flipV="1">
            <a:off x="2315876" y="2213972"/>
            <a:ext cx="1" cy="142545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95;g2b4e50f20d3_0_888"/>
          <p:cNvSpPr/>
          <p:nvPr/>
        </p:nvSpPr>
        <p:spPr>
          <a:xfrm>
            <a:off x="82344" y="4008681"/>
            <a:ext cx="1609403" cy="33043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2- Access ‘Statutory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  <a:stCxn id="16" idx="1"/>
            <a:endCxn id="11" idx="2"/>
          </p:cNvCxnSpPr>
          <p:nvPr/>
        </p:nvCxnSpPr>
        <p:spPr>
          <a:xfrm flipH="1" flipV="1">
            <a:off x="887046" y="4339117"/>
            <a:ext cx="804701" cy="34822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1705324" y="3639426"/>
            <a:ext cx="1221105" cy="205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91747" y="4591173"/>
            <a:ext cx="1221105" cy="1923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14" name="Google Shape;295;g2b4e50f20d3_0_888"/>
          <p:cNvSpPr/>
          <p:nvPr/>
        </p:nvSpPr>
        <p:spPr>
          <a:xfrm>
            <a:off x="828495" y="5833253"/>
            <a:ext cx="2936734" cy="33043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3- Access ‘Working/Non-Work Child’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17" name="Google Shape;296;g2b4e50f20d3_0_888"/>
          <p:cNvCxnSpPr>
            <a:cxnSpLocks/>
            <a:stCxn id="18" idx="2"/>
            <a:endCxn id="14" idx="0"/>
          </p:cNvCxnSpPr>
          <p:nvPr/>
        </p:nvCxnSpPr>
        <p:spPr>
          <a:xfrm flipH="1">
            <a:off x="2296862" y="5329140"/>
            <a:ext cx="19015" cy="5041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1705325" y="5117368"/>
            <a:ext cx="1221104" cy="2117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10A6458-38C6-441D-BC41-695C1F86F1C8}"/>
              </a:ext>
            </a:extLst>
          </p:cNvPr>
          <p:cNvSpPr/>
          <p:nvPr/>
        </p:nvSpPr>
        <p:spPr>
          <a:xfrm>
            <a:off x="10140164" y="2809771"/>
            <a:ext cx="1685602" cy="3498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cxnSp>
        <p:nvCxnSpPr>
          <p:cNvPr id="56" name="Google Shape;296;g2b4e50f20d3_0_888">
            <a:extLst>
              <a:ext uri="{FF2B5EF4-FFF2-40B4-BE49-F238E27FC236}">
                <a16:creationId xmlns:a16="http://schemas.microsoft.com/office/drawing/2014/main" id="{3E02372D-30F5-4DB7-928B-22B2F627E73B}"/>
              </a:ext>
            </a:extLst>
          </p:cNvPr>
          <p:cNvCxnSpPr>
            <a:cxnSpLocks/>
            <a:stCxn id="55" idx="0"/>
            <a:endCxn id="59" idx="2"/>
          </p:cNvCxnSpPr>
          <p:nvPr/>
        </p:nvCxnSpPr>
        <p:spPr>
          <a:xfrm flipV="1">
            <a:off x="10982965" y="2327352"/>
            <a:ext cx="246" cy="48241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" name="Google Shape;295;g2b4e50f20d3_0_888">
            <a:extLst>
              <a:ext uri="{FF2B5EF4-FFF2-40B4-BE49-F238E27FC236}">
                <a16:creationId xmlns:a16="http://schemas.microsoft.com/office/drawing/2014/main" id="{7EF7F782-B99A-4B6A-A668-01274389F5C9}"/>
              </a:ext>
            </a:extLst>
          </p:cNvPr>
          <p:cNvSpPr/>
          <p:nvPr/>
        </p:nvSpPr>
        <p:spPr>
          <a:xfrm>
            <a:off x="9876124" y="1770156"/>
            <a:ext cx="2214173" cy="55719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4- Click ‘Create Employee Child Working Status’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5" grpId="0" animBg="1"/>
      <p:bldP spid="16" grpId="0" animBg="1"/>
      <p:bldP spid="14" grpId="0" animBg="1"/>
      <p:bldP spid="18" grpId="0" animBg="1"/>
      <p:bldP spid="55" grpId="0" animBg="1"/>
      <p:bldP spid="5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FE7D26-ED7B-30B2-40E9-EADD458F8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300" y="1640079"/>
            <a:ext cx="6012397" cy="4049699"/>
          </a:xfrm>
          <a:prstGeom prst="rect">
            <a:avLst/>
          </a:prstGeom>
        </p:spPr>
      </p:pic>
      <p:pic>
        <p:nvPicPr>
          <p:cNvPr id="2" name="Google Shape;292;g2b4e50f20d3_0_888">
            <a:extLst>
              <a:ext uri="{FF2B5EF4-FFF2-40B4-BE49-F238E27FC236}">
                <a16:creationId xmlns:a16="http://schemas.microsoft.com/office/drawing/2014/main" id="{503D02BF-5C74-9016-D9CB-2F5513F5495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17078" y="552312"/>
            <a:ext cx="2525720" cy="65519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82;g2b4e50f20d3_0_902"/>
          <p:cNvSpPr txBox="1"/>
          <p:nvPr/>
        </p:nvSpPr>
        <p:spPr>
          <a:xfrm>
            <a:off x="355298" y="545523"/>
            <a:ext cx="8211688" cy="410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Adding</a:t>
            </a: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Employee’s Job Details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47360" y="837342"/>
            <a:ext cx="4917626" cy="42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2) Select Working/Non-Work Child (if applicable)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27471" y="2346528"/>
            <a:ext cx="4979912" cy="323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</a:endParaRPr>
          </a:p>
        </p:txBody>
      </p:sp>
      <p:sp>
        <p:nvSpPr>
          <p:cNvPr id="35" name="Google Shape;295;g2b4e50f20d3_0_888"/>
          <p:cNvSpPr/>
          <p:nvPr/>
        </p:nvSpPr>
        <p:spPr>
          <a:xfrm>
            <a:off x="8833396" y="2015315"/>
            <a:ext cx="2535526" cy="39144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1- Select Employee Profile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39" name="Google Shape;296;g2b4e50f20d3_0_888"/>
          <p:cNvCxnSpPr>
            <a:cxnSpLocks/>
            <a:stCxn id="35" idx="1"/>
            <a:endCxn id="22" idx="3"/>
          </p:cNvCxnSpPr>
          <p:nvPr/>
        </p:nvCxnSpPr>
        <p:spPr>
          <a:xfrm flipH="1">
            <a:off x="7007383" y="2211040"/>
            <a:ext cx="1826013" cy="29711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" name="Google Shape;295;g2b4e50f20d3_0_888"/>
          <p:cNvSpPr/>
          <p:nvPr/>
        </p:nvSpPr>
        <p:spPr>
          <a:xfrm>
            <a:off x="8833395" y="2703800"/>
            <a:ext cx="2535527" cy="49504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2- Insert </a:t>
            </a: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‘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Work Child’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If ‘Single’ or ‘No child’ put</a:t>
            </a:r>
            <a:r>
              <a:rPr kumimoji="0" lang="en-MY" sz="1100" b="0" i="0" u="none" strike="noStrike" kern="1200" cap="none" spc="0" normalizeH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 ‘0’.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27471" y="2837305"/>
            <a:ext cx="4986763" cy="323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034322" y="3346135"/>
            <a:ext cx="4979912" cy="2994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</a:endParaRPr>
          </a:p>
        </p:txBody>
      </p:sp>
      <p:cxnSp>
        <p:nvCxnSpPr>
          <p:cNvPr id="34" name="Google Shape;296;g2b4e50f20d3_0_888"/>
          <p:cNvCxnSpPr>
            <a:cxnSpLocks/>
            <a:stCxn id="52" idx="1"/>
            <a:endCxn id="17" idx="3"/>
          </p:cNvCxnSpPr>
          <p:nvPr/>
        </p:nvCxnSpPr>
        <p:spPr>
          <a:xfrm flipH="1">
            <a:off x="7014234" y="2951323"/>
            <a:ext cx="1819161" cy="476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" name="Rectangle 37"/>
          <p:cNvSpPr/>
          <p:nvPr/>
        </p:nvSpPr>
        <p:spPr>
          <a:xfrm>
            <a:off x="2020620" y="3828697"/>
            <a:ext cx="4986763" cy="299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3F593E-DE50-4AA9-B505-CB401CAACBBC}"/>
              </a:ext>
            </a:extLst>
          </p:cNvPr>
          <p:cNvSpPr/>
          <p:nvPr/>
        </p:nvSpPr>
        <p:spPr>
          <a:xfrm>
            <a:off x="3428623" y="5176814"/>
            <a:ext cx="889880" cy="372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</a:endParaRPr>
          </a:p>
        </p:txBody>
      </p:sp>
      <p:sp>
        <p:nvSpPr>
          <p:cNvPr id="30" name="Google Shape;295;g2b4e50f20d3_0_888">
            <a:extLst>
              <a:ext uri="{FF2B5EF4-FFF2-40B4-BE49-F238E27FC236}">
                <a16:creationId xmlns:a16="http://schemas.microsoft.com/office/drawing/2014/main" id="{878C2757-6659-4C4A-A2F2-79D8834B38A9}"/>
              </a:ext>
            </a:extLst>
          </p:cNvPr>
          <p:cNvSpPr/>
          <p:nvPr/>
        </p:nvSpPr>
        <p:spPr>
          <a:xfrm>
            <a:off x="8833396" y="3513199"/>
            <a:ext cx="2535527" cy="48375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3- Insert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“Non Work Child”</a:t>
            </a:r>
          </a:p>
          <a:p>
            <a:pPr algn="ctr">
              <a:defRPr/>
            </a:pPr>
            <a:r>
              <a:rPr lang="en-US" sz="1100">
                <a:solidFill>
                  <a:srgbClr val="00B050"/>
                </a:solidFill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If ‘Single’ or ‘No child’ put ‘0’.</a:t>
            </a:r>
          </a:p>
        </p:txBody>
      </p:sp>
      <p:cxnSp>
        <p:nvCxnSpPr>
          <p:cNvPr id="31" name="Google Shape;296;g2b4e50f20d3_0_888">
            <a:extLst>
              <a:ext uri="{FF2B5EF4-FFF2-40B4-BE49-F238E27FC236}">
                <a16:creationId xmlns:a16="http://schemas.microsoft.com/office/drawing/2014/main" id="{4BA8F468-BA22-4F5B-BE5D-F04BEF68A694}"/>
              </a:ext>
            </a:extLst>
          </p:cNvPr>
          <p:cNvCxnSpPr>
            <a:cxnSpLocks/>
            <a:stCxn id="30" idx="1"/>
            <a:endCxn id="32" idx="3"/>
          </p:cNvCxnSpPr>
          <p:nvPr/>
        </p:nvCxnSpPr>
        <p:spPr>
          <a:xfrm flipH="1" flipV="1">
            <a:off x="7014234" y="3495881"/>
            <a:ext cx="1819162" cy="25919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" name="Google Shape;295;g2b4e50f20d3_0_888">
            <a:extLst>
              <a:ext uri="{FF2B5EF4-FFF2-40B4-BE49-F238E27FC236}">
                <a16:creationId xmlns:a16="http://schemas.microsoft.com/office/drawing/2014/main" id="{A3885E1B-7050-4AA6-9ED3-5D6CEBF2B944}"/>
              </a:ext>
            </a:extLst>
          </p:cNvPr>
          <p:cNvSpPr/>
          <p:nvPr/>
        </p:nvSpPr>
        <p:spPr>
          <a:xfrm>
            <a:off x="8833396" y="4382934"/>
            <a:ext cx="2535527" cy="38634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4-  Select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Spouse Work Status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36" name="Google Shape;296;g2b4e50f20d3_0_888">
            <a:extLst>
              <a:ext uri="{FF2B5EF4-FFF2-40B4-BE49-F238E27FC236}">
                <a16:creationId xmlns:a16="http://schemas.microsoft.com/office/drawing/2014/main" id="{2177505F-90D0-4B6D-8AD6-F158159192F4}"/>
              </a:ext>
            </a:extLst>
          </p:cNvPr>
          <p:cNvCxnSpPr>
            <a:cxnSpLocks/>
            <a:stCxn id="33" idx="1"/>
            <a:endCxn id="38" idx="3"/>
          </p:cNvCxnSpPr>
          <p:nvPr/>
        </p:nvCxnSpPr>
        <p:spPr>
          <a:xfrm flipH="1" flipV="1">
            <a:off x="7007383" y="3978443"/>
            <a:ext cx="1826013" cy="5976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" name="Google Shape;295;g2b4e50f20d3_0_888">
            <a:extLst>
              <a:ext uri="{FF2B5EF4-FFF2-40B4-BE49-F238E27FC236}">
                <a16:creationId xmlns:a16="http://schemas.microsoft.com/office/drawing/2014/main" id="{1937A858-BAC0-43C4-AB17-BBEE138E4F92}"/>
              </a:ext>
            </a:extLst>
          </p:cNvPr>
          <p:cNvSpPr/>
          <p:nvPr/>
        </p:nvSpPr>
        <p:spPr>
          <a:xfrm>
            <a:off x="2868687" y="6073909"/>
            <a:ext cx="2009751" cy="3818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5- 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Click ‘Save</a:t>
            </a: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’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 once done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43" name="Google Shape;296;g2b4e50f20d3_0_888">
            <a:extLst>
              <a:ext uri="{FF2B5EF4-FFF2-40B4-BE49-F238E27FC236}">
                <a16:creationId xmlns:a16="http://schemas.microsoft.com/office/drawing/2014/main" id="{87EEC39B-6928-43E4-B99C-67709D9D1058}"/>
              </a:ext>
            </a:extLst>
          </p:cNvPr>
          <p:cNvCxnSpPr>
            <a:cxnSpLocks/>
            <a:stCxn id="41" idx="0"/>
            <a:endCxn id="21" idx="2"/>
          </p:cNvCxnSpPr>
          <p:nvPr/>
        </p:nvCxnSpPr>
        <p:spPr>
          <a:xfrm flipV="1">
            <a:off x="3873563" y="5549774"/>
            <a:ext cx="0" cy="52413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31133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5" grpId="0" animBg="1"/>
      <p:bldP spid="52" grpId="0" animBg="1"/>
      <p:bldP spid="17" grpId="0" animBg="1"/>
      <p:bldP spid="32" grpId="0" animBg="1"/>
      <p:bldP spid="38" grpId="0" animBg="1"/>
      <p:bldP spid="21" grpId="0" animBg="1"/>
      <p:bldP spid="30" grpId="0" animBg="1"/>
      <p:bldP spid="33" grpId="0" animBg="1"/>
      <p:bldP spid="4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b4e50f20d3_0_11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-MY" sz="2500" b="1">
                <a:latin typeface="Libre Franklin"/>
                <a:ea typeface="Libre Franklin"/>
                <a:cs typeface="Libre Franklin"/>
                <a:sym typeface="Libre Franklin"/>
              </a:rPr>
              <a:t>Employee Management Module</a:t>
            </a:r>
            <a:endParaRPr sz="2500" b="1"/>
          </a:p>
        </p:txBody>
      </p:sp>
      <p:sp>
        <p:nvSpPr>
          <p:cNvPr id="324" name="Google Shape;324;g2b4e50f20d3_0_1116"/>
          <p:cNvSpPr txBox="1">
            <a:spLocks noGrp="1"/>
          </p:cNvSpPr>
          <p:nvPr>
            <p:ph type="body" idx="1"/>
          </p:nvPr>
        </p:nvSpPr>
        <p:spPr>
          <a:xfrm>
            <a:off x="581192" y="1890756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1320"/>
              </a:spcBef>
              <a:spcAft>
                <a:spcPts val="0"/>
              </a:spcAft>
              <a:buSzPts val="3312"/>
              <a:buNone/>
            </a:pPr>
            <a:r>
              <a:rPr lang="en-MY" sz="3600" b="1"/>
              <a:t>Employee’s Maintenance</a:t>
            </a:r>
          </a:p>
        </p:txBody>
      </p:sp>
      <p:pic>
        <p:nvPicPr>
          <p:cNvPr id="325" name="Google Shape;325;g2b4e50f20d3_0_11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18123" y="626649"/>
            <a:ext cx="2827345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5E56B3-50DA-F14E-A14F-0F6CEE16F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072" y="2611884"/>
            <a:ext cx="9421269" cy="2236668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31500" y="841919"/>
            <a:ext cx="6560688" cy="366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1) Access ‘User Management’ &gt;Access ‘User’ &gt; Access ‘Create User’</a:t>
            </a:r>
            <a:endParaRPr lang="en-US" sz="16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723717" y="559718"/>
            <a:ext cx="2271720" cy="63931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4e50f20d3_0_888"/>
          <p:cNvSpPr/>
          <p:nvPr/>
        </p:nvSpPr>
        <p:spPr>
          <a:xfrm>
            <a:off x="363573" y="2495083"/>
            <a:ext cx="1806775" cy="48915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1- Access ‘User Management’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294" name="Google Shape;294;g2b4e50f20d3_0_888"/>
          <p:cNvCxnSpPr>
            <a:cxnSpLocks/>
          </p:cNvCxnSpPr>
          <p:nvPr/>
        </p:nvCxnSpPr>
        <p:spPr>
          <a:xfrm flipH="1" flipV="1">
            <a:off x="2170348" y="2739661"/>
            <a:ext cx="442098" cy="54530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39438" y="520031"/>
            <a:ext cx="6886125" cy="453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Employee’s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Maintenance - Create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Employee’s User ID</a:t>
            </a:r>
          </a:p>
        </p:txBody>
      </p:sp>
      <p:sp>
        <p:nvSpPr>
          <p:cNvPr id="7" name="Google Shape;295;g2b4e50f20d3_0_888"/>
          <p:cNvSpPr/>
          <p:nvPr/>
        </p:nvSpPr>
        <p:spPr>
          <a:xfrm>
            <a:off x="379449" y="3814000"/>
            <a:ext cx="1822648" cy="32846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2- Access ‘User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</p:cNvCxnSpPr>
          <p:nvPr/>
        </p:nvCxnSpPr>
        <p:spPr>
          <a:xfrm flipH="1">
            <a:off x="2183955" y="3819476"/>
            <a:ext cx="337777" cy="10432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2533071" y="3140923"/>
            <a:ext cx="1507575" cy="2880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533071" y="3669961"/>
            <a:ext cx="1507576" cy="2808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cxnSp>
        <p:nvCxnSpPr>
          <p:cNvPr id="6" name="Google Shape;296;g2b4e50f20d3_0_888"/>
          <p:cNvCxnSpPr>
            <a:cxnSpLocks/>
          </p:cNvCxnSpPr>
          <p:nvPr/>
        </p:nvCxnSpPr>
        <p:spPr>
          <a:xfrm flipH="1">
            <a:off x="10642587" y="3312175"/>
            <a:ext cx="737329" cy="130586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Rectangle 8"/>
          <p:cNvSpPr/>
          <p:nvPr/>
        </p:nvSpPr>
        <p:spPr>
          <a:xfrm>
            <a:off x="10859044" y="2996884"/>
            <a:ext cx="946495" cy="2880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10" name="Google Shape;295;g2b4e50f20d3_0_888"/>
          <p:cNvSpPr/>
          <p:nvPr/>
        </p:nvSpPr>
        <p:spPr>
          <a:xfrm>
            <a:off x="9696739" y="4645252"/>
            <a:ext cx="1837267" cy="30308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Calibri" panose="020F0502020204030204" pitchFamily="34" charset="0"/>
                <a:sym typeface="Libre Franklin"/>
              </a:rPr>
              <a:t>3- Access ‘Create User’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7" grpId="0" animBg="1"/>
      <p:bldP spid="15" grpId="0" animBg="1"/>
      <p:bldP spid="16" grpId="0" animBg="1"/>
      <p:bldP spid="9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25">
            <a:extLst>
              <a:ext uri="{FF2B5EF4-FFF2-40B4-BE49-F238E27FC236}">
                <a16:creationId xmlns:a16="http://schemas.microsoft.com/office/drawing/2014/main" id="{B804B7B4-0ACC-F93B-DEE9-A93C3340D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678" y="1370239"/>
            <a:ext cx="5192818" cy="4823551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20803" y="553291"/>
            <a:ext cx="2554629" cy="71827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34444" y="530077"/>
            <a:ext cx="8934792" cy="433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Employee’s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Maintenance - Create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Employee’s User ID</a:t>
            </a: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34444" y="808299"/>
            <a:ext cx="4027122" cy="445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2) Adding Employee 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D</a:t>
            </a: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etails</a:t>
            </a:r>
            <a:endParaRPr lang="en-US" sz="16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Google Shape;293;g2b4e50f20d3_0_888"/>
          <p:cNvSpPr/>
          <p:nvPr/>
        </p:nvSpPr>
        <p:spPr>
          <a:xfrm>
            <a:off x="8952021" y="1487546"/>
            <a:ext cx="2565851" cy="28633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4- Select Company Profile</a:t>
            </a:r>
          </a:p>
        </p:txBody>
      </p:sp>
      <p:cxnSp>
        <p:nvCxnSpPr>
          <p:cNvPr id="10" name="Google Shape;294;g2b4e50f20d3_0_888"/>
          <p:cNvCxnSpPr>
            <a:cxnSpLocks/>
          </p:cNvCxnSpPr>
          <p:nvPr/>
        </p:nvCxnSpPr>
        <p:spPr>
          <a:xfrm>
            <a:off x="7317777" y="1540704"/>
            <a:ext cx="1662467" cy="15149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Rectangle 11"/>
          <p:cNvSpPr/>
          <p:nvPr/>
        </p:nvSpPr>
        <p:spPr>
          <a:xfrm>
            <a:off x="2669148" y="1379410"/>
            <a:ext cx="4641574" cy="280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1" name="Google Shape;293;g2b4e50f20d3_0_888"/>
          <p:cNvSpPr/>
          <p:nvPr/>
        </p:nvSpPr>
        <p:spPr>
          <a:xfrm>
            <a:off x="8963536" y="1960625"/>
            <a:ext cx="2565851" cy="29368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5- Select User Role</a:t>
            </a:r>
          </a:p>
        </p:txBody>
      </p:sp>
      <p:cxnSp>
        <p:nvCxnSpPr>
          <p:cNvPr id="22" name="Google Shape;294;g2b4e50f20d3_0_888"/>
          <p:cNvCxnSpPr>
            <a:cxnSpLocks/>
          </p:cNvCxnSpPr>
          <p:nvPr/>
        </p:nvCxnSpPr>
        <p:spPr>
          <a:xfrm>
            <a:off x="7275444" y="1950950"/>
            <a:ext cx="1688092" cy="2129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2669148" y="1806989"/>
            <a:ext cx="4641574" cy="2879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24" name="Google Shape;293;g2b4e50f20d3_0_888"/>
          <p:cNvSpPr/>
          <p:nvPr/>
        </p:nvSpPr>
        <p:spPr>
          <a:xfrm>
            <a:off x="8952022" y="2430877"/>
            <a:ext cx="2577365" cy="31438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6- Insert Name</a:t>
            </a:r>
          </a:p>
        </p:txBody>
      </p:sp>
      <p:cxnSp>
        <p:nvCxnSpPr>
          <p:cNvPr id="25" name="Google Shape;294;g2b4e50f20d3_0_888"/>
          <p:cNvCxnSpPr>
            <a:cxnSpLocks/>
          </p:cNvCxnSpPr>
          <p:nvPr/>
        </p:nvCxnSpPr>
        <p:spPr>
          <a:xfrm>
            <a:off x="7282500" y="2336020"/>
            <a:ext cx="1676577" cy="2661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2662092" y="2241164"/>
            <a:ext cx="4641574" cy="2884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30" name="Google Shape;293;g2b4e50f20d3_0_888"/>
          <p:cNvSpPr/>
          <p:nvPr/>
        </p:nvSpPr>
        <p:spPr>
          <a:xfrm>
            <a:off x="8963540" y="2930211"/>
            <a:ext cx="2565851" cy="34414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Create Username (usually user ID)</a:t>
            </a:r>
          </a:p>
        </p:txBody>
      </p:sp>
      <p:cxnSp>
        <p:nvCxnSpPr>
          <p:cNvPr id="31" name="Google Shape;294;g2b4e50f20d3_0_888"/>
          <p:cNvCxnSpPr>
            <a:cxnSpLocks/>
          </p:cNvCxnSpPr>
          <p:nvPr/>
        </p:nvCxnSpPr>
        <p:spPr>
          <a:xfrm>
            <a:off x="7282499" y="2812148"/>
            <a:ext cx="1673986" cy="3606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" name="Rectangle 31"/>
          <p:cNvSpPr/>
          <p:nvPr/>
        </p:nvSpPr>
        <p:spPr>
          <a:xfrm>
            <a:off x="2669148" y="2667904"/>
            <a:ext cx="4641574" cy="2884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33" name="Google Shape;293;g2b4e50f20d3_0_888"/>
          <p:cNvSpPr/>
          <p:nvPr/>
        </p:nvSpPr>
        <p:spPr>
          <a:xfrm>
            <a:off x="8952022" y="3461472"/>
            <a:ext cx="2565850" cy="34414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Insert Email Address</a:t>
            </a:r>
          </a:p>
        </p:txBody>
      </p:sp>
      <p:cxnSp>
        <p:nvCxnSpPr>
          <p:cNvPr id="34" name="Google Shape;294;g2b4e50f20d3_0_888"/>
          <p:cNvCxnSpPr>
            <a:cxnSpLocks/>
          </p:cNvCxnSpPr>
          <p:nvPr/>
        </p:nvCxnSpPr>
        <p:spPr>
          <a:xfrm>
            <a:off x="7282498" y="3297121"/>
            <a:ext cx="1669524" cy="28703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" name="Rectangle 34"/>
          <p:cNvSpPr/>
          <p:nvPr/>
        </p:nvSpPr>
        <p:spPr>
          <a:xfrm>
            <a:off x="2669146" y="3102645"/>
            <a:ext cx="4641573" cy="31839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39" name="Google Shape;293;g2b4e50f20d3_0_888"/>
          <p:cNvSpPr/>
          <p:nvPr/>
        </p:nvSpPr>
        <p:spPr>
          <a:xfrm>
            <a:off x="8952020" y="3990207"/>
            <a:ext cx="2649667" cy="29403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Create Password</a:t>
            </a:r>
          </a:p>
        </p:txBody>
      </p:sp>
      <p:cxnSp>
        <p:nvCxnSpPr>
          <p:cNvPr id="40" name="Google Shape;294;g2b4e50f20d3_0_888"/>
          <p:cNvCxnSpPr>
            <a:cxnSpLocks/>
          </p:cNvCxnSpPr>
          <p:nvPr/>
        </p:nvCxnSpPr>
        <p:spPr>
          <a:xfrm>
            <a:off x="7285089" y="3699475"/>
            <a:ext cx="1673986" cy="50628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" name="Rectangle 40"/>
          <p:cNvSpPr/>
          <p:nvPr/>
        </p:nvSpPr>
        <p:spPr>
          <a:xfrm>
            <a:off x="2682615" y="3560126"/>
            <a:ext cx="4623641" cy="278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cxnSp>
        <p:nvCxnSpPr>
          <p:cNvPr id="43" name="Google Shape;296;g2b4e50f20d3_0_888"/>
          <p:cNvCxnSpPr>
            <a:cxnSpLocks/>
          </p:cNvCxnSpPr>
          <p:nvPr/>
        </p:nvCxnSpPr>
        <p:spPr>
          <a:xfrm>
            <a:off x="7338940" y="4183393"/>
            <a:ext cx="1624596" cy="52905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" name="Rectangle 43"/>
          <p:cNvSpPr/>
          <p:nvPr/>
        </p:nvSpPr>
        <p:spPr>
          <a:xfrm>
            <a:off x="2683257" y="3994655"/>
            <a:ext cx="4641573" cy="2786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45" name="Google Shape;295;g2b4e50f20d3_0_888"/>
          <p:cNvSpPr/>
          <p:nvPr/>
        </p:nvSpPr>
        <p:spPr>
          <a:xfrm>
            <a:off x="8963536" y="4457282"/>
            <a:ext cx="2649666" cy="32688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10- Select Language Profile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E8B721D-7C96-48F0-A157-DB97D538D84A}"/>
              </a:ext>
            </a:extLst>
          </p:cNvPr>
          <p:cNvSpPr/>
          <p:nvPr/>
        </p:nvSpPr>
        <p:spPr>
          <a:xfrm>
            <a:off x="2676200" y="4394308"/>
            <a:ext cx="4630055" cy="278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A492517-9BEF-4C22-8C74-D81B7A31ACDC}"/>
              </a:ext>
            </a:extLst>
          </p:cNvPr>
          <p:cNvSpPr/>
          <p:nvPr/>
        </p:nvSpPr>
        <p:spPr>
          <a:xfrm>
            <a:off x="2669145" y="4807460"/>
            <a:ext cx="4641574" cy="2787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cxnSp>
        <p:nvCxnSpPr>
          <p:cNvPr id="79" name="Google Shape;296;g2b4e50f20d3_0_888">
            <a:extLst>
              <a:ext uri="{FF2B5EF4-FFF2-40B4-BE49-F238E27FC236}">
                <a16:creationId xmlns:a16="http://schemas.microsoft.com/office/drawing/2014/main" id="{258FFA6B-08A8-494D-9C23-775831F06B87}"/>
              </a:ext>
            </a:extLst>
          </p:cNvPr>
          <p:cNvCxnSpPr>
            <a:cxnSpLocks/>
          </p:cNvCxnSpPr>
          <p:nvPr/>
        </p:nvCxnSpPr>
        <p:spPr>
          <a:xfrm>
            <a:off x="7320366" y="4583047"/>
            <a:ext cx="1650227" cy="61868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0" name="Google Shape;295;g2b4e50f20d3_0_888">
            <a:extLst>
              <a:ext uri="{FF2B5EF4-FFF2-40B4-BE49-F238E27FC236}">
                <a16:creationId xmlns:a16="http://schemas.microsoft.com/office/drawing/2014/main" id="{2CDDEAE8-C83A-4A6A-B8E1-C690CF117DE1}"/>
              </a:ext>
            </a:extLst>
          </p:cNvPr>
          <p:cNvSpPr/>
          <p:nvPr/>
        </p:nvSpPr>
        <p:spPr>
          <a:xfrm>
            <a:off x="8963537" y="4957320"/>
            <a:ext cx="2649666" cy="34367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11- Select Employee Group</a:t>
            </a:r>
          </a:p>
        </p:txBody>
      </p:sp>
      <p:cxnSp>
        <p:nvCxnSpPr>
          <p:cNvPr id="81" name="Google Shape;296;g2b4e50f20d3_0_888">
            <a:extLst>
              <a:ext uri="{FF2B5EF4-FFF2-40B4-BE49-F238E27FC236}">
                <a16:creationId xmlns:a16="http://schemas.microsoft.com/office/drawing/2014/main" id="{45C87F16-8FD7-4F49-865C-7F88FDEDFC8C}"/>
              </a:ext>
            </a:extLst>
          </p:cNvPr>
          <p:cNvCxnSpPr>
            <a:cxnSpLocks/>
          </p:cNvCxnSpPr>
          <p:nvPr/>
        </p:nvCxnSpPr>
        <p:spPr>
          <a:xfrm>
            <a:off x="7289552" y="4939754"/>
            <a:ext cx="1673985" cy="70565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" name="Google Shape;295;g2b4e50f20d3_0_888">
            <a:extLst>
              <a:ext uri="{FF2B5EF4-FFF2-40B4-BE49-F238E27FC236}">
                <a16:creationId xmlns:a16="http://schemas.microsoft.com/office/drawing/2014/main" id="{5FF194C8-6A7C-4387-9439-6A3C557C365E}"/>
              </a:ext>
            </a:extLst>
          </p:cNvPr>
          <p:cNvSpPr/>
          <p:nvPr/>
        </p:nvSpPr>
        <p:spPr>
          <a:xfrm>
            <a:off x="8963536" y="5499986"/>
            <a:ext cx="2649666" cy="34324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12- Select Employee Profile</a:t>
            </a:r>
          </a:p>
        </p:txBody>
      </p:sp>
      <p:cxnSp>
        <p:nvCxnSpPr>
          <p:cNvPr id="85" name="Google Shape;296;g2b4e50f20d3_0_888">
            <a:extLst>
              <a:ext uri="{FF2B5EF4-FFF2-40B4-BE49-F238E27FC236}">
                <a16:creationId xmlns:a16="http://schemas.microsoft.com/office/drawing/2014/main" id="{D1F08BF4-180B-43FF-8D11-2368DA39697D}"/>
              </a:ext>
            </a:extLst>
          </p:cNvPr>
          <p:cNvCxnSpPr>
            <a:cxnSpLocks/>
          </p:cNvCxnSpPr>
          <p:nvPr/>
        </p:nvCxnSpPr>
        <p:spPr>
          <a:xfrm flipH="1" flipV="1">
            <a:off x="2674029" y="5373003"/>
            <a:ext cx="785640" cy="640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6" name="Google Shape;295;g2b4e50f20d3_0_888">
            <a:extLst>
              <a:ext uri="{FF2B5EF4-FFF2-40B4-BE49-F238E27FC236}">
                <a16:creationId xmlns:a16="http://schemas.microsoft.com/office/drawing/2014/main" id="{2EBCF4B6-2456-4AE9-A2CD-68DB44F72134}"/>
              </a:ext>
            </a:extLst>
          </p:cNvPr>
          <p:cNvSpPr/>
          <p:nvPr/>
        </p:nvSpPr>
        <p:spPr>
          <a:xfrm>
            <a:off x="712523" y="5215619"/>
            <a:ext cx="1961506" cy="31476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13- Select Status ‘Active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6989E72-0420-4C9A-8D90-1570858790C9}"/>
              </a:ext>
            </a:extLst>
          </p:cNvPr>
          <p:cNvSpPr/>
          <p:nvPr/>
        </p:nvSpPr>
        <p:spPr>
          <a:xfrm>
            <a:off x="3459669" y="5265357"/>
            <a:ext cx="1064048" cy="2280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3AE32D1-1BEE-409C-B51E-54740CA0564E}"/>
              </a:ext>
            </a:extLst>
          </p:cNvPr>
          <p:cNvSpPr/>
          <p:nvPr/>
        </p:nvSpPr>
        <p:spPr>
          <a:xfrm>
            <a:off x="3459669" y="5594298"/>
            <a:ext cx="1064048" cy="2280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FC7947E-2614-4551-A9D4-8A0C4BFFBECC}"/>
              </a:ext>
            </a:extLst>
          </p:cNvPr>
          <p:cNvSpPr/>
          <p:nvPr/>
        </p:nvSpPr>
        <p:spPr>
          <a:xfrm>
            <a:off x="2234484" y="5944903"/>
            <a:ext cx="2289233" cy="2479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ibre Franklin"/>
              <a:sym typeface="Arial" panose="020B0604020202020204"/>
            </a:endParaRPr>
          </a:p>
        </p:txBody>
      </p:sp>
      <p:cxnSp>
        <p:nvCxnSpPr>
          <p:cNvPr id="92" name="Google Shape;296;g2b4e50f20d3_0_888">
            <a:extLst>
              <a:ext uri="{FF2B5EF4-FFF2-40B4-BE49-F238E27FC236}">
                <a16:creationId xmlns:a16="http://schemas.microsoft.com/office/drawing/2014/main" id="{69434ECD-2F06-44A8-87EA-61620EAB71BA}"/>
              </a:ext>
            </a:extLst>
          </p:cNvPr>
          <p:cNvCxnSpPr>
            <a:cxnSpLocks/>
          </p:cNvCxnSpPr>
          <p:nvPr/>
        </p:nvCxnSpPr>
        <p:spPr>
          <a:xfrm flipV="1">
            <a:off x="4523717" y="5335229"/>
            <a:ext cx="1172590" cy="2370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" name="Google Shape;295;g2b4e50f20d3_0_888">
            <a:extLst>
              <a:ext uri="{FF2B5EF4-FFF2-40B4-BE49-F238E27FC236}">
                <a16:creationId xmlns:a16="http://schemas.microsoft.com/office/drawing/2014/main" id="{B27FF367-E17A-4A22-9EEF-94C908DCB9CC}"/>
              </a:ext>
            </a:extLst>
          </p:cNvPr>
          <p:cNvSpPr/>
          <p:nvPr/>
        </p:nvSpPr>
        <p:spPr>
          <a:xfrm>
            <a:off x="5696307" y="5174803"/>
            <a:ext cx="1659444" cy="3208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14- Select Is Lock ‘No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99" name="Google Shape;296;g2b4e50f20d3_0_888">
            <a:extLst>
              <a:ext uri="{FF2B5EF4-FFF2-40B4-BE49-F238E27FC236}">
                <a16:creationId xmlns:a16="http://schemas.microsoft.com/office/drawing/2014/main" id="{FF57104E-4664-416B-B2DC-1C83DF767FDC}"/>
              </a:ext>
            </a:extLst>
          </p:cNvPr>
          <p:cNvCxnSpPr>
            <a:cxnSpLocks/>
          </p:cNvCxnSpPr>
          <p:nvPr/>
        </p:nvCxnSpPr>
        <p:spPr>
          <a:xfrm>
            <a:off x="4523717" y="6068858"/>
            <a:ext cx="1188632" cy="21546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0" name="Google Shape;295;g2b4e50f20d3_0_888">
            <a:extLst>
              <a:ext uri="{FF2B5EF4-FFF2-40B4-BE49-F238E27FC236}">
                <a16:creationId xmlns:a16="http://schemas.microsoft.com/office/drawing/2014/main" id="{FC40CCDE-FFD9-4E65-8FFD-0FA570CC8F02}"/>
              </a:ext>
            </a:extLst>
          </p:cNvPr>
          <p:cNvSpPr/>
          <p:nvPr/>
        </p:nvSpPr>
        <p:spPr>
          <a:xfrm>
            <a:off x="5712349" y="5600196"/>
            <a:ext cx="2418994" cy="110518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15- Select Change Password at next logon ‘Yes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 or ‘No’.</a:t>
            </a:r>
          </a:p>
          <a:p>
            <a:pPr lvl="0">
              <a:buClr>
                <a:srgbClr val="000000"/>
              </a:buClr>
              <a:defRPr/>
            </a:pPr>
            <a:r>
              <a:rPr lang="en-US" sz="1100" kern="0" noProof="0">
                <a:solidFill>
                  <a:schemeClr val="accent5">
                    <a:lumMod val="75000"/>
                  </a:schemeClr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Remark: If ‘Yes’, after login</a:t>
            </a:r>
            <a:r>
              <a:rPr lang="en-US" sz="1100" kern="0">
                <a:solidFill>
                  <a:schemeClr val="accent5">
                    <a:lumMod val="75000"/>
                  </a:schemeClr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you will be forced to change your password before using </a:t>
            </a:r>
            <a:r>
              <a:rPr lang="en-US" sz="1100" kern="0" noProof="0">
                <a:solidFill>
                  <a:schemeClr val="accent5">
                    <a:lumMod val="75000"/>
                  </a:schemeClr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other activities.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21" grpId="0" animBg="1"/>
      <p:bldP spid="23" grpId="0" animBg="1"/>
      <p:bldP spid="24" grpId="0" animBg="1"/>
      <p:bldP spid="26" grpId="0" animBg="1"/>
      <p:bldP spid="30" grpId="0" animBg="1"/>
      <p:bldP spid="32" grpId="0" animBg="1"/>
      <p:bldP spid="33" grpId="0" animBg="1"/>
      <p:bldP spid="35" grpId="0" animBg="1"/>
      <p:bldP spid="39" grpId="0" animBg="1"/>
      <p:bldP spid="41" grpId="0" animBg="1"/>
      <p:bldP spid="44" grpId="0" animBg="1"/>
      <p:bldP spid="45" grpId="0" animBg="1"/>
      <p:bldP spid="65" grpId="0" animBg="1"/>
      <p:bldP spid="66" grpId="0" animBg="1"/>
      <p:bldP spid="80" grpId="0" animBg="1"/>
      <p:bldP spid="82" grpId="0" animBg="1"/>
      <p:bldP spid="86" grpId="0" animBg="1"/>
      <p:bldP spid="88" grpId="0" animBg="1"/>
      <p:bldP spid="90" grpId="0" animBg="1"/>
      <p:bldP spid="91" grpId="0" animBg="1"/>
      <p:bldP spid="93" grpId="0" animBg="1"/>
      <p:bldP spid="10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1A6FB5-40EB-4BD2-77EC-B55B7BC24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341" y="2230336"/>
            <a:ext cx="7837676" cy="2753596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98710" y="555222"/>
            <a:ext cx="2516901" cy="69488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63116" y="540831"/>
            <a:ext cx="6718556" cy="420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Employee’s Maintenance-Create Employee’s User ID</a:t>
            </a: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63115" y="854373"/>
            <a:ext cx="4284390" cy="35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2) </a:t>
            </a:r>
            <a:r>
              <a:rPr kumimoji="0" lang="en-US" sz="1600" b="0" i="0" u="none" strike="noStrike" kern="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Cont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- Adding Employee Details</a:t>
            </a:r>
            <a:endParaRPr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9" name="Google Shape;293;g2b4e50f20d3_0_888"/>
          <p:cNvSpPr/>
          <p:nvPr/>
        </p:nvSpPr>
        <p:spPr>
          <a:xfrm>
            <a:off x="9468023" y="2858181"/>
            <a:ext cx="1751268" cy="35977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17- Select Organization</a:t>
            </a:r>
          </a:p>
        </p:txBody>
      </p:sp>
      <p:cxnSp>
        <p:nvCxnSpPr>
          <p:cNvPr id="40" name="Google Shape;294;g2b4e50f20d3_0_888"/>
          <p:cNvCxnSpPr>
            <a:cxnSpLocks/>
            <a:stCxn id="41" idx="3"/>
            <a:endCxn id="39" idx="1"/>
          </p:cNvCxnSpPr>
          <p:nvPr/>
        </p:nvCxnSpPr>
        <p:spPr>
          <a:xfrm>
            <a:off x="7985156" y="3038069"/>
            <a:ext cx="148286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" name="Rectangle 40"/>
          <p:cNvSpPr/>
          <p:nvPr/>
        </p:nvSpPr>
        <p:spPr>
          <a:xfrm>
            <a:off x="2525524" y="2858181"/>
            <a:ext cx="5459632" cy="359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43" name="Google Shape;296;g2b4e50f20d3_0_888"/>
          <p:cNvCxnSpPr>
            <a:cxnSpLocks/>
            <a:stCxn id="44" idx="2"/>
            <a:endCxn id="45" idx="0"/>
          </p:cNvCxnSpPr>
          <p:nvPr/>
        </p:nvCxnSpPr>
        <p:spPr>
          <a:xfrm>
            <a:off x="3738516" y="4906759"/>
            <a:ext cx="0" cy="6395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" name="Rectangle 43"/>
          <p:cNvSpPr/>
          <p:nvPr/>
        </p:nvSpPr>
        <p:spPr>
          <a:xfrm>
            <a:off x="3319681" y="4586110"/>
            <a:ext cx="837670" cy="320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45" name="Google Shape;295;g2b4e50f20d3_0_888"/>
          <p:cNvSpPr/>
          <p:nvPr/>
        </p:nvSpPr>
        <p:spPr>
          <a:xfrm>
            <a:off x="2791985" y="5546272"/>
            <a:ext cx="1893062" cy="32064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19- Click ‘Save’ once done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7A5FED-36E6-71C9-AFBD-140CCE1404A1}"/>
              </a:ext>
            </a:extLst>
          </p:cNvPr>
          <p:cNvSpPr/>
          <p:nvPr/>
        </p:nvSpPr>
        <p:spPr>
          <a:xfrm>
            <a:off x="2525525" y="3316929"/>
            <a:ext cx="5459632" cy="3231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0" name="Google Shape;293;g2b4e50f20d3_0_888">
            <a:extLst>
              <a:ext uri="{FF2B5EF4-FFF2-40B4-BE49-F238E27FC236}">
                <a16:creationId xmlns:a16="http://schemas.microsoft.com/office/drawing/2014/main" id="{AEE40F4A-B770-2E20-C2CC-2971256639C7}"/>
              </a:ext>
            </a:extLst>
          </p:cNvPr>
          <p:cNvSpPr/>
          <p:nvPr/>
        </p:nvSpPr>
        <p:spPr>
          <a:xfrm>
            <a:off x="9482134" y="3627984"/>
            <a:ext cx="2518850" cy="70871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18- Select default organization</a:t>
            </a:r>
            <a:endParaRPr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100" kern="0" dirty="0">
                <a:solidFill>
                  <a:srgbClr val="00B05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Remark: This allows to select the default organization to be shown for this user account.</a:t>
            </a:r>
            <a:endParaRPr lang="en-US" sz="11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ibre Franklin"/>
              <a:ea typeface="Libre Franklin"/>
              <a:cs typeface="Libre Franklin"/>
            </a:endParaRPr>
          </a:p>
        </p:txBody>
      </p:sp>
      <p:cxnSp>
        <p:nvCxnSpPr>
          <p:cNvPr id="21" name="Google Shape;294;g2b4e50f20d3_0_888">
            <a:extLst>
              <a:ext uri="{FF2B5EF4-FFF2-40B4-BE49-F238E27FC236}">
                <a16:creationId xmlns:a16="http://schemas.microsoft.com/office/drawing/2014/main" id="{D4C25DA8-0803-0CD2-2826-530B6109BD24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7985157" y="3478486"/>
            <a:ext cx="1496977" cy="50385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Google Shape;295;g2b4e50f20d3_0_888">
            <a:extLst>
              <a:ext uri="{FF2B5EF4-FFF2-40B4-BE49-F238E27FC236}">
                <a16:creationId xmlns:a16="http://schemas.microsoft.com/office/drawing/2014/main" id="{A9F334E7-401B-5DF4-20AE-5794E311CC3E}"/>
              </a:ext>
            </a:extLst>
          </p:cNvPr>
          <p:cNvSpPr/>
          <p:nvPr/>
        </p:nvSpPr>
        <p:spPr>
          <a:xfrm>
            <a:off x="6252454" y="5535890"/>
            <a:ext cx="1975243" cy="32064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20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‘Back’ once done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42943A-4A34-5246-9584-3664D4769C8A}"/>
              </a:ext>
            </a:extLst>
          </p:cNvPr>
          <p:cNvSpPr/>
          <p:nvPr/>
        </p:nvSpPr>
        <p:spPr>
          <a:xfrm>
            <a:off x="5103882" y="4586109"/>
            <a:ext cx="837670" cy="320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33" name="Google Shape;296;g2b4e50f20d3_0_888">
            <a:extLst>
              <a:ext uri="{FF2B5EF4-FFF2-40B4-BE49-F238E27FC236}">
                <a16:creationId xmlns:a16="http://schemas.microsoft.com/office/drawing/2014/main" id="{525F3505-410C-3124-2D5C-D1D4F28EB249}"/>
              </a:ext>
            </a:extLst>
          </p:cNvPr>
          <p:cNvCxnSpPr>
            <a:cxnSpLocks/>
            <a:stCxn id="32" idx="3"/>
            <a:endCxn id="31" idx="0"/>
          </p:cNvCxnSpPr>
          <p:nvPr/>
        </p:nvCxnSpPr>
        <p:spPr>
          <a:xfrm>
            <a:off x="5941552" y="4746434"/>
            <a:ext cx="1298524" cy="78945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4" grpId="0" animBg="1"/>
      <p:bldP spid="45" grpId="0" animBg="1"/>
      <p:bldP spid="15" grpId="0" animBg="1"/>
      <p:bldP spid="2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2b4e50f20d3_0_88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31994" y="560910"/>
            <a:ext cx="2375790" cy="63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6EBF8E-2AEE-D452-D889-C1B8EA9BE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463" y="2799661"/>
            <a:ext cx="9648791" cy="1574786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39438" y="791658"/>
            <a:ext cx="11029500" cy="39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</a:rPr>
              <a:t>3) Once saved and back, you may see the user created</a:t>
            </a:r>
            <a:endParaRPr lang="en-US" sz="16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" name="Google Shape;282;g2b4e50f20d3_0_902"/>
          <p:cNvSpPr txBox="1"/>
          <p:nvPr/>
        </p:nvSpPr>
        <p:spPr>
          <a:xfrm>
            <a:off x="338430" y="531281"/>
            <a:ext cx="6464816" cy="41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Employee’s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Maintenance - Create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Employee’s User 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10750" y="3952647"/>
            <a:ext cx="9322788" cy="421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6" name="Google Shape;296;g2b4e50f20d3_0_888">
            <a:extLst>
              <a:ext uri="{FF2B5EF4-FFF2-40B4-BE49-F238E27FC236}">
                <a16:creationId xmlns:a16="http://schemas.microsoft.com/office/drawing/2014/main" id="{0F50F1F4-1E71-A2AA-FB0F-CDD46F3BD641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951936" y="4374447"/>
            <a:ext cx="0" cy="6645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295;g2b4e50f20d3_0_888">
            <a:extLst>
              <a:ext uri="{FF2B5EF4-FFF2-40B4-BE49-F238E27FC236}">
                <a16:creationId xmlns:a16="http://schemas.microsoft.com/office/drawing/2014/main" id="{3E83138C-3D41-46A1-0BE7-E940D57E976E}"/>
              </a:ext>
            </a:extLst>
          </p:cNvPr>
          <p:cNvSpPr/>
          <p:nvPr/>
        </p:nvSpPr>
        <p:spPr>
          <a:xfrm>
            <a:off x="2773746" y="5038962"/>
            <a:ext cx="2356379" cy="4218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Code No will automatically generate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4D44DA-67AA-9D8A-85C2-F5768FFB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589" y="1882502"/>
            <a:ext cx="8356821" cy="3405711"/>
          </a:xfrm>
          <a:prstGeom prst="rect">
            <a:avLst/>
          </a:prstGeom>
        </p:spPr>
      </p:pic>
      <p:pic>
        <p:nvPicPr>
          <p:cNvPr id="325" name="Google Shape;325;g2b4e50f20d3_0_111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22957" y="556322"/>
            <a:ext cx="2620970" cy="69488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72;g2b4e50f20d3_0_873"/>
          <p:cNvSpPr/>
          <p:nvPr/>
        </p:nvSpPr>
        <p:spPr>
          <a:xfrm>
            <a:off x="7194319" y="5553232"/>
            <a:ext cx="1966700" cy="37052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1. Click forgot password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5" name="Straight Arrow Connector 14"/>
          <p:cNvCxnSpPr>
            <a:cxnSpLocks/>
            <a:stCxn id="16" idx="1"/>
            <a:endCxn id="7" idx="0"/>
          </p:cNvCxnSpPr>
          <p:nvPr/>
        </p:nvCxnSpPr>
        <p:spPr>
          <a:xfrm flipH="1">
            <a:off x="8177669" y="4147315"/>
            <a:ext cx="692876" cy="1405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Google Shape;282;g2b4e50f20d3_0_902"/>
          <p:cNvSpPr txBox="1"/>
          <p:nvPr/>
        </p:nvSpPr>
        <p:spPr>
          <a:xfrm>
            <a:off x="355313" y="555211"/>
            <a:ext cx="5766938" cy="40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Employee’s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Maintenance -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Forgot Password</a:t>
            </a:r>
          </a:p>
        </p:txBody>
      </p:sp>
      <p:sp>
        <p:nvSpPr>
          <p:cNvPr id="6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47375" y="846928"/>
            <a:ext cx="3401563" cy="39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</a:rPr>
              <a:t>1) Forgot password (if need)</a:t>
            </a:r>
            <a:endParaRPr lang="en-US" sz="1600" dirty="0" err="1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70545" y="4012341"/>
            <a:ext cx="1033946" cy="2699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g2b4e50f20d3_0_11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469717" y="553097"/>
            <a:ext cx="2581283" cy="686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7D9B17-48CB-0F7F-BEF7-ECCBA1E8C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48" y="2095000"/>
            <a:ext cx="8877428" cy="3756789"/>
          </a:xfrm>
          <a:prstGeom prst="rect">
            <a:avLst/>
          </a:prstGeom>
        </p:spPr>
      </p:pic>
      <p:sp>
        <p:nvSpPr>
          <p:cNvPr id="7" name="Google Shape;272;g2b4e50f20d3_0_873"/>
          <p:cNvSpPr/>
          <p:nvPr/>
        </p:nvSpPr>
        <p:spPr>
          <a:xfrm>
            <a:off x="9390717" y="3271526"/>
            <a:ext cx="2114768" cy="43940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100">
                <a:latin typeface="Libre Franklin"/>
                <a:ea typeface="Libre Franklin"/>
                <a:cs typeface="Libre Franklin"/>
                <a:sym typeface="Libre Franklin"/>
              </a:rPr>
              <a:t>2. Enter your email address</a:t>
            </a:r>
            <a:endParaRPr sz="11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7473220" y="4458723"/>
            <a:ext cx="991650" cy="794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Google Shape;282;g2b4e50f20d3_0_902"/>
          <p:cNvSpPr txBox="1"/>
          <p:nvPr/>
        </p:nvSpPr>
        <p:spPr>
          <a:xfrm>
            <a:off x="355313" y="556287"/>
            <a:ext cx="5774875" cy="362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</a:pPr>
            <a:r>
              <a:rPr lang="en-MY" sz="1800" b="1" dirty="0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Employee’s Maintenance - Forgot Password</a:t>
            </a:r>
          </a:p>
        </p:txBody>
      </p:sp>
      <p:sp>
        <p:nvSpPr>
          <p:cNvPr id="6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4431" y="846576"/>
            <a:ext cx="3855765" cy="35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</a:rPr>
              <a:t>4) Enter Email Address and Submit</a:t>
            </a:r>
            <a:endParaRPr lang="en-US" sz="16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7745" y="4307908"/>
            <a:ext cx="1065475" cy="3016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 flipV="1">
            <a:off x="8988679" y="3491229"/>
            <a:ext cx="472594" cy="523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1879284-5466-41BC-AF19-2FB055FD5052}"/>
              </a:ext>
            </a:extLst>
          </p:cNvPr>
          <p:cNvSpPr/>
          <p:nvPr/>
        </p:nvSpPr>
        <p:spPr>
          <a:xfrm>
            <a:off x="6270188" y="3864079"/>
            <a:ext cx="2718491" cy="3016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0" name="Google Shape;272;g2b4e50f20d3_0_873">
            <a:extLst>
              <a:ext uri="{FF2B5EF4-FFF2-40B4-BE49-F238E27FC236}">
                <a16:creationId xmlns:a16="http://schemas.microsoft.com/office/drawing/2014/main" id="{BA025B41-F63C-CA59-22AC-3D791E14BA76}"/>
              </a:ext>
            </a:extLst>
          </p:cNvPr>
          <p:cNvSpPr/>
          <p:nvPr/>
        </p:nvSpPr>
        <p:spPr>
          <a:xfrm>
            <a:off x="8464870" y="5023331"/>
            <a:ext cx="2038038" cy="45969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100">
                <a:latin typeface="Libre Franklin"/>
                <a:ea typeface="Libre Franklin"/>
                <a:cs typeface="Libre Franklin"/>
                <a:sym typeface="Libre Franklin"/>
              </a:rPr>
              <a:t>3. Click ‘Send Me!’</a:t>
            </a:r>
            <a:endParaRPr sz="11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  <p:bldP spid="18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g2b4e50f20d3_0_11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453842" y="554221"/>
            <a:ext cx="2573345" cy="68694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2;g2b4e50f20d3_0_902"/>
          <p:cNvSpPr txBox="1"/>
          <p:nvPr/>
        </p:nvSpPr>
        <p:spPr>
          <a:xfrm>
            <a:off x="363252" y="520794"/>
            <a:ext cx="6108249" cy="4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Employee’s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Maintenance -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Forgot Password</a:t>
            </a:r>
            <a:endParaRPr lang="en-MY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</a:endParaRPr>
          </a:p>
        </p:txBody>
      </p:sp>
      <p:sp>
        <p:nvSpPr>
          <p:cNvPr id="6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5314" y="861974"/>
            <a:ext cx="5250999" cy="380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</a:rPr>
              <a:t>5) New Password sent to the employee’s email</a:t>
            </a:r>
            <a:endParaRPr lang="en-US" sz="16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92B24-FD94-3393-DCD1-167435C64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2778" y="1549847"/>
            <a:ext cx="7487253" cy="445091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b4e50f20d3_0_1116"/>
          <p:cNvSpPr txBox="1">
            <a:spLocks noGrp="1"/>
          </p:cNvSpPr>
          <p:nvPr>
            <p:ph type="title"/>
          </p:nvPr>
        </p:nvSpPr>
        <p:spPr>
          <a:xfrm>
            <a:off x="318642" y="752976"/>
            <a:ext cx="11029500" cy="505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-MY" sz="2500" b="1">
                <a:latin typeface="Libre Franklin"/>
                <a:ea typeface="Libre Franklin"/>
                <a:cs typeface="Libre Franklin"/>
                <a:sym typeface="Libre Franklin"/>
              </a:rPr>
              <a:t>Employee Management Module</a:t>
            </a:r>
            <a:endParaRPr sz="2500" b="1"/>
          </a:p>
        </p:txBody>
      </p:sp>
      <p:sp>
        <p:nvSpPr>
          <p:cNvPr id="324" name="Google Shape;324;g2b4e50f20d3_0_1116"/>
          <p:cNvSpPr txBox="1">
            <a:spLocks noGrp="1"/>
          </p:cNvSpPr>
          <p:nvPr>
            <p:ph type="body" idx="1"/>
          </p:nvPr>
        </p:nvSpPr>
        <p:spPr>
          <a:xfrm>
            <a:off x="581192" y="1890756"/>
            <a:ext cx="11029500" cy="3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1320"/>
              </a:spcBef>
              <a:spcAft>
                <a:spcPts val="0"/>
              </a:spcAft>
              <a:buSzPts val="3312"/>
              <a:buNone/>
            </a:pPr>
            <a:r>
              <a:rPr lang="en-MY" sz="3600" b="1"/>
              <a:t>Employee’s Service Management </a:t>
            </a:r>
          </a:p>
        </p:txBody>
      </p:sp>
      <p:pic>
        <p:nvPicPr>
          <p:cNvPr id="325" name="Google Shape;325;g2b4e50f20d3_0_11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918123" y="626649"/>
            <a:ext cx="2827345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 txBox="1">
            <a:spLocks noGrp="1"/>
          </p:cNvSpPr>
          <p:nvPr>
            <p:ph type="title"/>
          </p:nvPr>
        </p:nvSpPr>
        <p:spPr>
          <a:xfrm>
            <a:off x="478003" y="946385"/>
            <a:ext cx="8806838" cy="589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</a:pPr>
            <a:r>
              <a:rPr lang="en-MY" sz="2800" b="1">
                <a:solidFill>
                  <a:schemeClr val="tx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Employee’s Service Management </a:t>
            </a:r>
          </a:p>
        </p:txBody>
      </p:sp>
      <p:sp>
        <p:nvSpPr>
          <p:cNvPr id="204" name="Google Shape;204;p8"/>
          <p:cNvSpPr txBox="1">
            <a:spLocks noGrp="1"/>
          </p:cNvSpPr>
          <p:nvPr>
            <p:ph type="body" idx="1"/>
          </p:nvPr>
        </p:nvSpPr>
        <p:spPr>
          <a:xfrm>
            <a:off x="478005" y="2046079"/>
            <a:ext cx="11077240" cy="3249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06070" lvl="0" indent="-30607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8"/>
              <a:buChar char="◼"/>
            </a:pPr>
            <a:r>
              <a:rPr lang="en-US" sz="1800" dirty="0">
                <a:solidFill>
                  <a:schemeClr val="tx1"/>
                </a:solidFill>
              </a:rPr>
              <a:t>Employee Confirmation</a:t>
            </a:r>
          </a:p>
          <a:p>
            <a:pPr marL="306070" lvl="0" indent="-30607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SzPts val="2208"/>
              <a:buChar char="◼"/>
            </a:pPr>
            <a:r>
              <a:rPr lang="en-US" sz="1800" dirty="0">
                <a:solidFill>
                  <a:schemeClr val="tx1"/>
                </a:solidFill>
              </a:rPr>
              <a:t>Employee Resignation</a:t>
            </a:r>
          </a:p>
          <a:p>
            <a:pPr marL="306070" lvl="0" indent="-30607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SzPts val="2208"/>
              <a:buChar char="◼"/>
            </a:pPr>
            <a:r>
              <a:rPr lang="en-US" sz="1800" dirty="0">
                <a:solidFill>
                  <a:schemeClr val="tx1"/>
                </a:solidFill>
              </a:rPr>
              <a:t>Employee Increment</a:t>
            </a:r>
          </a:p>
          <a:p>
            <a:pPr marL="306070" lvl="0" indent="-30607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SzPts val="2208"/>
              <a:buChar char="◼"/>
            </a:pPr>
            <a:r>
              <a:rPr lang="en-US" sz="1800">
                <a:solidFill>
                  <a:schemeClr val="tx1"/>
                </a:solidFill>
              </a:rPr>
              <a:t>Employee Benefit (Non-fixed Allowance)</a:t>
            </a:r>
          </a:p>
          <a:p>
            <a:pPr marL="306070" lvl="0" indent="-30607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SzPts val="2208"/>
              <a:buChar char="◼"/>
            </a:pPr>
            <a:r>
              <a:rPr lang="en-US" sz="1800" dirty="0">
                <a:solidFill>
                  <a:schemeClr val="tx1"/>
                </a:solidFill>
              </a:rPr>
              <a:t>Employee Deduction</a:t>
            </a:r>
          </a:p>
          <a:p>
            <a:pPr marL="306070" indent="-306070">
              <a:spcBef>
                <a:spcPts val="1080"/>
              </a:spcBef>
              <a:buSzPts val="2208"/>
            </a:pPr>
            <a:r>
              <a:rPr lang="en-MY" sz="1800" dirty="0">
                <a:solidFill>
                  <a:schemeClr val="tx1"/>
                </a:solidFill>
                <a:ea typeface="Calibri"/>
                <a:cs typeface="Calibri"/>
              </a:rPr>
              <a:t>Upload File (Employee Profile, Bank, Increment, Join/Resignation, Statutory, Status, Non Work Child)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205" name="Google Shape;205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180061" y="571087"/>
            <a:ext cx="2827344" cy="75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8CD056-7378-979F-F589-17A327B5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028" y="2411266"/>
            <a:ext cx="7739515" cy="3708780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2137" y="797652"/>
            <a:ext cx="7748102" cy="395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1) Access 'Employee Management' &gt; Access 'Status' &gt; Access 'Employee Join/Resignation'</a:t>
            </a: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701289" y="556092"/>
            <a:ext cx="2284068" cy="63843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4e50f20d3_0_888"/>
          <p:cNvSpPr/>
          <p:nvPr/>
        </p:nvSpPr>
        <p:spPr>
          <a:xfrm>
            <a:off x="762934" y="3272298"/>
            <a:ext cx="1908832" cy="40523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1- Access ‘Employee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Management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94" name="Google Shape;294;g2b4e50f20d3_0_888"/>
          <p:cNvCxnSpPr>
            <a:cxnSpLocks/>
          </p:cNvCxnSpPr>
          <p:nvPr/>
        </p:nvCxnSpPr>
        <p:spPr>
          <a:xfrm flipH="1" flipV="1">
            <a:off x="2678872" y="3454106"/>
            <a:ext cx="479519" cy="4669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64838" y="544392"/>
            <a:ext cx="6806750" cy="37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Service </a:t>
            </a: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Management -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 Confirmation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762934" y="4310625"/>
            <a:ext cx="1908832" cy="30530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2- Access ‘Status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</p:cNvCxnSpPr>
          <p:nvPr/>
        </p:nvCxnSpPr>
        <p:spPr>
          <a:xfrm flipH="1" flipV="1">
            <a:off x="2673988" y="4461981"/>
            <a:ext cx="525700" cy="32457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3177028" y="3354230"/>
            <a:ext cx="1308225" cy="234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 flipV="1">
            <a:off x="3177028" y="4641552"/>
            <a:ext cx="1308225" cy="2192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F7C772-3308-4869-A08A-8C8B75469D5F}"/>
              </a:ext>
            </a:extLst>
          </p:cNvPr>
          <p:cNvSpPr/>
          <p:nvPr/>
        </p:nvSpPr>
        <p:spPr>
          <a:xfrm>
            <a:off x="3177028" y="5900759"/>
            <a:ext cx="1308225" cy="219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18" name="Google Shape;296;g2b4e50f20d3_0_888">
            <a:extLst>
              <a:ext uri="{FF2B5EF4-FFF2-40B4-BE49-F238E27FC236}">
                <a16:creationId xmlns:a16="http://schemas.microsoft.com/office/drawing/2014/main" id="{9C9EA49D-CF73-4ECC-9384-BBBCD34C0857}"/>
              </a:ext>
            </a:extLst>
          </p:cNvPr>
          <p:cNvCxnSpPr>
            <a:cxnSpLocks/>
          </p:cNvCxnSpPr>
          <p:nvPr/>
        </p:nvCxnSpPr>
        <p:spPr>
          <a:xfrm flipH="1" flipV="1">
            <a:off x="2641856" y="5690618"/>
            <a:ext cx="521825" cy="3274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oogle Shape;295;g2b4e50f20d3_0_888">
            <a:extLst>
              <a:ext uri="{FF2B5EF4-FFF2-40B4-BE49-F238E27FC236}">
                <a16:creationId xmlns:a16="http://schemas.microsoft.com/office/drawing/2014/main" id="{934D7787-E0F3-45A3-93A3-00C5EE2D36BA}"/>
              </a:ext>
            </a:extLst>
          </p:cNvPr>
          <p:cNvSpPr/>
          <p:nvPr/>
        </p:nvSpPr>
        <p:spPr>
          <a:xfrm>
            <a:off x="745616" y="5480703"/>
            <a:ext cx="1908832" cy="42049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3- Access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‘Employee Join/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Resignation’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4B0668B-3A66-48B2-8645-2CB7A3C4D521}"/>
              </a:ext>
            </a:extLst>
          </p:cNvPr>
          <p:cNvSpPr/>
          <p:nvPr/>
        </p:nvSpPr>
        <p:spPr>
          <a:xfrm>
            <a:off x="9094844" y="2459025"/>
            <a:ext cx="1687842" cy="242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75" name="Google Shape;296;g2b4e50f20d3_0_888">
            <a:extLst>
              <a:ext uri="{FF2B5EF4-FFF2-40B4-BE49-F238E27FC236}">
                <a16:creationId xmlns:a16="http://schemas.microsoft.com/office/drawing/2014/main" id="{5F98FEFC-5470-4924-89ED-1B03C0188C63}"/>
              </a:ext>
            </a:extLst>
          </p:cNvPr>
          <p:cNvCxnSpPr>
            <a:cxnSpLocks/>
          </p:cNvCxnSpPr>
          <p:nvPr/>
        </p:nvCxnSpPr>
        <p:spPr>
          <a:xfrm flipV="1">
            <a:off x="9994580" y="1710431"/>
            <a:ext cx="1336" cy="7365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7" name="Google Shape;295;g2b4e50f20d3_0_888">
            <a:extLst>
              <a:ext uri="{FF2B5EF4-FFF2-40B4-BE49-F238E27FC236}">
                <a16:creationId xmlns:a16="http://schemas.microsoft.com/office/drawing/2014/main" id="{231A2633-26D9-42A9-8989-D07D6BEE5E80}"/>
              </a:ext>
            </a:extLst>
          </p:cNvPr>
          <p:cNvSpPr/>
          <p:nvPr/>
        </p:nvSpPr>
        <p:spPr>
          <a:xfrm>
            <a:off x="9007833" y="1323204"/>
            <a:ext cx="1860605" cy="40413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‘Create Employee Resignation’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0076963-5F45-6C57-58D2-28CCAF01B3AD}"/>
              </a:ext>
            </a:extLst>
          </p:cNvPr>
          <p:cNvSpPr/>
          <p:nvPr/>
        </p:nvSpPr>
        <p:spPr>
          <a:xfrm>
            <a:off x="4969442" y="4021538"/>
            <a:ext cx="199624" cy="1845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01" name="Google Shape;295;g2b4e50f20d3_0_888">
            <a:extLst>
              <a:ext uri="{FF2B5EF4-FFF2-40B4-BE49-F238E27FC236}">
                <a16:creationId xmlns:a16="http://schemas.microsoft.com/office/drawing/2014/main" id="{CD0DA0C0-0D7B-A298-0007-B39298CF639D}"/>
              </a:ext>
            </a:extLst>
          </p:cNvPr>
          <p:cNvSpPr/>
          <p:nvPr/>
        </p:nvSpPr>
        <p:spPr>
          <a:xfrm>
            <a:off x="4617306" y="5007082"/>
            <a:ext cx="1177634" cy="3119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‘Edit’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02" name="Google Shape;296;g2b4e50f20d3_0_888">
            <a:extLst>
              <a:ext uri="{FF2B5EF4-FFF2-40B4-BE49-F238E27FC236}">
                <a16:creationId xmlns:a16="http://schemas.microsoft.com/office/drawing/2014/main" id="{3AFA0271-30BA-A276-5DAC-A56A4BFD71AD}"/>
              </a:ext>
            </a:extLst>
          </p:cNvPr>
          <p:cNvCxnSpPr>
            <a:cxnSpLocks/>
          </p:cNvCxnSpPr>
          <p:nvPr/>
        </p:nvCxnSpPr>
        <p:spPr>
          <a:xfrm>
            <a:off x="5106553" y="4206104"/>
            <a:ext cx="7649" cy="80186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7" grpId="0" animBg="1"/>
      <p:bldP spid="15" grpId="0" animBg="1"/>
      <p:bldP spid="16" grpId="0" animBg="1"/>
      <p:bldP spid="17" grpId="0" animBg="1"/>
      <p:bldP spid="20" grpId="0" animBg="1"/>
      <p:bldP spid="74" grpId="0" animBg="1"/>
      <p:bldP spid="77" grpId="0" animBg="1"/>
      <p:bldP spid="100" grpId="0" animBg="1"/>
      <p:bldP spid="10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97F649D-B6E4-825E-B619-5914E0CA3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237" y="1560435"/>
            <a:ext cx="5027702" cy="4691822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74716" y="842004"/>
            <a:ext cx="5907167" cy="32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</a:rPr>
              <a:t>2) </a:t>
            </a:r>
            <a:r>
              <a:rPr lang="en-MY" sz="1600" dirty="0" err="1">
                <a:solidFill>
                  <a:schemeClr val="tx1"/>
                </a:solidFill>
                <a:latin typeface="Calibri"/>
              </a:rPr>
              <a:t>Cont</a:t>
            </a:r>
            <a:r>
              <a:rPr lang="en-MY" sz="1600" dirty="0">
                <a:solidFill>
                  <a:schemeClr val="tx1"/>
                </a:solidFill>
                <a:latin typeface="Calibri"/>
              </a:rPr>
              <a:t> - Adding existing Employee’s Confirmation Date</a:t>
            </a:r>
            <a:endParaRPr lang="en-US" sz="1600" b="1" dirty="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16622" y="549037"/>
            <a:ext cx="2411068" cy="66665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74717" y="531946"/>
            <a:ext cx="6894944" cy="419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Service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Management - Employee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Confirmation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63376" y="2052839"/>
            <a:ext cx="4038071" cy="306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3" name="Google Shape;293;g2b4e50f20d3_0_888"/>
          <p:cNvSpPr/>
          <p:nvPr/>
        </p:nvSpPr>
        <p:spPr>
          <a:xfrm>
            <a:off x="8885529" y="2049263"/>
            <a:ext cx="2444353" cy="32433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‘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Profile’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4" name="Google Shape;294;g2b4e50f20d3_0_888"/>
          <p:cNvCxnSpPr>
            <a:cxnSpLocks/>
            <a:stCxn id="10" idx="3"/>
            <a:endCxn id="13" idx="1"/>
          </p:cNvCxnSpPr>
          <p:nvPr/>
        </p:nvCxnSpPr>
        <p:spPr>
          <a:xfrm>
            <a:off x="7601447" y="2205887"/>
            <a:ext cx="1284082" cy="554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Google Shape;295;g2b4e50f20d3_0_888"/>
          <p:cNvSpPr/>
          <p:nvPr/>
        </p:nvSpPr>
        <p:spPr>
          <a:xfrm>
            <a:off x="978267" y="5163615"/>
            <a:ext cx="2070215" cy="31616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rgbClr val="000000"/>
              </a:buClr>
            </a:pPr>
            <a:r>
              <a:rPr lang="en-MY" sz="11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lang="en-US" sz="1100">
                <a:latin typeface="Libre Franklin"/>
                <a:ea typeface="Libre Franklin"/>
                <a:cs typeface="Libre Franklin"/>
                <a:sym typeface="Libre Franklin"/>
              </a:rPr>
              <a:t>Click ‘Update’ once done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7" name="Google Shape;296;g2b4e50f20d3_0_888"/>
          <p:cNvCxnSpPr>
            <a:cxnSpLocks/>
            <a:stCxn id="6" idx="3"/>
            <a:endCxn id="8" idx="1"/>
          </p:cNvCxnSpPr>
          <p:nvPr/>
        </p:nvCxnSpPr>
        <p:spPr>
          <a:xfrm flipH="1" flipV="1">
            <a:off x="3042972" y="5299266"/>
            <a:ext cx="1769398" cy="7914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4799805" y="5908217"/>
            <a:ext cx="853572" cy="306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563376" y="2841438"/>
            <a:ext cx="4038071" cy="306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8" name="Google Shape;293;g2b4e50f20d3_0_888"/>
          <p:cNvSpPr/>
          <p:nvPr/>
        </p:nvSpPr>
        <p:spPr>
          <a:xfrm>
            <a:off x="8892583" y="2731196"/>
            <a:ext cx="2447684" cy="52750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</a:pPr>
            <a:r>
              <a:rPr lang="en-MY" sz="1100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</a:t>
            </a:r>
            <a:r>
              <a:rPr kumimoji="0" lang="en-MY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lang="en-US" sz="1100" dirty="0">
                <a:latin typeface="Libre Franklin"/>
                <a:ea typeface="Libre Franklin"/>
                <a:cs typeface="Libre Franklin"/>
                <a:sym typeface="Libre Franklin"/>
              </a:rPr>
              <a:t>Click icon 'Calendar' to insert Employee Confirmation Date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9" name="Google Shape;294;g2b4e50f20d3_0_888"/>
          <p:cNvCxnSpPr>
            <a:cxnSpLocks/>
            <a:stCxn id="27" idx="3"/>
            <a:endCxn id="28" idx="1"/>
          </p:cNvCxnSpPr>
          <p:nvPr/>
        </p:nvCxnSpPr>
        <p:spPr>
          <a:xfrm>
            <a:off x="7601447" y="2994486"/>
            <a:ext cx="1291136" cy="46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DC8DA6FA-4ADD-163E-8324-E1B45C3DD303}"/>
              </a:ext>
            </a:extLst>
          </p:cNvPr>
          <p:cNvSpPr/>
          <p:nvPr/>
        </p:nvSpPr>
        <p:spPr>
          <a:xfrm>
            <a:off x="6443234" y="5908217"/>
            <a:ext cx="775711" cy="306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50" name="Google Shape;295;g2b4e50f20d3_0_888">
            <a:extLst>
              <a:ext uri="{FF2B5EF4-FFF2-40B4-BE49-F238E27FC236}">
                <a16:creationId xmlns:a16="http://schemas.microsoft.com/office/drawing/2014/main" id="{BB9E2B4A-1BC0-94A3-F978-A1D74ED94EB9}"/>
              </a:ext>
            </a:extLst>
          </p:cNvPr>
          <p:cNvSpPr/>
          <p:nvPr/>
        </p:nvSpPr>
        <p:spPr>
          <a:xfrm>
            <a:off x="8885528" y="5163614"/>
            <a:ext cx="2448735" cy="31616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rgbClr val="000000"/>
              </a:buClr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lang="en-US" sz="1100">
                <a:latin typeface="Libre Franklin"/>
                <a:ea typeface="Libre Franklin"/>
                <a:cs typeface="Libre Franklin"/>
                <a:sym typeface="Libre Franklin"/>
              </a:rPr>
              <a:t>Click ‘Back’ once record saved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51" name="Google Shape;296;g2b4e50f20d3_0_888">
            <a:extLst>
              <a:ext uri="{FF2B5EF4-FFF2-40B4-BE49-F238E27FC236}">
                <a16:creationId xmlns:a16="http://schemas.microsoft.com/office/drawing/2014/main" id="{E8683F62-EC9C-CCEA-3353-87E712322EC3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 flipV="1">
            <a:off x="7218945" y="5321699"/>
            <a:ext cx="1666583" cy="7395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6" grpId="0" animBg="1"/>
      <p:bldP spid="8" grpId="0" animBg="1"/>
      <p:bldP spid="27" grpId="0" animBg="1"/>
      <p:bldP spid="28" grpId="0" animBg="1"/>
      <p:bldP spid="49" grpId="0" animBg="1"/>
      <p:bldP spid="5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B3328B91-FA4F-5D74-5818-FCD45B615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0A41F-2FBB-9AA1-7D3B-39CA15FA9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255" y="2925604"/>
            <a:ext cx="8244780" cy="1931508"/>
          </a:xfrm>
          <a:prstGeom prst="rect">
            <a:avLst/>
          </a:prstGeom>
        </p:spPr>
      </p:pic>
      <p:sp>
        <p:nvSpPr>
          <p:cNvPr id="291" name="Google Shape;291;g2b4e50f20d3_0_888">
            <a:extLst>
              <a:ext uri="{FF2B5EF4-FFF2-40B4-BE49-F238E27FC236}">
                <a16:creationId xmlns:a16="http://schemas.microsoft.com/office/drawing/2014/main" id="{EA105674-514A-53CB-9328-A0B1C1BB2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9653" y="820189"/>
            <a:ext cx="7320135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1) Adding the existing Employee’s Resignation Date</a:t>
            </a:r>
            <a:endParaRPr sz="1600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EF734062-6CB6-CD22-D079-FBF5BFFCFA63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244860" y="553203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8D41FC6B-B2CB-8DCB-4DF0-ADFB8D747D24}"/>
              </a:ext>
            </a:extLst>
          </p:cNvPr>
          <p:cNvSpPr txBox="1"/>
          <p:nvPr/>
        </p:nvSpPr>
        <p:spPr>
          <a:xfrm>
            <a:off x="367674" y="534843"/>
            <a:ext cx="684167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lang="en-MY" sz="1800" b="1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Service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Management - Employee</a:t>
            </a: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Resignation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AC3F73B-F4B1-D76D-E6E6-4AA556CB7483}"/>
              </a:ext>
            </a:extLst>
          </p:cNvPr>
          <p:cNvSpPr/>
          <p:nvPr/>
        </p:nvSpPr>
        <p:spPr>
          <a:xfrm>
            <a:off x="2495869" y="3967701"/>
            <a:ext cx="199624" cy="1845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01" name="Google Shape;295;g2b4e50f20d3_0_888">
            <a:extLst>
              <a:ext uri="{FF2B5EF4-FFF2-40B4-BE49-F238E27FC236}">
                <a16:creationId xmlns:a16="http://schemas.microsoft.com/office/drawing/2014/main" id="{DC998756-B0C8-12A8-2046-34544A7EA681}"/>
              </a:ext>
            </a:extLst>
          </p:cNvPr>
          <p:cNvSpPr/>
          <p:nvPr/>
        </p:nvSpPr>
        <p:spPr>
          <a:xfrm>
            <a:off x="2006864" y="4857112"/>
            <a:ext cx="1177634" cy="3119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‘Edit’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02" name="Google Shape;296;g2b4e50f20d3_0_888">
            <a:extLst>
              <a:ext uri="{FF2B5EF4-FFF2-40B4-BE49-F238E27FC236}">
                <a16:creationId xmlns:a16="http://schemas.microsoft.com/office/drawing/2014/main" id="{79470A98-9E4C-74A9-E601-0B19FAC7D9CD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>
            <a:off x="2595681" y="4152267"/>
            <a:ext cx="0" cy="70484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21706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4C6B2A1-0BEF-0CF7-5653-0A6D6F428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611" y="1740664"/>
            <a:ext cx="4841251" cy="4584012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60963" y="821199"/>
            <a:ext cx="4524426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2) Adding Employee Resignation Date Details</a:t>
            </a:r>
            <a:endParaRPr lang="en-US" sz="16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55533" y="554459"/>
            <a:ext cx="2562651" cy="6942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4" name="Google Shape;294;g2b4e50f20d3_0_888"/>
          <p:cNvCxnSpPr>
            <a:cxnSpLocks/>
            <a:stCxn id="15" idx="3"/>
            <a:endCxn id="10" idx="1"/>
          </p:cNvCxnSpPr>
          <p:nvPr/>
        </p:nvCxnSpPr>
        <p:spPr>
          <a:xfrm flipV="1">
            <a:off x="7665056" y="2960720"/>
            <a:ext cx="905977" cy="58651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60963" y="539403"/>
            <a:ext cx="6922722" cy="41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Service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Management - Employee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Resignation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45686" y="3393703"/>
            <a:ext cx="3919370" cy="307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0" name="Google Shape;295;g2b4e50f20d3_0_888"/>
          <p:cNvSpPr/>
          <p:nvPr/>
        </p:nvSpPr>
        <p:spPr>
          <a:xfrm>
            <a:off x="8571033" y="2710160"/>
            <a:ext cx="2450815" cy="50111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icon ‘Calendar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to insert the 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</a:t>
            </a:r>
            <a:r>
              <a:rPr kumimoji="0" lang="en-MY" sz="11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mployee’s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Resignation Date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1" name="Google Shape;296;g2b4e50f20d3_0_888"/>
          <p:cNvCxnSpPr>
            <a:cxnSpLocks/>
            <a:stCxn id="29" idx="1"/>
            <a:endCxn id="13" idx="3"/>
          </p:cNvCxnSpPr>
          <p:nvPr/>
        </p:nvCxnSpPr>
        <p:spPr>
          <a:xfrm flipH="1" flipV="1">
            <a:off x="3125120" y="5326571"/>
            <a:ext cx="1788785" cy="84457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295;g2b4e50f20d3_0_888"/>
          <p:cNvSpPr/>
          <p:nvPr/>
        </p:nvSpPr>
        <p:spPr>
          <a:xfrm>
            <a:off x="1141650" y="5172142"/>
            <a:ext cx="1983470" cy="30885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</a:t>
            </a:r>
            <a:r>
              <a:rPr kumimoji="0" lang="en-US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‘Save’ once done</a:t>
            </a:r>
          </a:p>
        </p:txBody>
      </p:sp>
      <p:cxnSp>
        <p:nvCxnSpPr>
          <p:cNvPr id="17" name="Google Shape;294;g2b4e50f20d3_0_888"/>
          <p:cNvCxnSpPr>
            <a:cxnSpLocks/>
            <a:stCxn id="24" idx="3"/>
            <a:endCxn id="18" idx="1"/>
          </p:cNvCxnSpPr>
          <p:nvPr/>
        </p:nvCxnSpPr>
        <p:spPr>
          <a:xfrm flipV="1">
            <a:off x="7665056" y="4458814"/>
            <a:ext cx="905978" cy="24911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295;g2b4e50f20d3_0_888"/>
          <p:cNvSpPr/>
          <p:nvPr/>
        </p:nvSpPr>
        <p:spPr>
          <a:xfrm>
            <a:off x="8571034" y="4304385"/>
            <a:ext cx="2450815" cy="30885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</a:t>
            </a:r>
            <a:r>
              <a:rPr kumimoji="0" lang="en-MY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Select ‘Resign’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43B91C-BFA1-4A88-A851-C4C69B732EDE}"/>
              </a:ext>
            </a:extLst>
          </p:cNvPr>
          <p:cNvSpPr/>
          <p:nvPr/>
        </p:nvSpPr>
        <p:spPr>
          <a:xfrm>
            <a:off x="3745686" y="4575635"/>
            <a:ext cx="3919370" cy="2645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E8CD98-DEC2-4FF6-A872-4E3C403A167E}"/>
              </a:ext>
            </a:extLst>
          </p:cNvPr>
          <p:cNvSpPr/>
          <p:nvPr/>
        </p:nvSpPr>
        <p:spPr>
          <a:xfrm>
            <a:off x="4913905" y="6017610"/>
            <a:ext cx="834887" cy="3070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987D10D-DD6F-A424-59E8-3395538B6F62}"/>
              </a:ext>
            </a:extLst>
          </p:cNvPr>
          <p:cNvSpPr/>
          <p:nvPr/>
        </p:nvSpPr>
        <p:spPr>
          <a:xfrm>
            <a:off x="6543923" y="6017609"/>
            <a:ext cx="747163" cy="3070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56" name="Google Shape;295;g2b4e50f20d3_0_888">
            <a:extLst>
              <a:ext uri="{FF2B5EF4-FFF2-40B4-BE49-F238E27FC236}">
                <a16:creationId xmlns:a16="http://schemas.microsoft.com/office/drawing/2014/main" id="{EF69CC37-487A-03EA-43B8-DF7360DAC08C}"/>
              </a:ext>
            </a:extLst>
          </p:cNvPr>
          <p:cNvSpPr/>
          <p:nvPr/>
        </p:nvSpPr>
        <p:spPr>
          <a:xfrm>
            <a:off x="8571035" y="5514204"/>
            <a:ext cx="2466228" cy="33009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US" sz="11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</a:t>
            </a: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‘Back’ once record</a:t>
            </a:r>
            <a:r>
              <a:rPr kumimoji="0" lang="en-US" sz="11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saved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57" name="Google Shape;296;g2b4e50f20d3_0_888">
            <a:extLst>
              <a:ext uri="{FF2B5EF4-FFF2-40B4-BE49-F238E27FC236}">
                <a16:creationId xmlns:a16="http://schemas.microsoft.com/office/drawing/2014/main" id="{6EDC0CBB-6911-9ABC-F9BA-791C2156F23E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 flipV="1">
            <a:off x="7291086" y="5679250"/>
            <a:ext cx="1279949" cy="49189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" grpId="0" animBg="1"/>
      <p:bldP spid="13" grpId="0" animBg="1"/>
      <p:bldP spid="18" grpId="0" animBg="1"/>
      <p:bldP spid="24" grpId="0" animBg="1"/>
      <p:bldP spid="29" grpId="0" animBg="1"/>
      <p:bldP spid="55" grpId="0" animBg="1"/>
      <p:bldP spid="5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390FF972-2A25-FE22-4FD7-570727C12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641" y="2150580"/>
            <a:ext cx="8569827" cy="4041321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5515" y="828992"/>
            <a:ext cx="7543350" cy="397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1) Access 'Employee Management' &gt; Access 'Status' &gt; Access 'Increment/Promotion'</a:t>
            </a:r>
            <a:endParaRPr lang="en-US" sz="16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58727" y="553047"/>
            <a:ext cx="2351095" cy="6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4e50f20d3_0_888"/>
          <p:cNvSpPr/>
          <p:nvPr/>
        </p:nvSpPr>
        <p:spPr>
          <a:xfrm>
            <a:off x="340634" y="2692850"/>
            <a:ext cx="2029750" cy="44783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1- Access ‘Employee Management’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94" name="Google Shape;294;g2b4e50f20d3_0_888"/>
          <p:cNvCxnSpPr>
            <a:cxnSpLocks/>
            <a:stCxn id="15" idx="1"/>
            <a:endCxn id="293" idx="3"/>
          </p:cNvCxnSpPr>
          <p:nvPr/>
        </p:nvCxnSpPr>
        <p:spPr>
          <a:xfrm flipH="1" flipV="1">
            <a:off x="2370384" y="2916767"/>
            <a:ext cx="805257" cy="36390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67288" y="542976"/>
            <a:ext cx="8028238" cy="39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Service Management - Employee Increment</a:t>
            </a: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354744" y="3982909"/>
            <a:ext cx="2015639" cy="37064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2- Access ‘Status</a:t>
            </a:r>
            <a:r>
              <a:rPr lang="en-MY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  <a:stCxn id="16" idx="1"/>
            <a:endCxn id="7" idx="3"/>
          </p:cNvCxnSpPr>
          <p:nvPr/>
        </p:nvCxnSpPr>
        <p:spPr>
          <a:xfrm flipH="1" flipV="1">
            <a:off x="2370383" y="4168230"/>
            <a:ext cx="805257" cy="51539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3175641" y="3153789"/>
            <a:ext cx="1466126" cy="253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75640" y="4556739"/>
            <a:ext cx="1466127" cy="253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6" name="Google Shape;296;g2b4e50f20d3_0_888"/>
          <p:cNvCxnSpPr>
            <a:cxnSpLocks/>
            <a:stCxn id="9" idx="1"/>
            <a:endCxn id="10" idx="3"/>
          </p:cNvCxnSpPr>
          <p:nvPr/>
        </p:nvCxnSpPr>
        <p:spPr>
          <a:xfrm flipH="1">
            <a:off x="2370383" y="5191687"/>
            <a:ext cx="805258" cy="10520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Rectangle 8"/>
          <p:cNvSpPr/>
          <p:nvPr/>
        </p:nvSpPr>
        <p:spPr>
          <a:xfrm>
            <a:off x="3175641" y="5064800"/>
            <a:ext cx="1466126" cy="253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0" name="Google Shape;295;g2b4e50f20d3_0_888"/>
          <p:cNvSpPr/>
          <p:nvPr/>
        </p:nvSpPr>
        <p:spPr>
          <a:xfrm>
            <a:off x="354744" y="5069444"/>
            <a:ext cx="2015639" cy="45488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3- Access ‘Increment/Promotion’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7" grpId="0" animBg="1"/>
      <p:bldP spid="15" grpId="0" animBg="1"/>
      <p:bldP spid="16" grpId="0" animBg="1"/>
      <p:bldP spid="9" grpId="0" animBg="1"/>
      <p:bldP spid="1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F3C938-EE26-469F-B26A-2FE199827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47" y="3239478"/>
            <a:ext cx="10422082" cy="1751788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68807" y="922272"/>
            <a:ext cx="4554394" cy="337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1) Create a New Employee Increment</a:t>
            </a:r>
            <a:endParaRPr lang="en-US" sz="16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09568" y="549037"/>
            <a:ext cx="2396957" cy="63138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67660" y="556917"/>
            <a:ext cx="6944335" cy="428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Service 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Management</a:t>
            </a:r>
            <a:r>
              <a:rPr kumimoji="0" lang="en-MY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- Employee Increment</a:t>
            </a:r>
            <a:endParaRPr kumimoji="0" lang="en-MY" sz="20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17339" y="3782700"/>
            <a:ext cx="1447890" cy="313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3" name="Google Shape;293;g2b4e50f20d3_0_888"/>
          <p:cNvSpPr/>
          <p:nvPr/>
        </p:nvSpPr>
        <p:spPr>
          <a:xfrm>
            <a:off x="9003927" y="2366248"/>
            <a:ext cx="2655736" cy="31381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4- Click ‘Create Employee Increment’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4" name="Google Shape;294;g2b4e50f20d3_0_888"/>
          <p:cNvCxnSpPr>
            <a:cxnSpLocks/>
            <a:stCxn id="10" idx="0"/>
            <a:endCxn id="13" idx="2"/>
          </p:cNvCxnSpPr>
          <p:nvPr/>
        </p:nvCxnSpPr>
        <p:spPr>
          <a:xfrm flipH="1" flipV="1">
            <a:off x="10331795" y="2680060"/>
            <a:ext cx="9489" cy="110264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95895C-CF41-FEFE-2A37-2CBB651D9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721" y="1810659"/>
            <a:ext cx="6515582" cy="4375243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39437" y="838252"/>
            <a:ext cx="4122112" cy="400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2) Adding Employee Increment Details</a:t>
            </a:r>
            <a:endParaRPr lang="en-US" sz="16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738946" y="549947"/>
            <a:ext cx="2255846" cy="610217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4e50f20d3_0_888"/>
          <p:cNvSpPr/>
          <p:nvPr/>
        </p:nvSpPr>
        <p:spPr>
          <a:xfrm>
            <a:off x="9001365" y="2124561"/>
            <a:ext cx="2367573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5- Search for Employee Profile</a:t>
            </a:r>
          </a:p>
        </p:txBody>
      </p:sp>
      <p:cxnSp>
        <p:nvCxnSpPr>
          <p:cNvPr id="294" name="Google Shape;294;g2b4e50f20d3_0_888"/>
          <p:cNvCxnSpPr>
            <a:cxnSpLocks/>
            <a:stCxn id="15" idx="3"/>
            <a:endCxn id="293" idx="1"/>
          </p:cNvCxnSpPr>
          <p:nvPr/>
        </p:nvCxnSpPr>
        <p:spPr>
          <a:xfrm flipV="1">
            <a:off x="7636254" y="2335461"/>
            <a:ext cx="1365111" cy="4135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46493" y="549339"/>
            <a:ext cx="6457500" cy="4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Service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Management - Employee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Increment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377440" y="2555260"/>
            <a:ext cx="5258814" cy="387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3" name="Google Shape;293;g2b4e50f20d3_0_888"/>
          <p:cNvSpPr/>
          <p:nvPr/>
        </p:nvSpPr>
        <p:spPr>
          <a:xfrm>
            <a:off x="9026334" y="2986913"/>
            <a:ext cx="2335548" cy="53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6- Select Effective Date and Time from Calendar selection</a:t>
            </a:r>
          </a:p>
        </p:txBody>
      </p:sp>
      <p:cxnSp>
        <p:nvCxnSpPr>
          <p:cNvPr id="16" name="Google Shape;294;g2b4e50f20d3_0_888"/>
          <p:cNvCxnSpPr>
            <a:cxnSpLocks/>
            <a:stCxn id="17" idx="3"/>
            <a:endCxn id="13" idx="1"/>
          </p:cNvCxnSpPr>
          <p:nvPr/>
        </p:nvCxnSpPr>
        <p:spPr>
          <a:xfrm flipV="1">
            <a:off x="7636254" y="3253163"/>
            <a:ext cx="1390080" cy="1182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2377440" y="3071238"/>
            <a:ext cx="5258814" cy="3874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3" name="Google Shape;293;g2b4e50f20d3_0_888"/>
          <p:cNvSpPr/>
          <p:nvPr/>
        </p:nvSpPr>
        <p:spPr>
          <a:xfrm>
            <a:off x="8959146" y="4556068"/>
            <a:ext cx="2745298" cy="53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7- Select Type of Increment </a:t>
            </a:r>
            <a:b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(For new joiner must select ‘new join’)</a:t>
            </a:r>
          </a:p>
        </p:txBody>
      </p:sp>
      <p:cxnSp>
        <p:nvCxnSpPr>
          <p:cNvPr id="24" name="Google Shape;294;g2b4e50f20d3_0_888"/>
          <p:cNvCxnSpPr>
            <a:cxnSpLocks/>
            <a:stCxn id="25" idx="3"/>
            <a:endCxn id="23" idx="1"/>
          </p:cNvCxnSpPr>
          <p:nvPr/>
        </p:nvCxnSpPr>
        <p:spPr>
          <a:xfrm>
            <a:off x="7636254" y="4822318"/>
            <a:ext cx="132289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2377440" y="3582164"/>
            <a:ext cx="5258814" cy="2480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15" grpId="0" animBg="1"/>
      <p:bldP spid="13" grpId="0" animBg="1"/>
      <p:bldP spid="17" grpId="0" animBg="1"/>
      <p:bldP spid="23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3E3FD1-1FA4-F589-07DF-FC91FCED8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806" y="1431453"/>
            <a:ext cx="4585944" cy="5031637"/>
          </a:xfrm>
          <a:prstGeom prst="rect">
            <a:avLst/>
          </a:prstGeom>
        </p:spPr>
      </p:pic>
      <p:sp>
        <p:nvSpPr>
          <p:cNvPr id="291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53061" y="849888"/>
            <a:ext cx="6966618" cy="38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3) </a:t>
            </a:r>
            <a:r>
              <a:rPr lang="en-US" sz="1600" dirty="0" err="1">
                <a:solidFill>
                  <a:schemeClr val="tx1"/>
                </a:solidFill>
                <a:latin typeface="Calibri"/>
                <a:cs typeface="Calibri"/>
              </a:rPr>
              <a:t>Cont</a:t>
            </a:r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 - Adding Increment details (For New Joiner)</a:t>
            </a:r>
            <a:endParaRPr lang="en-US" sz="1600" b="1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20284" y="547938"/>
            <a:ext cx="2505877" cy="68694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b4e50f20d3_0_888"/>
          <p:cNvSpPr/>
          <p:nvPr/>
        </p:nvSpPr>
        <p:spPr>
          <a:xfrm>
            <a:off x="8995374" y="1574472"/>
            <a:ext cx="2959349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9- Old salary will appear corresponding to Employee Profile selected</a:t>
            </a:r>
          </a:p>
        </p:txBody>
      </p:sp>
      <p:cxnSp>
        <p:nvCxnSpPr>
          <p:cNvPr id="294" name="Google Shape;294;g2b4e50f20d3_0_888"/>
          <p:cNvCxnSpPr>
            <a:cxnSpLocks/>
            <a:stCxn id="15" idx="3"/>
            <a:endCxn id="293" idx="1"/>
          </p:cNvCxnSpPr>
          <p:nvPr/>
        </p:nvCxnSpPr>
        <p:spPr>
          <a:xfrm flipV="1">
            <a:off x="8159385" y="1785372"/>
            <a:ext cx="835989" cy="2249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" name="Google Shape;282;g2b4e50f20d3_0_902"/>
          <p:cNvSpPr txBox="1"/>
          <p:nvPr/>
        </p:nvSpPr>
        <p:spPr>
          <a:xfrm>
            <a:off x="364967" y="550820"/>
            <a:ext cx="7094634" cy="41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Service </a:t>
            </a:r>
            <a:r>
              <a:rPr lang="en-MY" sz="1800" b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Management -</a:t>
            </a: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 Increment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754652" y="1874975"/>
            <a:ext cx="4404733" cy="270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Google Shape;293;g2b4e50f20d3_0_888"/>
          <p:cNvSpPr/>
          <p:nvPr/>
        </p:nvSpPr>
        <p:spPr>
          <a:xfrm>
            <a:off x="8995374" y="2277133"/>
            <a:ext cx="2935398" cy="4555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11-  Will auto prompt ‘0.00’.</a:t>
            </a:r>
          </a:p>
        </p:txBody>
      </p:sp>
      <p:cxnSp>
        <p:nvCxnSpPr>
          <p:cNvPr id="16" name="Google Shape;294;g2b4e50f20d3_0_888"/>
          <p:cNvCxnSpPr>
            <a:cxnSpLocks/>
            <a:stCxn id="74" idx="3"/>
            <a:endCxn id="13" idx="1"/>
          </p:cNvCxnSpPr>
          <p:nvPr/>
        </p:nvCxnSpPr>
        <p:spPr>
          <a:xfrm flipV="1">
            <a:off x="8145954" y="2504920"/>
            <a:ext cx="849420" cy="69214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3778848" y="2669599"/>
            <a:ext cx="4367106" cy="27089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Google Shape;293;g2b4e50f20d3_0_888"/>
          <p:cNvSpPr/>
          <p:nvPr/>
        </p:nvSpPr>
        <p:spPr>
          <a:xfrm>
            <a:off x="9049400" y="2989586"/>
            <a:ext cx="3038547" cy="53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12- Old Job Grade will appear corresponding to Employee Profile selected</a:t>
            </a:r>
          </a:p>
        </p:txBody>
      </p:sp>
      <p:cxnSp>
        <p:nvCxnSpPr>
          <p:cNvPr id="19" name="Google Shape;294;g2b4e50f20d3_0_888"/>
          <p:cNvCxnSpPr>
            <a:cxnSpLocks/>
            <a:stCxn id="20" idx="3"/>
            <a:endCxn id="18" idx="1"/>
          </p:cNvCxnSpPr>
          <p:nvPr/>
        </p:nvCxnSpPr>
        <p:spPr>
          <a:xfrm flipV="1">
            <a:off x="8145953" y="3255836"/>
            <a:ext cx="903447" cy="34054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3778848" y="3463235"/>
            <a:ext cx="4367105" cy="2662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Google Shape;293;g2b4e50f20d3_0_888"/>
          <p:cNvSpPr/>
          <p:nvPr/>
        </p:nvSpPr>
        <p:spPr>
          <a:xfrm>
            <a:off x="519818" y="5119845"/>
            <a:ext cx="2092723" cy="35839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17- Update if applicable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54652" y="4620092"/>
            <a:ext cx="4367102" cy="2758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78849" y="5002491"/>
            <a:ext cx="4367102" cy="27137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Google Shape;293;g2b4e50f20d3_0_888"/>
          <p:cNvSpPr/>
          <p:nvPr/>
        </p:nvSpPr>
        <p:spPr>
          <a:xfrm>
            <a:off x="9049401" y="4662265"/>
            <a:ext cx="3038547" cy="53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14- Old Job Title will appear corresponding to Employee Profile selected</a:t>
            </a:r>
          </a:p>
        </p:txBody>
      </p:sp>
      <p:cxnSp>
        <p:nvCxnSpPr>
          <p:cNvPr id="48" name="Google Shape;294;g2b4e50f20d3_0_888"/>
          <p:cNvCxnSpPr>
            <a:cxnSpLocks/>
            <a:stCxn id="49" idx="3"/>
            <a:endCxn id="47" idx="1"/>
          </p:cNvCxnSpPr>
          <p:nvPr/>
        </p:nvCxnSpPr>
        <p:spPr>
          <a:xfrm>
            <a:off x="8121753" y="4376677"/>
            <a:ext cx="927648" cy="55183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9" name="Rectangle 48"/>
          <p:cNvSpPr/>
          <p:nvPr/>
        </p:nvSpPr>
        <p:spPr>
          <a:xfrm>
            <a:off x="3754652" y="4254172"/>
            <a:ext cx="4367101" cy="2450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6" name="Google Shape;294;g2b4e50f20d3_0_888"/>
          <p:cNvCxnSpPr>
            <a:cxnSpLocks/>
            <a:stCxn id="62" idx="1"/>
            <a:endCxn id="23" idx="3"/>
          </p:cNvCxnSpPr>
          <p:nvPr/>
        </p:nvCxnSpPr>
        <p:spPr>
          <a:xfrm flipH="1" flipV="1">
            <a:off x="2612541" y="5299041"/>
            <a:ext cx="1166308" cy="2096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9" name="Google Shape;294;g2b4e50f20d3_0_888"/>
          <p:cNvCxnSpPr>
            <a:cxnSpLocks/>
            <a:stCxn id="256" idx="1"/>
            <a:endCxn id="23" idx="3"/>
          </p:cNvCxnSpPr>
          <p:nvPr/>
        </p:nvCxnSpPr>
        <p:spPr>
          <a:xfrm flipH="1" flipV="1">
            <a:off x="2612541" y="5299041"/>
            <a:ext cx="1166308" cy="78815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" name="Rectangle 61"/>
          <p:cNvSpPr/>
          <p:nvPr/>
        </p:nvSpPr>
        <p:spPr>
          <a:xfrm>
            <a:off x="3778849" y="5373016"/>
            <a:ext cx="4367102" cy="2713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754653" y="3850444"/>
            <a:ext cx="4391298" cy="3067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6" name="Rectangle 255"/>
          <p:cNvSpPr/>
          <p:nvPr/>
        </p:nvSpPr>
        <p:spPr>
          <a:xfrm>
            <a:off x="3778849" y="5743542"/>
            <a:ext cx="4367104" cy="687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A2DDD30-F64C-4AC7-8579-7DD4FE0E352E}"/>
              </a:ext>
            </a:extLst>
          </p:cNvPr>
          <p:cNvSpPr/>
          <p:nvPr/>
        </p:nvSpPr>
        <p:spPr>
          <a:xfrm>
            <a:off x="3778848" y="3041583"/>
            <a:ext cx="4367106" cy="310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0099FFE-F736-4E9F-88F7-0AC09F9BF579}"/>
              </a:ext>
            </a:extLst>
          </p:cNvPr>
          <p:cNvSpPr/>
          <p:nvPr/>
        </p:nvSpPr>
        <p:spPr>
          <a:xfrm>
            <a:off x="3777976" y="2256321"/>
            <a:ext cx="4367106" cy="288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Google Shape;293;g2b4e50f20d3_0_888">
            <a:extLst>
              <a:ext uri="{FF2B5EF4-FFF2-40B4-BE49-F238E27FC236}">
                <a16:creationId xmlns:a16="http://schemas.microsoft.com/office/drawing/2014/main" id="{0CF16FF0-5FFB-4608-A99D-5A165AB29B9E}"/>
              </a:ext>
            </a:extLst>
          </p:cNvPr>
          <p:cNvSpPr/>
          <p:nvPr/>
        </p:nvSpPr>
        <p:spPr>
          <a:xfrm>
            <a:off x="9038172" y="3863515"/>
            <a:ext cx="3038547" cy="53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13- Select New Job Grade as same old Job Grade</a:t>
            </a:r>
          </a:p>
        </p:txBody>
      </p:sp>
      <p:sp>
        <p:nvSpPr>
          <p:cNvPr id="77" name="Google Shape;293;g2b4e50f20d3_0_888">
            <a:extLst>
              <a:ext uri="{FF2B5EF4-FFF2-40B4-BE49-F238E27FC236}">
                <a16:creationId xmlns:a16="http://schemas.microsoft.com/office/drawing/2014/main" id="{6D6B5C54-832E-4D37-BEA5-A6D35C72FF2E}"/>
              </a:ext>
            </a:extLst>
          </p:cNvPr>
          <p:cNvSpPr/>
          <p:nvPr/>
        </p:nvSpPr>
        <p:spPr>
          <a:xfrm>
            <a:off x="9071859" y="5477292"/>
            <a:ext cx="3038547" cy="53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15- Select New Job Tittle as same Old Job Tittle</a:t>
            </a:r>
          </a:p>
        </p:txBody>
      </p:sp>
      <p:cxnSp>
        <p:nvCxnSpPr>
          <p:cNvPr id="78" name="Google Shape;294;g2b4e50f20d3_0_888">
            <a:extLst>
              <a:ext uri="{FF2B5EF4-FFF2-40B4-BE49-F238E27FC236}">
                <a16:creationId xmlns:a16="http://schemas.microsoft.com/office/drawing/2014/main" id="{31BC6029-0916-4588-9539-7BD30A1F93BE}"/>
              </a:ext>
            </a:extLst>
          </p:cNvPr>
          <p:cNvCxnSpPr>
            <a:cxnSpLocks/>
            <a:stCxn id="63" idx="3"/>
            <a:endCxn id="76" idx="1"/>
          </p:cNvCxnSpPr>
          <p:nvPr/>
        </p:nvCxnSpPr>
        <p:spPr>
          <a:xfrm>
            <a:off x="8145951" y="4003831"/>
            <a:ext cx="892221" cy="12593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9" name="Google Shape;294;g2b4e50f20d3_0_888">
            <a:extLst>
              <a:ext uri="{FF2B5EF4-FFF2-40B4-BE49-F238E27FC236}">
                <a16:creationId xmlns:a16="http://schemas.microsoft.com/office/drawing/2014/main" id="{05F682F3-B406-4872-9FA6-41F39D47368D}"/>
              </a:ext>
            </a:extLst>
          </p:cNvPr>
          <p:cNvCxnSpPr>
            <a:cxnSpLocks/>
            <a:stCxn id="25" idx="3"/>
            <a:endCxn id="77" idx="1"/>
          </p:cNvCxnSpPr>
          <p:nvPr/>
        </p:nvCxnSpPr>
        <p:spPr>
          <a:xfrm>
            <a:off x="8121754" y="4758029"/>
            <a:ext cx="950105" cy="98551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g2b4e50f20d3_0_888">
            <a:extLst>
              <a:ext uri="{FF2B5EF4-FFF2-40B4-BE49-F238E27FC236}">
                <a16:creationId xmlns:a16="http://schemas.microsoft.com/office/drawing/2014/main" id="{3F274223-653E-9E73-6B61-466DA81A48D6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 flipV="1">
            <a:off x="8145954" y="2504920"/>
            <a:ext cx="849420" cy="30012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" name="Google Shape;294;g2b4e50f20d3_0_888">
            <a:extLst>
              <a:ext uri="{FF2B5EF4-FFF2-40B4-BE49-F238E27FC236}">
                <a16:creationId xmlns:a16="http://schemas.microsoft.com/office/drawing/2014/main" id="{1BED7EF2-86F1-B2C2-ED6A-2232D1151F31}"/>
              </a:ext>
            </a:extLst>
          </p:cNvPr>
          <p:cNvCxnSpPr>
            <a:cxnSpLocks/>
            <a:stCxn id="71" idx="1"/>
            <a:endCxn id="33" idx="3"/>
          </p:cNvCxnSpPr>
          <p:nvPr/>
        </p:nvCxnSpPr>
        <p:spPr>
          <a:xfrm flipH="1" flipV="1">
            <a:off x="3206792" y="2095081"/>
            <a:ext cx="571184" cy="30525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" name="Google Shape;293;g2b4e50f20d3_0_888">
            <a:extLst>
              <a:ext uri="{FF2B5EF4-FFF2-40B4-BE49-F238E27FC236}">
                <a16:creationId xmlns:a16="http://schemas.microsoft.com/office/drawing/2014/main" id="{490E30BE-4355-CB8A-3EF4-75BD9E0BC486}"/>
              </a:ext>
            </a:extLst>
          </p:cNvPr>
          <p:cNvSpPr/>
          <p:nvPr/>
        </p:nvSpPr>
        <p:spPr>
          <a:xfrm>
            <a:off x="366505" y="1788931"/>
            <a:ext cx="2840287" cy="61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New salary will appear corresponding to Increment/Promotion</a:t>
            </a:r>
            <a:r>
              <a:rPr kumimoji="0" lang="en-US" sz="11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inserted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" name="Google Shape;293;g2b4e50f20d3_0_888">
            <a:extLst>
              <a:ext uri="{FF2B5EF4-FFF2-40B4-BE49-F238E27FC236}">
                <a16:creationId xmlns:a16="http://schemas.microsoft.com/office/drawing/2014/main" id="{47D292E6-4AB5-121E-EC53-3DD336C1DC00}"/>
              </a:ext>
            </a:extLst>
          </p:cNvPr>
          <p:cNvSpPr/>
          <p:nvPr/>
        </p:nvSpPr>
        <p:spPr>
          <a:xfrm>
            <a:off x="353131" y="3594981"/>
            <a:ext cx="2692333" cy="61850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16- Old Appraisal will appear corresponding</a:t>
            </a:r>
            <a:r>
              <a:rPr kumimoji="0" lang="en-US" sz="11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to Employee Profile selected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8" name="Google Shape;294;g2b4e50f20d3_0_888">
            <a:extLst>
              <a:ext uri="{FF2B5EF4-FFF2-40B4-BE49-F238E27FC236}">
                <a16:creationId xmlns:a16="http://schemas.microsoft.com/office/drawing/2014/main" id="{CACA2B03-6BCF-2FA0-2E15-5F1AE1E0A15C}"/>
              </a:ext>
            </a:extLst>
          </p:cNvPr>
          <p:cNvCxnSpPr>
            <a:cxnSpLocks/>
            <a:stCxn id="43" idx="1"/>
            <a:endCxn id="35" idx="3"/>
          </p:cNvCxnSpPr>
          <p:nvPr/>
        </p:nvCxnSpPr>
        <p:spPr>
          <a:xfrm flipH="1" flipV="1">
            <a:off x="3045464" y="3904234"/>
            <a:ext cx="733385" cy="123394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3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" grpId="0" animBg="1"/>
      <p:bldP spid="15" grpId="0" animBg="1"/>
      <p:bldP spid="13" grpId="0" animBg="1"/>
      <p:bldP spid="17" grpId="0" animBg="1"/>
      <p:bldP spid="18" grpId="0" animBg="1"/>
      <p:bldP spid="20" grpId="0" animBg="1"/>
      <p:bldP spid="23" grpId="0" animBg="1"/>
      <p:bldP spid="25" grpId="0" animBg="1"/>
      <p:bldP spid="43" grpId="0" animBg="1"/>
      <p:bldP spid="47" grpId="0" animBg="1"/>
      <p:bldP spid="49" grpId="0" animBg="1"/>
      <p:bldP spid="62" grpId="0" animBg="1"/>
      <p:bldP spid="63" grpId="0" animBg="1"/>
      <p:bldP spid="256" grpId="0" animBg="1"/>
      <p:bldP spid="74" grpId="0" animBg="1"/>
      <p:bldP spid="71" grpId="0" animBg="1"/>
      <p:bldP spid="76" grpId="0" animBg="1"/>
      <p:bldP spid="77" grpId="0" animBg="1"/>
      <p:bldP spid="33" grpId="0" animBg="1"/>
      <p:bldP spid="3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5795A-66DC-76B0-877D-2B784D7D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80B5D4-B00C-2625-571E-6257C4052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06" y="3205600"/>
            <a:ext cx="9022080" cy="1193933"/>
          </a:xfrm>
          <a:prstGeom prst="rect">
            <a:avLst/>
          </a:prstGeom>
        </p:spPr>
      </p:pic>
      <p:sp>
        <p:nvSpPr>
          <p:cNvPr id="6" name="Google Shape;282;g2b4e50f20d3_0_902">
            <a:extLst>
              <a:ext uri="{FF2B5EF4-FFF2-40B4-BE49-F238E27FC236}">
                <a16:creationId xmlns:a16="http://schemas.microsoft.com/office/drawing/2014/main" id="{DE7F7593-DF84-E49B-E87D-4671E70A9430}"/>
              </a:ext>
            </a:extLst>
          </p:cNvPr>
          <p:cNvSpPr txBox="1"/>
          <p:nvPr/>
        </p:nvSpPr>
        <p:spPr>
          <a:xfrm>
            <a:off x="352849" y="548994"/>
            <a:ext cx="6368420" cy="45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lvl="0">
              <a:buSzPts val="2800"/>
              <a:defRPr/>
            </a:pPr>
            <a:r>
              <a:rPr lang="en-MY" sz="1800" b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 Service Management- Employee Increment</a:t>
            </a:r>
            <a:endParaRPr lang="en-MY" sz="1800">
              <a:solidFill>
                <a:srgbClr val="000000"/>
              </a:solidFill>
              <a:latin typeface="Libre Franklin"/>
            </a:endParaRPr>
          </a:p>
        </p:txBody>
      </p:sp>
      <p:sp>
        <p:nvSpPr>
          <p:cNvPr id="7" name="Google Shape;291;g2b4e50f20d3_0_888">
            <a:extLst>
              <a:ext uri="{FF2B5EF4-FFF2-40B4-BE49-F238E27FC236}">
                <a16:creationId xmlns:a16="http://schemas.microsoft.com/office/drawing/2014/main" id="{51D8F1B2-1CCD-5C1E-619E-78C4FB8E5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6807" y="2744439"/>
            <a:ext cx="8129487" cy="4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Bef>
                <a:spcPts val="1080"/>
              </a:spcBef>
              <a:buNone/>
            </a:pPr>
            <a:r>
              <a:rPr lang="en-MY" sz="1600" dirty="0">
                <a:solidFill>
                  <a:srgbClr val="000000"/>
                </a:solidFill>
                <a:latin typeface="Calibri"/>
                <a:cs typeface="Calibri"/>
              </a:rPr>
              <a:t>5) </a:t>
            </a:r>
            <a:r>
              <a:rPr lang="en-US" sz="1600" dirty="0">
                <a:solidFill>
                  <a:srgbClr val="000000"/>
                </a:solidFill>
                <a:latin typeface="Calibri"/>
                <a:cs typeface="Calibri"/>
              </a:rPr>
              <a:t>A prompt message will appear once the record is </a:t>
            </a:r>
            <a:r>
              <a:rPr lang="en-MY" sz="1600" dirty="0">
                <a:solidFill>
                  <a:srgbClr val="000000"/>
                </a:solidFill>
                <a:latin typeface="Calibri"/>
                <a:cs typeface="Calibri"/>
              </a:rPr>
              <a:t>saved</a:t>
            </a:r>
          </a:p>
        </p:txBody>
      </p:sp>
      <p:cxnSp>
        <p:nvCxnSpPr>
          <p:cNvPr id="5" name="Google Shape;296;g2b4e50f20d3_0_888">
            <a:extLst>
              <a:ext uri="{FF2B5EF4-FFF2-40B4-BE49-F238E27FC236}">
                <a16:creationId xmlns:a16="http://schemas.microsoft.com/office/drawing/2014/main" id="{EA3DA4FC-E2A9-E065-B973-D1628B4D102C}"/>
              </a:ext>
            </a:extLst>
          </p:cNvPr>
          <p:cNvCxnSpPr>
            <a:cxnSpLocks/>
            <a:stCxn id="9" idx="1"/>
            <a:endCxn id="22" idx="3"/>
          </p:cNvCxnSpPr>
          <p:nvPr/>
        </p:nvCxnSpPr>
        <p:spPr>
          <a:xfrm flipH="1">
            <a:off x="8937250" y="3455534"/>
            <a:ext cx="1009638" cy="67573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295;g2b4e50f20d3_0_888">
            <a:extLst>
              <a:ext uri="{FF2B5EF4-FFF2-40B4-BE49-F238E27FC236}">
                <a16:creationId xmlns:a16="http://schemas.microsoft.com/office/drawing/2014/main" id="{5EF7F7FD-627D-3A29-C812-0DC175C883F6}"/>
              </a:ext>
            </a:extLst>
          </p:cNvPr>
          <p:cNvSpPr/>
          <p:nvPr/>
        </p:nvSpPr>
        <p:spPr>
          <a:xfrm>
            <a:off x="9946888" y="3222096"/>
            <a:ext cx="1697697" cy="46687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 noProof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18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Click ‘Yes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" name="Google Shape;291;g2b4e50f20d3_0_888">
            <a:extLst>
              <a:ext uri="{FF2B5EF4-FFF2-40B4-BE49-F238E27FC236}">
                <a16:creationId xmlns:a16="http://schemas.microsoft.com/office/drawing/2014/main" id="{C9404933-65F5-82F6-EC70-362BB54187EE}"/>
              </a:ext>
            </a:extLst>
          </p:cNvPr>
          <p:cNvSpPr txBox="1"/>
          <p:nvPr/>
        </p:nvSpPr>
        <p:spPr>
          <a:xfrm>
            <a:off x="352849" y="4509976"/>
            <a:ext cx="6382970" cy="431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6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) Save successfully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DD8674-EF19-E259-9DE6-F92ADC055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01" y="1625004"/>
            <a:ext cx="4829175" cy="1000125"/>
          </a:xfrm>
          <a:prstGeom prst="rect">
            <a:avLst/>
          </a:prstGeom>
        </p:spPr>
      </p:pic>
      <p:sp>
        <p:nvSpPr>
          <p:cNvPr id="16" name="Google Shape;291;g2b4e50f20d3_0_888">
            <a:extLst>
              <a:ext uri="{FF2B5EF4-FFF2-40B4-BE49-F238E27FC236}">
                <a16:creationId xmlns:a16="http://schemas.microsoft.com/office/drawing/2014/main" id="{16C63F58-AA21-62D6-BE5F-CFA0AC51B31F}"/>
              </a:ext>
            </a:extLst>
          </p:cNvPr>
          <p:cNvSpPr txBox="1">
            <a:spLocks/>
          </p:cNvSpPr>
          <p:nvPr/>
        </p:nvSpPr>
        <p:spPr>
          <a:xfrm>
            <a:off x="392954" y="1164415"/>
            <a:ext cx="3040160" cy="45388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80"/>
              </a:spcBef>
              <a:buFont typeface="Arial" panose="020B0604020202020204" pitchFamily="34" charset="0"/>
              <a:buNone/>
            </a:pPr>
            <a:r>
              <a:rPr lang="en-US" sz="1600" dirty="0">
                <a:latin typeface="Calibri"/>
                <a:ea typeface="Calibri"/>
                <a:cs typeface="Calibri"/>
              </a:rPr>
              <a:t>4) Click ‘Save’ once done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636E54-59D6-0CD6-F973-190B72C279A8}"/>
              </a:ext>
            </a:extLst>
          </p:cNvPr>
          <p:cNvSpPr/>
          <p:nvPr/>
        </p:nvSpPr>
        <p:spPr>
          <a:xfrm>
            <a:off x="795835" y="1874430"/>
            <a:ext cx="1304543" cy="501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3BB437-962A-B829-C6EF-E3BDFFF0B55F}"/>
              </a:ext>
            </a:extLst>
          </p:cNvPr>
          <p:cNvSpPr/>
          <p:nvPr/>
        </p:nvSpPr>
        <p:spPr>
          <a:xfrm>
            <a:off x="8466294" y="3906566"/>
            <a:ext cx="470956" cy="449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D39C2B7-0D49-3D6C-017A-E149D722A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01" y="4952521"/>
            <a:ext cx="7616346" cy="1525834"/>
          </a:xfrm>
          <a:prstGeom prst="rect">
            <a:avLst/>
          </a:prstGeom>
        </p:spPr>
      </p:pic>
      <p:pic>
        <p:nvPicPr>
          <p:cNvPr id="2" name="Google Shape;325;g2b4e50f20d3_0_1116">
            <a:extLst>
              <a:ext uri="{FF2B5EF4-FFF2-40B4-BE49-F238E27FC236}">
                <a16:creationId xmlns:a16="http://schemas.microsoft.com/office/drawing/2014/main" id="{1133295B-495A-EA7A-232D-F795B6B40D78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326865" y="557014"/>
            <a:ext cx="2723072" cy="7182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137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2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252D8E-5C24-65D1-D722-0DCCD26C2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87" y="2233393"/>
            <a:ext cx="8216258" cy="3360595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717581" y="553291"/>
            <a:ext cx="2305977" cy="6621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1;g2b4e50f20d3_0_888"/>
          <p:cNvSpPr txBox="1"/>
          <p:nvPr/>
        </p:nvSpPr>
        <p:spPr>
          <a:xfrm>
            <a:off x="352429" y="845839"/>
            <a:ext cx="6064469" cy="397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1) Access ‘Payroll Management</a:t>
            </a:r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’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&gt; Access </a:t>
            </a:r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‘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Em</a:t>
            </a:r>
            <a:r>
              <a:rPr lang="en-US" sz="1600" dirty="0">
                <a:solidFill>
                  <a:schemeClr val="tx1"/>
                </a:solidFill>
                <a:latin typeface="Calibri"/>
                <a:cs typeface="Calibri"/>
              </a:rPr>
              <a:t>ployee Benefit’</a:t>
            </a:r>
            <a:endParaRPr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Google Shape;293;g2b4e50f20d3_0_888"/>
          <p:cNvSpPr/>
          <p:nvPr/>
        </p:nvSpPr>
        <p:spPr>
          <a:xfrm>
            <a:off x="254126" y="3433494"/>
            <a:ext cx="2554514" cy="47635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1- Access ‘Payroll Management’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4;g2b4e50f20d3_0_888"/>
          <p:cNvCxnSpPr>
            <a:cxnSpLocks/>
            <a:stCxn id="13" idx="1"/>
            <a:endCxn id="7" idx="3"/>
          </p:cNvCxnSpPr>
          <p:nvPr/>
        </p:nvCxnSpPr>
        <p:spPr>
          <a:xfrm flipH="1" flipV="1">
            <a:off x="2808640" y="3671671"/>
            <a:ext cx="708346" cy="72581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95;g2b4e50f20d3_0_888"/>
          <p:cNvSpPr/>
          <p:nvPr/>
        </p:nvSpPr>
        <p:spPr>
          <a:xfrm>
            <a:off x="254125" y="4455213"/>
            <a:ext cx="2554515" cy="46833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2-</a:t>
            </a:r>
            <a:r>
              <a:rPr kumimoji="0" lang="en-MY" sz="12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A</a:t>
            </a:r>
            <a:r>
              <a:rPr kumimoji="0" lang="en-MY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ccess ‘</a:t>
            </a:r>
            <a:r>
              <a:rPr lang="en-MY" sz="12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 Benefit’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  <a:stCxn id="16" idx="1"/>
            <a:endCxn id="11" idx="3"/>
          </p:cNvCxnSpPr>
          <p:nvPr/>
        </p:nvCxnSpPr>
        <p:spPr>
          <a:xfrm flipH="1" flipV="1">
            <a:off x="2808640" y="4689379"/>
            <a:ext cx="708346" cy="36802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3516986" y="4271608"/>
            <a:ext cx="1416521" cy="2517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516986" y="4931530"/>
            <a:ext cx="1400035" cy="2517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Google Shape;282;g2b4e50f20d3_0_902"/>
          <p:cNvSpPr txBox="1"/>
          <p:nvPr/>
        </p:nvSpPr>
        <p:spPr>
          <a:xfrm>
            <a:off x="352429" y="553292"/>
            <a:ext cx="8286974" cy="405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</a:t>
            </a:r>
            <a:r>
              <a:rPr lang="en-MY" sz="18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Onboarding Process - </a:t>
            </a: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Fixed Allowance/Benefit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78D0DC-E03E-46BA-B134-46B4DF2D6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8" y="3891283"/>
            <a:ext cx="11385164" cy="1541995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517055" y="561312"/>
            <a:ext cx="2466398" cy="6460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55292" y="561276"/>
            <a:ext cx="8729949" cy="410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Adding Fixed Allowance Details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71334" y="850522"/>
            <a:ext cx="4829227" cy="413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2) 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Create New Employee Allowance/Benefit</a:t>
            </a:r>
            <a:endParaRPr 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8" name="Google Shape;295;g2b4e50f20d3_0_888"/>
          <p:cNvSpPr/>
          <p:nvPr/>
        </p:nvSpPr>
        <p:spPr>
          <a:xfrm>
            <a:off x="8528555" y="2805172"/>
            <a:ext cx="2129400" cy="53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3- Click ‘Create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 Benefit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9" name="Google Shape;296;g2b4e50f20d3_0_888"/>
          <p:cNvCxnSpPr>
            <a:cxnSpLocks/>
            <a:endCxn id="10" idx="1"/>
          </p:cNvCxnSpPr>
          <p:nvPr/>
        </p:nvCxnSpPr>
        <p:spPr>
          <a:xfrm flipH="1" flipV="1">
            <a:off x="9681066" y="3306152"/>
            <a:ext cx="685050" cy="10893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10362855" y="4177859"/>
            <a:ext cx="1425727" cy="422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Picture 266">
            <a:extLst>
              <a:ext uri="{FF2B5EF4-FFF2-40B4-BE49-F238E27FC236}">
                <a16:creationId xmlns:a16="http://schemas.microsoft.com/office/drawing/2014/main" id="{165A7B4A-9D5E-06A5-8372-F464BFDE0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573" y="1447851"/>
            <a:ext cx="4982391" cy="4976805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468928" y="545270"/>
            <a:ext cx="2546609" cy="6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50840" y="548463"/>
            <a:ext cx="8530606" cy="38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Onboarding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Adding Fixed Allowance Details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50840" y="803217"/>
            <a:ext cx="6497086" cy="394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3) Adding Employee fixed allowance/benefit details</a:t>
            </a:r>
            <a:endParaRPr lang="en-US" sz="1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8832402" y="1702776"/>
            <a:ext cx="2757248" cy="35683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5-Select ‘Employee Profile’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  <a:stCxn id="9" idx="3"/>
            <a:endCxn id="7" idx="1"/>
          </p:cNvCxnSpPr>
          <p:nvPr/>
        </p:nvCxnSpPr>
        <p:spPr>
          <a:xfrm flipV="1">
            <a:off x="7623023" y="1881195"/>
            <a:ext cx="1209379" cy="27001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Rectangle 8"/>
          <p:cNvSpPr/>
          <p:nvPr/>
        </p:nvSpPr>
        <p:spPr>
          <a:xfrm>
            <a:off x="3433797" y="1997302"/>
            <a:ext cx="4189226" cy="3078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Google Shape;295;g2b4e50f20d3_0_888"/>
          <p:cNvSpPr/>
          <p:nvPr/>
        </p:nvSpPr>
        <p:spPr>
          <a:xfrm>
            <a:off x="8818406" y="2458602"/>
            <a:ext cx="2757249" cy="35683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6- Select Type of Allowance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7" name="Google Shape;296;g2b4e50f20d3_0_888"/>
          <p:cNvCxnSpPr>
            <a:cxnSpLocks/>
            <a:stCxn id="18" idx="3"/>
            <a:endCxn id="16" idx="1"/>
          </p:cNvCxnSpPr>
          <p:nvPr/>
        </p:nvCxnSpPr>
        <p:spPr>
          <a:xfrm>
            <a:off x="7623021" y="2540426"/>
            <a:ext cx="1195385" cy="9659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3433794" y="2402649"/>
            <a:ext cx="4189227" cy="275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9" name="Google Shape;295;g2b4e50f20d3_0_888"/>
          <p:cNvSpPr/>
          <p:nvPr/>
        </p:nvSpPr>
        <p:spPr>
          <a:xfrm>
            <a:off x="8841665" y="3157766"/>
            <a:ext cx="2733990" cy="37464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7- Select Start date from the Calendar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0" name="Google Shape;296;g2b4e50f20d3_0_888"/>
          <p:cNvCxnSpPr>
            <a:cxnSpLocks/>
            <a:stCxn id="21" idx="3"/>
            <a:endCxn id="19" idx="1"/>
          </p:cNvCxnSpPr>
          <p:nvPr/>
        </p:nvCxnSpPr>
        <p:spPr>
          <a:xfrm>
            <a:off x="7623025" y="2939153"/>
            <a:ext cx="1218640" cy="40593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3440673" y="2781287"/>
            <a:ext cx="4182352" cy="3157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2" name="Google Shape;295;g2b4e50f20d3_0_888"/>
          <p:cNvSpPr/>
          <p:nvPr/>
        </p:nvSpPr>
        <p:spPr>
          <a:xfrm>
            <a:off x="8881446" y="3860727"/>
            <a:ext cx="2757248" cy="35120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8- Insert </a:t>
            </a:r>
            <a:r>
              <a:rPr lang="en-US" sz="11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default date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3" name="Google Shape;296;g2b4e50f20d3_0_888"/>
          <p:cNvCxnSpPr>
            <a:cxnSpLocks/>
            <a:stCxn id="24" idx="3"/>
            <a:endCxn id="22" idx="1"/>
          </p:cNvCxnSpPr>
          <p:nvPr/>
        </p:nvCxnSpPr>
        <p:spPr>
          <a:xfrm>
            <a:off x="7629899" y="3386298"/>
            <a:ext cx="1251547" cy="65003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3447547" y="3235585"/>
            <a:ext cx="4182352" cy="3014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5" name="Google Shape;295;g2b4e50f20d3_0_888"/>
          <p:cNvSpPr/>
          <p:nvPr/>
        </p:nvSpPr>
        <p:spPr>
          <a:xfrm>
            <a:off x="8909431" y="4541504"/>
            <a:ext cx="2729263" cy="35683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9-Insert  the Amount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6" name="Google Shape;296;g2b4e50f20d3_0_888"/>
          <p:cNvCxnSpPr>
            <a:cxnSpLocks/>
            <a:stCxn id="27" idx="3"/>
            <a:endCxn id="25" idx="1"/>
          </p:cNvCxnSpPr>
          <p:nvPr/>
        </p:nvCxnSpPr>
        <p:spPr>
          <a:xfrm>
            <a:off x="7616733" y="3828044"/>
            <a:ext cx="1292698" cy="89187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3433794" y="3693824"/>
            <a:ext cx="4182939" cy="268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9" name="Google Shape;296;g2b4e50f20d3_0_888"/>
          <p:cNvCxnSpPr>
            <a:cxnSpLocks/>
            <a:stCxn id="30" idx="3"/>
            <a:endCxn id="36" idx="1"/>
          </p:cNvCxnSpPr>
          <p:nvPr/>
        </p:nvCxnSpPr>
        <p:spPr>
          <a:xfrm>
            <a:off x="7616734" y="4211932"/>
            <a:ext cx="1292697" cy="125587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Rectangle 29"/>
          <p:cNvSpPr/>
          <p:nvPr/>
        </p:nvSpPr>
        <p:spPr>
          <a:xfrm>
            <a:off x="3433794" y="4062452"/>
            <a:ext cx="4182940" cy="2989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433794" y="4487705"/>
            <a:ext cx="4182940" cy="2989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447548" y="4886656"/>
            <a:ext cx="4169186" cy="2989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36" name="Google Shape;295;g2b4e50f20d3_0_888"/>
          <p:cNvSpPr/>
          <p:nvPr/>
        </p:nvSpPr>
        <p:spPr>
          <a:xfrm>
            <a:off x="8909431" y="5289386"/>
            <a:ext cx="2729263" cy="35683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10-Insert default details </a:t>
            </a:r>
          </a:p>
        </p:txBody>
      </p:sp>
      <p:cxnSp>
        <p:nvCxnSpPr>
          <p:cNvPr id="37" name="Google Shape;296;g2b4e50f20d3_0_888"/>
          <p:cNvCxnSpPr>
            <a:cxnSpLocks/>
            <a:stCxn id="31" idx="3"/>
            <a:endCxn id="36" idx="1"/>
          </p:cNvCxnSpPr>
          <p:nvPr/>
        </p:nvCxnSpPr>
        <p:spPr>
          <a:xfrm>
            <a:off x="7616734" y="4637185"/>
            <a:ext cx="1292697" cy="83062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" name="Google Shape;296;g2b4e50f20d3_0_888"/>
          <p:cNvCxnSpPr>
            <a:cxnSpLocks/>
            <a:stCxn id="32" idx="3"/>
            <a:endCxn id="36" idx="1"/>
          </p:cNvCxnSpPr>
          <p:nvPr/>
        </p:nvCxnSpPr>
        <p:spPr>
          <a:xfrm>
            <a:off x="7616734" y="5036136"/>
            <a:ext cx="1292697" cy="4316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" name="Google Shape;295;g2b4e50f20d3_0_888"/>
          <p:cNvSpPr/>
          <p:nvPr/>
        </p:nvSpPr>
        <p:spPr>
          <a:xfrm>
            <a:off x="704534" y="5735066"/>
            <a:ext cx="2729263" cy="35683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11-Click ‘Save’ once done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44" name="Google Shape;296;g2b4e50f20d3_0_888"/>
          <p:cNvCxnSpPr>
            <a:cxnSpLocks/>
            <a:stCxn id="45" idx="1"/>
            <a:endCxn id="43" idx="3"/>
          </p:cNvCxnSpPr>
          <p:nvPr/>
        </p:nvCxnSpPr>
        <p:spPr>
          <a:xfrm flipH="1" flipV="1">
            <a:off x="3433797" y="5913485"/>
            <a:ext cx="1038805" cy="3244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" name="Rectangle 44"/>
          <p:cNvSpPr/>
          <p:nvPr/>
        </p:nvSpPr>
        <p:spPr>
          <a:xfrm>
            <a:off x="4472602" y="6059531"/>
            <a:ext cx="854310" cy="356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30" grpId="0" animBg="1"/>
      <p:bldP spid="31" grpId="0" animBg="1"/>
      <p:bldP spid="32" grpId="0" animBg="1"/>
      <p:bldP spid="36" grpId="0" animBg="1"/>
      <p:bldP spid="43" grpId="0" animBg="1"/>
      <p:bldP spid="4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92;g2b4e50f20d3_0_888">
            <a:extLst>
              <a:ext uri="{FF2B5EF4-FFF2-40B4-BE49-F238E27FC236}">
                <a16:creationId xmlns:a16="http://schemas.microsoft.com/office/drawing/2014/main" id="{0A2D4835-3AE1-84E3-DA15-F1F7C297358B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25075" y="551004"/>
            <a:ext cx="2482441" cy="678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2628BC-BDC6-4C9F-BE19-4A3FE3B90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945" y="3306857"/>
            <a:ext cx="7593472" cy="822085"/>
          </a:xfrm>
          <a:prstGeom prst="rect">
            <a:avLst/>
          </a:prstGeom>
        </p:spPr>
      </p:pic>
      <p:sp>
        <p:nvSpPr>
          <p:cNvPr id="7" name="Google Shape;291;g2b4e50f20d3_0_888"/>
          <p:cNvSpPr txBox="1">
            <a:spLocks noGrp="1"/>
          </p:cNvSpPr>
          <p:nvPr>
            <p:ph type="body" idx="1"/>
          </p:nvPr>
        </p:nvSpPr>
        <p:spPr>
          <a:xfrm>
            <a:off x="363278" y="815604"/>
            <a:ext cx="7440647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MY" sz="1600" dirty="0">
                <a:solidFill>
                  <a:srgbClr val="000000"/>
                </a:solidFill>
                <a:latin typeface="Calibri"/>
                <a:cs typeface="Calibri"/>
              </a:rPr>
              <a:t>4) Message will prompt upon saving - Click 'Yes', then click 'Back'</a:t>
            </a:r>
            <a:endParaRPr lang="en-MY" sz="1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Google Shape;295;g2b4e50f20d3_0_888"/>
          <p:cNvSpPr/>
          <p:nvPr/>
        </p:nvSpPr>
        <p:spPr>
          <a:xfrm>
            <a:off x="6167818" y="4798775"/>
            <a:ext cx="3283808" cy="41330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200">
                <a:latin typeface="Libre Franklin"/>
                <a:ea typeface="Libre Franklin"/>
                <a:cs typeface="Libre Franklin"/>
                <a:sym typeface="Libre Franklin"/>
              </a:rPr>
              <a:t>12- Once the record is saved, click ‘ Back’.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3" name="Google Shape;296;g2b4e50f20d3_0_888"/>
          <p:cNvCxnSpPr>
            <a:cxnSpLocks/>
            <a:stCxn id="14" idx="2"/>
            <a:endCxn id="12" idx="0"/>
          </p:cNvCxnSpPr>
          <p:nvPr/>
        </p:nvCxnSpPr>
        <p:spPr>
          <a:xfrm>
            <a:off x="7725503" y="3921760"/>
            <a:ext cx="4009" cy="8770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7201085" y="3520802"/>
            <a:ext cx="1048836" cy="4009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Google Shape;282;g2b4e50f20d3_0_902"/>
          <p:cNvSpPr txBox="1"/>
          <p:nvPr/>
        </p:nvSpPr>
        <p:spPr>
          <a:xfrm>
            <a:off x="371299" y="534962"/>
            <a:ext cx="880362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</a:pPr>
            <a:r>
              <a:rPr lang="en-MY" sz="18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Employee Onboarding Process - Adding Fixed Allowance Details</a:t>
            </a:r>
            <a:endParaRPr lang="en-MY" sz="1800" dirty="0">
              <a:solidFill>
                <a:srgbClr val="000000"/>
              </a:solidFill>
              <a:latin typeface="Libre Frankl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5F3819-8F04-05BB-3659-989AA7213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407" y="2284486"/>
            <a:ext cx="8277094" cy="3457747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64655" y="560263"/>
            <a:ext cx="2654988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57113" y="535284"/>
            <a:ext cx="7749580" cy="424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Service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Management -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 Deduction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57114" y="873880"/>
            <a:ext cx="5876928" cy="403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indent="0">
              <a:spcBef>
                <a:spcPts val="1080"/>
              </a:spcBef>
              <a:buClr>
                <a:srgbClr val="1CADE4"/>
              </a:buClr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1) Access ‘Payroll Management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’ &gt;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 Access 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‘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Employee Deduction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’</a:t>
            </a:r>
            <a:endParaRPr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Google Shape;293;g2b4e50f20d3_0_888"/>
          <p:cNvSpPr/>
          <p:nvPr/>
        </p:nvSpPr>
        <p:spPr>
          <a:xfrm>
            <a:off x="554448" y="3492084"/>
            <a:ext cx="2614053" cy="42120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1- Access ‘Payroll Management’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4;g2b4e50f20d3_0_888"/>
          <p:cNvCxnSpPr>
            <a:cxnSpLocks/>
            <a:stCxn id="13" idx="1"/>
            <a:endCxn id="7" idx="3"/>
          </p:cNvCxnSpPr>
          <p:nvPr/>
        </p:nvCxnSpPr>
        <p:spPr>
          <a:xfrm flipH="1" flipV="1">
            <a:off x="3168501" y="3702689"/>
            <a:ext cx="586905" cy="74805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95;g2b4e50f20d3_0_888"/>
          <p:cNvSpPr/>
          <p:nvPr/>
        </p:nvSpPr>
        <p:spPr>
          <a:xfrm>
            <a:off x="554448" y="4589549"/>
            <a:ext cx="2614054" cy="421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2- Access ‘Employee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Deduction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" name="Google Shape;296;g2b4e50f20d3_0_888"/>
          <p:cNvCxnSpPr>
            <a:cxnSpLocks/>
            <a:stCxn id="16" idx="1"/>
            <a:endCxn id="11" idx="3"/>
          </p:cNvCxnSpPr>
          <p:nvPr/>
        </p:nvCxnSpPr>
        <p:spPr>
          <a:xfrm flipH="1" flipV="1">
            <a:off x="3168502" y="4800449"/>
            <a:ext cx="586906" cy="59202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3755406" y="4311943"/>
            <a:ext cx="1454547" cy="2776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755408" y="5260608"/>
            <a:ext cx="1454546" cy="263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3" grpId="0" animBg="1"/>
      <p:bldP spid="1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45F4CC-2BC6-4EF5-8BE1-4EFF48C04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43" y="2743493"/>
            <a:ext cx="11065370" cy="1857270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255798" y="551192"/>
            <a:ext cx="2745703" cy="73116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71872" y="535630"/>
            <a:ext cx="8338478" cy="42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Service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Management - Employee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Deduction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71872" y="835775"/>
            <a:ext cx="5351736" cy="43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indent="0">
              <a:spcBef>
                <a:spcPts val="1080"/>
              </a:spcBef>
              <a:buClr>
                <a:srgbClr val="1CADE4"/>
              </a:buClr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2) 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Create New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 Employee Deduction </a:t>
            </a:r>
            <a:r>
              <a:rPr lang="en-US" sz="1600" kern="0" dirty="0">
                <a:solidFill>
                  <a:schemeClr val="tx1"/>
                </a:solidFill>
                <a:latin typeface="Calibri"/>
                <a:cs typeface="Calibri"/>
              </a:rPr>
              <a:t>Record</a:t>
            </a:r>
            <a:endParaRPr 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9165266" y="1928272"/>
            <a:ext cx="2957988" cy="40707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3- 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Click ‘Create</a:t>
            </a:r>
            <a:r>
              <a:rPr kumimoji="0" lang="en-MY" sz="12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 Deduction</a:t>
            </a: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’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  <a:stCxn id="15" idx="0"/>
            <a:endCxn id="7" idx="2"/>
          </p:cNvCxnSpPr>
          <p:nvPr/>
        </p:nvCxnSpPr>
        <p:spPr>
          <a:xfrm flipV="1">
            <a:off x="10629112" y="2335347"/>
            <a:ext cx="15148" cy="82740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9811910" y="3162749"/>
            <a:ext cx="1634403" cy="4070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C0C97A-8B7B-39F9-1CC5-E0EE35E32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942" y="1565784"/>
            <a:ext cx="8221655" cy="4846033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64655" y="545271"/>
            <a:ext cx="2658903" cy="68619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74045" y="537250"/>
            <a:ext cx="6739509" cy="448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Service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Management -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Employee Deduction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64023" y="865599"/>
            <a:ext cx="5931062" cy="370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CADE4"/>
              </a:buClr>
              <a:buSzPts val="1656"/>
              <a:buFont typeface="Noto Sans Symbols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3) Adding Deduction </a:t>
            </a:r>
            <a:r>
              <a:rPr lang="en-US" sz="1600" kern="0" dirty="0">
                <a:solidFill>
                  <a:srgbClr val="000000"/>
                </a:solidFill>
                <a:latin typeface="Calibri"/>
                <a:cs typeface="Calibri"/>
              </a:rPr>
              <a:t>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  <a:sym typeface="Libre Franklin"/>
              </a:rPr>
              <a:t>etails</a:t>
            </a:r>
            <a:endParaRPr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9" name="Google Shape;295;g2b4e50f20d3_0_888"/>
          <p:cNvSpPr/>
          <p:nvPr/>
        </p:nvSpPr>
        <p:spPr>
          <a:xfrm>
            <a:off x="9569750" y="2169199"/>
            <a:ext cx="2271225" cy="53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Search for Employee Profile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0" name="Google Shape;296;g2b4e50f20d3_0_888"/>
          <p:cNvCxnSpPr>
            <a:cxnSpLocks/>
            <a:stCxn id="9" idx="1"/>
            <a:endCxn id="14" idx="3"/>
          </p:cNvCxnSpPr>
          <p:nvPr/>
        </p:nvCxnSpPr>
        <p:spPr>
          <a:xfrm flipH="1">
            <a:off x="8774965" y="2435449"/>
            <a:ext cx="794785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3831247" y="2292831"/>
            <a:ext cx="4943718" cy="285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5" name="Google Shape;293;g2b4e50f20d3_0_888"/>
          <p:cNvSpPr/>
          <p:nvPr/>
        </p:nvSpPr>
        <p:spPr>
          <a:xfrm>
            <a:off x="9640663" y="3324100"/>
            <a:ext cx="2129400" cy="53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5-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Select “Deduction code”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6" name="Google Shape;294;g2b4e50f20d3_0_888"/>
          <p:cNvCxnSpPr>
            <a:cxnSpLocks/>
            <a:stCxn id="15" idx="1"/>
          </p:cNvCxnSpPr>
          <p:nvPr/>
        </p:nvCxnSpPr>
        <p:spPr>
          <a:xfrm flipH="1">
            <a:off x="8774965" y="3590350"/>
            <a:ext cx="86569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Rectangle 11"/>
          <p:cNvSpPr/>
          <p:nvPr/>
        </p:nvSpPr>
        <p:spPr>
          <a:xfrm>
            <a:off x="3831247" y="2692293"/>
            <a:ext cx="4943718" cy="2760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5" grpId="0" animBg="1"/>
      <p:bldP spid="1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9B4AA0-3261-AA5C-C268-594861910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49" y="1775930"/>
            <a:ext cx="7507587" cy="4190459"/>
          </a:xfrm>
          <a:prstGeom prst="rect">
            <a:avLst/>
          </a:prstGeom>
        </p:spPr>
      </p:pic>
      <p:pic>
        <p:nvPicPr>
          <p:cNvPr id="292" name="Google Shape;292;g2b4e50f20d3_0_88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46512" y="551192"/>
            <a:ext cx="2664060" cy="7311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/>
          <p:cNvSpPr txBox="1"/>
          <p:nvPr/>
        </p:nvSpPr>
        <p:spPr>
          <a:xfrm>
            <a:off x="372404" y="554630"/>
            <a:ext cx="7053192" cy="39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Service </a:t>
            </a:r>
            <a:r>
              <a:rPr lang="en-MY" sz="1800" b="1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Management - Employee</a:t>
            </a:r>
            <a:r>
              <a:rPr kumimoji="0" lang="en-MY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Deduction</a:t>
            </a:r>
            <a:endParaRPr kumimoji="0" lang="en-MY" sz="1800" b="0" i="0" u="none" strike="noStrike" kern="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2" name="Google Shape;291;g2b4e50f20d3_0_888"/>
          <p:cNvSpPr txBox="1"/>
          <p:nvPr/>
        </p:nvSpPr>
        <p:spPr>
          <a:xfrm>
            <a:off x="356276" y="823185"/>
            <a:ext cx="6396017" cy="38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080"/>
              </a:spcBef>
              <a:buClr>
                <a:srgbClr val="1CADE4"/>
              </a:buClr>
              <a:buNone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6) </a:t>
            </a:r>
            <a:r>
              <a:rPr lang="en-US" sz="1600" kern="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</a:t>
            </a:r>
            <a:r>
              <a:rPr lang="en-US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- Completing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the </a:t>
            </a:r>
            <a:r>
              <a:rPr lang="en-US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Deduction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US" sz="1600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Details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 </a:t>
            </a:r>
            <a:endParaRPr lang="en-US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Google Shape;295;g2b4e50f20d3_0_888"/>
          <p:cNvSpPr/>
          <p:nvPr/>
        </p:nvSpPr>
        <p:spPr>
          <a:xfrm>
            <a:off x="8773320" y="1791206"/>
            <a:ext cx="2253067" cy="49549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defRPr/>
            </a:pPr>
            <a:r>
              <a:rPr lang="en-US" sz="1200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Select </a:t>
            </a:r>
            <a:r>
              <a:rPr lang="en-US" sz="1200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Date From</a:t>
            </a:r>
            <a:endParaRPr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</a:endParaRPr>
          </a:p>
        </p:txBody>
      </p:sp>
      <p:cxnSp>
        <p:nvCxnSpPr>
          <p:cNvPr id="8" name="Google Shape;296;g2b4e50f20d3_0_888"/>
          <p:cNvCxnSpPr>
            <a:cxnSpLocks/>
            <a:stCxn id="7" idx="1"/>
            <a:endCxn id="11" idx="3"/>
          </p:cNvCxnSpPr>
          <p:nvPr/>
        </p:nvCxnSpPr>
        <p:spPr>
          <a:xfrm flipH="1">
            <a:off x="7474226" y="2038951"/>
            <a:ext cx="1299094" cy="236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2790908" y="1912074"/>
            <a:ext cx="4683318" cy="3010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90908" y="2814998"/>
            <a:ext cx="4683318" cy="33629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90908" y="3315969"/>
            <a:ext cx="4683318" cy="274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90908" y="3744892"/>
            <a:ext cx="4683318" cy="312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790908" y="4185930"/>
            <a:ext cx="4683318" cy="3032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23" name="Google Shape;295;g2b4e50f20d3_0_888"/>
          <p:cNvSpPr/>
          <p:nvPr/>
        </p:nvSpPr>
        <p:spPr>
          <a:xfrm>
            <a:off x="8775482" y="2664537"/>
            <a:ext cx="2260124" cy="46220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defRPr/>
            </a:pPr>
            <a:r>
              <a:rPr lang="en-US" sz="1200" kern="0" dirty="0">
                <a:solidFill>
                  <a:srgbClr val="000000"/>
                </a:solidFill>
                <a:latin typeface="Libre Franklin"/>
                <a:sym typeface="Libre Franklin"/>
              </a:rPr>
              <a:t>7- Select Date To</a:t>
            </a:r>
            <a:endParaRPr lang="en-US" dirty="0"/>
          </a:p>
        </p:txBody>
      </p:sp>
      <p:cxnSp>
        <p:nvCxnSpPr>
          <p:cNvPr id="24" name="Google Shape;296;g2b4e50f20d3_0_888"/>
          <p:cNvCxnSpPr>
            <a:cxnSpLocks/>
            <a:stCxn id="23" idx="1"/>
            <a:endCxn id="16" idx="3"/>
          </p:cNvCxnSpPr>
          <p:nvPr/>
        </p:nvCxnSpPr>
        <p:spPr>
          <a:xfrm flipH="1" flipV="1">
            <a:off x="7474226" y="2549399"/>
            <a:ext cx="1301256" cy="34624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" name="Google Shape;295;g2b4e50f20d3_0_888"/>
          <p:cNvSpPr/>
          <p:nvPr/>
        </p:nvSpPr>
        <p:spPr>
          <a:xfrm>
            <a:off x="8824457" y="4500083"/>
            <a:ext cx="2284747" cy="45554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Insert default details 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" name="Google Shape;295;g2b4e50f20d3_0_888"/>
          <p:cNvSpPr/>
          <p:nvPr/>
        </p:nvSpPr>
        <p:spPr>
          <a:xfrm>
            <a:off x="8782224" y="3573327"/>
            <a:ext cx="2326980" cy="45554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n-MY" sz="1200" kern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r>
            <a:r>
              <a:rPr kumimoji="0" lang="en-MY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Insert Deduction amount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0" name="Google Shape;296;g2b4e50f20d3_0_888"/>
          <p:cNvCxnSpPr>
            <a:cxnSpLocks/>
            <a:stCxn id="29" idx="1"/>
            <a:endCxn id="17" idx="3"/>
          </p:cNvCxnSpPr>
          <p:nvPr/>
        </p:nvCxnSpPr>
        <p:spPr>
          <a:xfrm flipH="1" flipV="1">
            <a:off x="7474226" y="2983144"/>
            <a:ext cx="1307998" cy="81795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" name="Google Shape;296;g2b4e50f20d3_0_888"/>
          <p:cNvCxnSpPr>
            <a:cxnSpLocks/>
            <a:stCxn id="28" idx="1"/>
            <a:endCxn id="21" idx="3"/>
          </p:cNvCxnSpPr>
          <p:nvPr/>
        </p:nvCxnSpPr>
        <p:spPr>
          <a:xfrm flipH="1" flipV="1">
            <a:off x="7474226" y="4337561"/>
            <a:ext cx="1350231" cy="39029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" name="Google Shape;296;g2b4e50f20d3_0_888"/>
          <p:cNvCxnSpPr>
            <a:cxnSpLocks/>
            <a:stCxn id="28" idx="1"/>
            <a:endCxn id="20" idx="3"/>
          </p:cNvCxnSpPr>
          <p:nvPr/>
        </p:nvCxnSpPr>
        <p:spPr>
          <a:xfrm flipH="1" flipV="1">
            <a:off x="7474226" y="3901010"/>
            <a:ext cx="1350231" cy="82684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" name="Google Shape;296;g2b4e50f20d3_0_888"/>
          <p:cNvCxnSpPr>
            <a:cxnSpLocks/>
            <a:stCxn id="28" idx="1"/>
            <a:endCxn id="19" idx="3"/>
          </p:cNvCxnSpPr>
          <p:nvPr/>
        </p:nvCxnSpPr>
        <p:spPr>
          <a:xfrm flipH="1" flipV="1">
            <a:off x="7474226" y="3453259"/>
            <a:ext cx="1350231" cy="127459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" name="Google Shape;295;g2b4e50f20d3_0_888"/>
          <p:cNvSpPr/>
          <p:nvPr/>
        </p:nvSpPr>
        <p:spPr>
          <a:xfrm>
            <a:off x="509076" y="5893850"/>
            <a:ext cx="2129400" cy="45297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defRPr/>
            </a:pPr>
            <a:r>
              <a:rPr kumimoji="0" lang="en-MY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10-Once done click</a:t>
            </a:r>
            <a:r>
              <a:rPr lang="en-MY" sz="1200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 </a:t>
            </a:r>
            <a:r>
              <a:rPr kumimoji="0" lang="en-MY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MY" sz="1200" kern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'Save'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56" name="Google Shape;296;g2b4e50f20d3_0_888"/>
          <p:cNvCxnSpPr>
            <a:cxnSpLocks/>
            <a:stCxn id="55" idx="3"/>
            <a:endCxn id="59" idx="2"/>
          </p:cNvCxnSpPr>
          <p:nvPr/>
        </p:nvCxnSpPr>
        <p:spPr>
          <a:xfrm flipV="1">
            <a:off x="2638476" y="5837587"/>
            <a:ext cx="705463" cy="28275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" name="Rectangle 58"/>
          <p:cNvSpPr/>
          <p:nvPr/>
        </p:nvSpPr>
        <p:spPr>
          <a:xfrm>
            <a:off x="2945218" y="5465135"/>
            <a:ext cx="797441" cy="3724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90908" y="2383771"/>
            <a:ext cx="4683318" cy="331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8" grpId="0" animBg="1"/>
      <p:bldP spid="29" grpId="0" animBg="1"/>
      <p:bldP spid="55" grpId="0" animBg="1"/>
      <p:bldP spid="59" grpId="0" animBg="1"/>
      <p:bldP spid="1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B2AB12A3-A0A3-7664-9940-2E8830853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4BA0CF-5326-FD3A-44BD-4C05C0856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062" y="2480809"/>
            <a:ext cx="9406522" cy="3364487"/>
          </a:xfrm>
          <a:prstGeom prst="rect">
            <a:avLst/>
          </a:prstGeom>
        </p:spPr>
      </p:pic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416029FF-9520-30AA-3221-B7EDF6F6E740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823266" y="548167"/>
            <a:ext cx="2164123" cy="6102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9E220649-ADC9-3100-D44D-7CBD8D95E9C8}"/>
              </a:ext>
            </a:extLst>
          </p:cNvPr>
          <p:cNvSpPr txBox="1"/>
          <p:nvPr/>
        </p:nvSpPr>
        <p:spPr>
          <a:xfrm>
            <a:off x="359582" y="550333"/>
            <a:ext cx="3599118" cy="376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Disablement</a:t>
            </a: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2" name="Google Shape;291;g2b4e50f20d3_0_888">
            <a:extLst>
              <a:ext uri="{FF2B5EF4-FFF2-40B4-BE49-F238E27FC236}">
                <a16:creationId xmlns:a16="http://schemas.microsoft.com/office/drawing/2014/main" id="{138CC74A-68D2-B079-D63C-7EB364724034}"/>
              </a:ext>
            </a:extLst>
          </p:cNvPr>
          <p:cNvSpPr txBox="1"/>
          <p:nvPr/>
        </p:nvSpPr>
        <p:spPr>
          <a:xfrm>
            <a:off x="349438" y="828150"/>
            <a:ext cx="9400989" cy="38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>
              <a:spcBef>
                <a:spcPts val="1080"/>
              </a:spcBef>
              <a:buClr>
                <a:srgbClr val="1CADE4"/>
              </a:buClr>
              <a:buNone/>
            </a:pPr>
            <a:r>
              <a:rPr lang="en-US" sz="16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)</a:t>
            </a:r>
            <a:r>
              <a:rPr lang="en-MY" sz="16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Access ‘Employee Management’ &gt; Access ‘Employee Disablement’ &gt; Click ‘Create Employee Disablement’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Calibri"/>
              <a:cs typeface="Calibri"/>
              <a:sym typeface="Libre Franklin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9D927-7AD9-903F-99DC-CA57282AE8D2}"/>
              </a:ext>
            </a:extLst>
          </p:cNvPr>
          <p:cNvSpPr/>
          <p:nvPr/>
        </p:nvSpPr>
        <p:spPr>
          <a:xfrm>
            <a:off x="2463062" y="4579954"/>
            <a:ext cx="1309678" cy="2082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Google Shape;295;g2b4e50f20d3_0_888">
            <a:extLst>
              <a:ext uri="{FF2B5EF4-FFF2-40B4-BE49-F238E27FC236}">
                <a16:creationId xmlns:a16="http://schemas.microsoft.com/office/drawing/2014/main" id="{093C0B40-4440-C64D-1011-EA14CC699275}"/>
              </a:ext>
            </a:extLst>
          </p:cNvPr>
          <p:cNvSpPr/>
          <p:nvPr/>
        </p:nvSpPr>
        <p:spPr>
          <a:xfrm>
            <a:off x="184548" y="4806247"/>
            <a:ext cx="1919337" cy="33726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05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 – Access ‘Employee Disablement’</a:t>
            </a:r>
            <a:endParaRPr kumimoji="0" lang="en-MY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9" name="Google Shape;296;g2b4e50f20d3_0_888">
            <a:extLst>
              <a:ext uri="{FF2B5EF4-FFF2-40B4-BE49-F238E27FC236}">
                <a16:creationId xmlns:a16="http://schemas.microsoft.com/office/drawing/2014/main" id="{2EF1D129-9DAC-FD2E-ADCC-8F713126E13D}"/>
              </a:ext>
            </a:extLst>
          </p:cNvPr>
          <p:cNvCxnSpPr>
            <a:cxnSpLocks/>
          </p:cNvCxnSpPr>
          <p:nvPr/>
        </p:nvCxnSpPr>
        <p:spPr>
          <a:xfrm flipH="1">
            <a:off x="2103885" y="4684069"/>
            <a:ext cx="359177" cy="290808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BC89B75-D560-17C7-7593-A57EB376DA9A}"/>
              </a:ext>
            </a:extLst>
          </p:cNvPr>
          <p:cNvSpPr/>
          <p:nvPr/>
        </p:nvSpPr>
        <p:spPr>
          <a:xfrm>
            <a:off x="10217747" y="3102123"/>
            <a:ext cx="1470167" cy="205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Google Shape;295;g2b4e50f20d3_0_888">
            <a:extLst>
              <a:ext uri="{FF2B5EF4-FFF2-40B4-BE49-F238E27FC236}">
                <a16:creationId xmlns:a16="http://schemas.microsoft.com/office/drawing/2014/main" id="{A34C0407-6529-41B6-DE2A-A0DBD988D7DB}"/>
              </a:ext>
            </a:extLst>
          </p:cNvPr>
          <p:cNvSpPr/>
          <p:nvPr/>
        </p:nvSpPr>
        <p:spPr>
          <a:xfrm>
            <a:off x="9868301" y="1809914"/>
            <a:ext cx="2169060" cy="33726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05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 – Click ‘Create Employee Disablement’</a:t>
            </a:r>
            <a:endParaRPr kumimoji="0" lang="en-MY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7" name="Google Shape;296;g2b4e50f20d3_0_888">
            <a:extLst>
              <a:ext uri="{FF2B5EF4-FFF2-40B4-BE49-F238E27FC236}">
                <a16:creationId xmlns:a16="http://schemas.microsoft.com/office/drawing/2014/main" id="{7BD71C96-379F-576C-4C1B-E37B6705DE0C}"/>
              </a:ext>
            </a:extLst>
          </p:cNvPr>
          <p:cNvCxnSpPr>
            <a:cxnSpLocks/>
          </p:cNvCxnSpPr>
          <p:nvPr/>
        </p:nvCxnSpPr>
        <p:spPr>
          <a:xfrm flipV="1">
            <a:off x="10952831" y="2147174"/>
            <a:ext cx="0" cy="95494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6AEBBA1-A61E-5496-B56A-A727452CAE86}"/>
              </a:ext>
            </a:extLst>
          </p:cNvPr>
          <p:cNvSpPr/>
          <p:nvPr/>
        </p:nvSpPr>
        <p:spPr>
          <a:xfrm>
            <a:off x="2463062" y="3954823"/>
            <a:ext cx="1309678" cy="2082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Google Shape;295;g2b4e50f20d3_0_888">
            <a:extLst>
              <a:ext uri="{FF2B5EF4-FFF2-40B4-BE49-F238E27FC236}">
                <a16:creationId xmlns:a16="http://schemas.microsoft.com/office/drawing/2014/main" id="{DD707937-6113-EB4E-B9E5-F2DBE4CCA826}"/>
              </a:ext>
            </a:extLst>
          </p:cNvPr>
          <p:cNvSpPr/>
          <p:nvPr/>
        </p:nvSpPr>
        <p:spPr>
          <a:xfrm>
            <a:off x="184547" y="3617563"/>
            <a:ext cx="1919337" cy="33726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05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 – Access ‘Employee Management’</a:t>
            </a:r>
            <a:endParaRPr kumimoji="0" lang="en-MY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6" name="Google Shape;296;g2b4e50f20d3_0_888">
            <a:extLst>
              <a:ext uri="{FF2B5EF4-FFF2-40B4-BE49-F238E27FC236}">
                <a16:creationId xmlns:a16="http://schemas.microsoft.com/office/drawing/2014/main" id="{7B999F1F-9723-788E-557D-F5D584BFAD24}"/>
              </a:ext>
            </a:extLst>
          </p:cNvPr>
          <p:cNvCxnSpPr>
            <a:cxnSpLocks/>
          </p:cNvCxnSpPr>
          <p:nvPr/>
        </p:nvCxnSpPr>
        <p:spPr>
          <a:xfrm flipH="1" flipV="1">
            <a:off x="2103884" y="3786193"/>
            <a:ext cx="359178" cy="37686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282892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3" grpId="0" animBg="1"/>
      <p:bldP spid="5" grpId="0" animBg="1"/>
      <p:bldP spid="6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D21DCC57-0681-D8EE-4C4B-892F0071B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2C9A590C-7B5C-1B78-E682-8CBB21608350}"/>
              </a:ext>
            </a:extLst>
          </p:cNvPr>
          <p:cNvSpPr/>
          <p:nvPr/>
        </p:nvSpPr>
        <p:spPr>
          <a:xfrm>
            <a:off x="3791799" y="3829728"/>
            <a:ext cx="4519282" cy="3172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53768D-3AA4-3E0F-6653-AB1D9F546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277" y="2137124"/>
            <a:ext cx="5757115" cy="3325230"/>
          </a:xfrm>
          <a:prstGeom prst="rect">
            <a:avLst/>
          </a:prstGeom>
        </p:spPr>
      </p:pic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25092E80-F1AB-7677-ED9B-79069C182786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625710" y="555223"/>
            <a:ext cx="2361679" cy="64549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0FC89700-08B2-CD75-2E35-7C2D321B508E}"/>
              </a:ext>
            </a:extLst>
          </p:cNvPr>
          <p:cNvSpPr txBox="1"/>
          <p:nvPr/>
        </p:nvSpPr>
        <p:spPr>
          <a:xfrm>
            <a:off x="353163" y="543090"/>
            <a:ext cx="4997001" cy="384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Disablement</a:t>
            </a: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Libre Franklin"/>
              <a:sym typeface="Franklin Gothic"/>
            </a:endParaRPr>
          </a:p>
        </p:txBody>
      </p:sp>
      <p:sp>
        <p:nvSpPr>
          <p:cNvPr id="2" name="Google Shape;291;g2b4e50f20d3_0_888">
            <a:extLst>
              <a:ext uri="{FF2B5EF4-FFF2-40B4-BE49-F238E27FC236}">
                <a16:creationId xmlns:a16="http://schemas.microsoft.com/office/drawing/2014/main" id="{8EEE0A79-BBE2-8CF6-5F4E-9DF7E1309392}"/>
              </a:ext>
            </a:extLst>
          </p:cNvPr>
          <p:cNvSpPr txBox="1"/>
          <p:nvPr/>
        </p:nvSpPr>
        <p:spPr>
          <a:xfrm>
            <a:off x="339050" y="829828"/>
            <a:ext cx="4496057" cy="387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401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56"/>
              <a:buFont typeface="Noto Sans Symbols"/>
              <a:buChar char="◼"/>
              <a:defRPr sz="11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3401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3401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>
              <a:spcBef>
                <a:spcPts val="1080"/>
              </a:spcBef>
              <a:buClr>
                <a:srgbClr val="1CADE4"/>
              </a:buClr>
              <a:buNone/>
            </a:pPr>
            <a:r>
              <a:rPr lang="en-US" sz="1600" dirty="0">
                <a:solidFill>
                  <a:schemeClr val="tx1"/>
                </a:solidFill>
                <a:latin typeface="Calibri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sym typeface="Libre Franklin"/>
              </a:rPr>
              <a:t>)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sym typeface="Libre Franklin"/>
              </a:rPr>
              <a:t>Cont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sym typeface="Libre Franklin"/>
              </a:rPr>
              <a:t> – Create new </a:t>
            </a:r>
            <a:r>
              <a:rPr lang="en-US" sz="1600" dirty="0">
                <a:solidFill>
                  <a:schemeClr val="tx1"/>
                </a:solidFill>
                <a:latin typeface="Calibri"/>
              </a:rPr>
              <a:t>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sym typeface="Libre Franklin"/>
              </a:rPr>
              <a:t>mployee disablement record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sym typeface="Libre Franklin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297036-FCAD-8B01-74CA-4ABCD397DA6B}"/>
              </a:ext>
            </a:extLst>
          </p:cNvPr>
          <p:cNvSpPr/>
          <p:nvPr/>
        </p:nvSpPr>
        <p:spPr>
          <a:xfrm>
            <a:off x="3529655" y="3135883"/>
            <a:ext cx="1766621" cy="291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Google Shape;295;g2b4e50f20d3_0_888">
            <a:extLst>
              <a:ext uri="{FF2B5EF4-FFF2-40B4-BE49-F238E27FC236}">
                <a16:creationId xmlns:a16="http://schemas.microsoft.com/office/drawing/2014/main" id="{518226A2-54C2-854A-B795-43052E7956A1}"/>
              </a:ext>
            </a:extLst>
          </p:cNvPr>
          <p:cNvSpPr/>
          <p:nvPr/>
        </p:nvSpPr>
        <p:spPr>
          <a:xfrm>
            <a:off x="417389" y="2782133"/>
            <a:ext cx="2169060" cy="2999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 – Select Individual Disabled</a:t>
            </a: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9" name="Google Shape;296;g2b4e50f20d3_0_888">
            <a:extLst>
              <a:ext uri="{FF2B5EF4-FFF2-40B4-BE49-F238E27FC236}">
                <a16:creationId xmlns:a16="http://schemas.microsoft.com/office/drawing/2014/main" id="{2AEB90C3-4AED-0D8A-14C9-3BEE1EBD3672}"/>
              </a:ext>
            </a:extLst>
          </p:cNvPr>
          <p:cNvCxnSpPr>
            <a:cxnSpLocks/>
            <a:stCxn id="17" idx="1"/>
            <a:endCxn id="18" idx="3"/>
          </p:cNvCxnSpPr>
          <p:nvPr/>
        </p:nvCxnSpPr>
        <p:spPr>
          <a:xfrm flipH="1" flipV="1">
            <a:off x="2586449" y="2932130"/>
            <a:ext cx="943206" cy="34930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38274D7-FC64-AC3B-8D92-6F07EF9A884B}"/>
              </a:ext>
            </a:extLst>
          </p:cNvPr>
          <p:cNvSpPr/>
          <p:nvPr/>
        </p:nvSpPr>
        <p:spPr>
          <a:xfrm>
            <a:off x="3529655" y="2746318"/>
            <a:ext cx="4781426" cy="295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Google Shape;295;g2b4e50f20d3_0_888">
            <a:extLst>
              <a:ext uri="{FF2B5EF4-FFF2-40B4-BE49-F238E27FC236}">
                <a16:creationId xmlns:a16="http://schemas.microsoft.com/office/drawing/2014/main" id="{D71FBE0B-18EC-296F-D106-60790B2A0C1B}"/>
              </a:ext>
            </a:extLst>
          </p:cNvPr>
          <p:cNvSpPr/>
          <p:nvPr/>
        </p:nvSpPr>
        <p:spPr>
          <a:xfrm>
            <a:off x="9286770" y="2725562"/>
            <a:ext cx="2169060" cy="33726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4– Select Employee</a:t>
            </a: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7" name="Google Shape;296;g2b4e50f20d3_0_888">
            <a:extLst>
              <a:ext uri="{FF2B5EF4-FFF2-40B4-BE49-F238E27FC236}">
                <a16:creationId xmlns:a16="http://schemas.microsoft.com/office/drawing/2014/main" id="{5CCE889C-835F-2315-E26B-C3775875CA0B}"/>
              </a:ext>
            </a:extLst>
          </p:cNvPr>
          <p:cNvCxnSpPr>
            <a:cxnSpLocks/>
            <a:stCxn id="5" idx="1"/>
            <a:endCxn id="3" idx="3"/>
          </p:cNvCxnSpPr>
          <p:nvPr/>
        </p:nvCxnSpPr>
        <p:spPr>
          <a:xfrm flipH="1">
            <a:off x="8311081" y="2894192"/>
            <a:ext cx="975689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A111677-F14C-22DB-834B-0876907D251C}"/>
              </a:ext>
            </a:extLst>
          </p:cNvPr>
          <p:cNvSpPr/>
          <p:nvPr/>
        </p:nvSpPr>
        <p:spPr>
          <a:xfrm>
            <a:off x="3529655" y="3473428"/>
            <a:ext cx="1766621" cy="291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Google Shape;295;g2b4e50f20d3_0_888">
            <a:extLst>
              <a:ext uri="{FF2B5EF4-FFF2-40B4-BE49-F238E27FC236}">
                <a16:creationId xmlns:a16="http://schemas.microsoft.com/office/drawing/2014/main" id="{28125ABE-9950-B4D6-1DFB-97400751B0A9}"/>
              </a:ext>
            </a:extLst>
          </p:cNvPr>
          <p:cNvSpPr/>
          <p:nvPr/>
        </p:nvSpPr>
        <p:spPr>
          <a:xfrm>
            <a:off x="417389" y="3601472"/>
            <a:ext cx="2152512" cy="33701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 – Select Spouse Disabled</a:t>
            </a: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43" name="Google Shape;296;g2b4e50f20d3_0_888">
            <a:extLst>
              <a:ext uri="{FF2B5EF4-FFF2-40B4-BE49-F238E27FC236}">
                <a16:creationId xmlns:a16="http://schemas.microsoft.com/office/drawing/2014/main" id="{33ECA13C-7712-D8B7-1942-33C98378C850}"/>
              </a:ext>
            </a:extLst>
          </p:cNvPr>
          <p:cNvCxnSpPr>
            <a:cxnSpLocks/>
            <a:stCxn id="39" idx="1"/>
            <a:endCxn id="42" idx="3"/>
          </p:cNvCxnSpPr>
          <p:nvPr/>
        </p:nvCxnSpPr>
        <p:spPr>
          <a:xfrm flipH="1">
            <a:off x="2569901" y="3618978"/>
            <a:ext cx="959754" cy="151001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" name="Google Shape;295;g2b4e50f20d3_0_888">
            <a:extLst>
              <a:ext uri="{FF2B5EF4-FFF2-40B4-BE49-F238E27FC236}">
                <a16:creationId xmlns:a16="http://schemas.microsoft.com/office/drawing/2014/main" id="{023719F2-07F1-5A3A-A06A-97C6D40D689C}"/>
              </a:ext>
            </a:extLst>
          </p:cNvPr>
          <p:cNvSpPr/>
          <p:nvPr/>
        </p:nvSpPr>
        <p:spPr>
          <a:xfrm>
            <a:off x="9286770" y="3775384"/>
            <a:ext cx="2252090" cy="37433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7– Insert the number of Child Disabled(if any)</a:t>
            </a: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D2033A3-0A20-F702-4648-C51769CF2487}"/>
              </a:ext>
            </a:extLst>
          </p:cNvPr>
          <p:cNvSpPr/>
          <p:nvPr/>
        </p:nvSpPr>
        <p:spPr>
          <a:xfrm>
            <a:off x="3529655" y="3825162"/>
            <a:ext cx="4781426" cy="2974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9" name="Google Shape;296;g2b4e50f20d3_0_888">
            <a:extLst>
              <a:ext uri="{FF2B5EF4-FFF2-40B4-BE49-F238E27FC236}">
                <a16:creationId xmlns:a16="http://schemas.microsoft.com/office/drawing/2014/main" id="{1A192DB9-F3EE-5ACA-62BE-903959E74BAA}"/>
              </a:ext>
            </a:extLst>
          </p:cNvPr>
          <p:cNvCxnSpPr>
            <a:cxnSpLocks/>
            <a:stCxn id="53" idx="1"/>
            <a:endCxn id="56" idx="3"/>
          </p:cNvCxnSpPr>
          <p:nvPr/>
        </p:nvCxnSpPr>
        <p:spPr>
          <a:xfrm flipH="1">
            <a:off x="8311081" y="3962553"/>
            <a:ext cx="975689" cy="11358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39C73DD-61F3-9136-3963-CCB50A13BC97}"/>
              </a:ext>
            </a:extLst>
          </p:cNvPr>
          <p:cNvSpPr/>
          <p:nvPr/>
        </p:nvSpPr>
        <p:spPr>
          <a:xfrm>
            <a:off x="4718304" y="5011680"/>
            <a:ext cx="822960" cy="3218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Google Shape;295;g2b4e50f20d3_0_888">
            <a:extLst>
              <a:ext uri="{FF2B5EF4-FFF2-40B4-BE49-F238E27FC236}">
                <a16:creationId xmlns:a16="http://schemas.microsoft.com/office/drawing/2014/main" id="{A06ABE1B-BDC6-E37C-14F1-F786F164E162}"/>
              </a:ext>
            </a:extLst>
          </p:cNvPr>
          <p:cNvSpPr/>
          <p:nvPr/>
        </p:nvSpPr>
        <p:spPr>
          <a:xfrm>
            <a:off x="3049778" y="5759555"/>
            <a:ext cx="2489879" cy="32459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8– Click ‘ Save’ once done</a:t>
            </a: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1" name="Google Shape;296;g2b4e50f20d3_0_888">
            <a:extLst>
              <a:ext uri="{FF2B5EF4-FFF2-40B4-BE49-F238E27FC236}">
                <a16:creationId xmlns:a16="http://schemas.microsoft.com/office/drawing/2014/main" id="{1D766A62-E2E7-498F-C991-EDD001905763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4294718" y="5333483"/>
            <a:ext cx="835066" cy="426072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78687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17" grpId="0" animBg="1"/>
      <p:bldP spid="18" grpId="0" animBg="1"/>
      <p:bldP spid="3" grpId="0" animBg="1"/>
      <p:bldP spid="5" grpId="0" animBg="1"/>
      <p:bldP spid="39" grpId="0" animBg="1"/>
      <p:bldP spid="42" grpId="0" animBg="1"/>
      <p:bldP spid="53" grpId="0" animBg="1"/>
      <p:bldP spid="56" grpId="0" animBg="1"/>
      <p:bldP spid="9" grpId="0" animBg="1"/>
      <p:bldP spid="1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622704CE-9EE5-3336-482F-BBDDE1988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4E877F-2E65-8CCF-2E8B-74BD5F8C4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171" y="2498032"/>
            <a:ext cx="9434286" cy="2660221"/>
          </a:xfrm>
          <a:prstGeom prst="rect">
            <a:avLst/>
          </a:prstGeom>
        </p:spPr>
      </p:pic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4095E5B1-4173-76DD-0817-A79FC57FF74B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185739" y="571753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b4e50f20d3_0_888">
            <a:extLst>
              <a:ext uri="{FF2B5EF4-FFF2-40B4-BE49-F238E27FC236}">
                <a16:creationId xmlns:a16="http://schemas.microsoft.com/office/drawing/2014/main" id="{DE032DD7-9DEE-0F0F-AC12-A0C4E09E6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592" y="844937"/>
            <a:ext cx="8052532" cy="311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1) Access Employee Management &gt; Access </a:t>
            </a:r>
            <a:r>
              <a:rPr lang="en-MY" sz="16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Upload File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198CA312-2EDB-E46E-040D-1D2718332680}"/>
              </a:ext>
            </a:extLst>
          </p:cNvPr>
          <p:cNvSpPr txBox="1"/>
          <p:nvPr/>
        </p:nvSpPr>
        <p:spPr>
          <a:xfrm>
            <a:off x="385920" y="546617"/>
            <a:ext cx="5060500" cy="39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lang="en-MY" sz="1800" b="1">
                <a:solidFill>
                  <a:srgbClr val="000000"/>
                </a:solidFill>
                <a:latin typeface="Libre Franklin"/>
                <a:sym typeface="Libre Franklin"/>
              </a:rPr>
              <a:t>Upload File</a:t>
            </a:r>
            <a:endParaRPr lang="en-US"/>
          </a:p>
        </p:txBody>
      </p:sp>
      <p:sp>
        <p:nvSpPr>
          <p:cNvPr id="7" name="Google Shape;272;g2b4e50f20d3_0_873">
            <a:extLst>
              <a:ext uri="{FF2B5EF4-FFF2-40B4-BE49-F238E27FC236}">
                <a16:creationId xmlns:a16="http://schemas.microsoft.com/office/drawing/2014/main" id="{1658F6BB-CAD0-8901-46F3-DDB3429F6461}"/>
              </a:ext>
            </a:extLst>
          </p:cNvPr>
          <p:cNvSpPr/>
          <p:nvPr/>
        </p:nvSpPr>
        <p:spPr>
          <a:xfrm>
            <a:off x="235366" y="3584781"/>
            <a:ext cx="1591861" cy="51628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1-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Click Employee Management</a:t>
            </a:r>
            <a:endParaRPr lang="en-MY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765019-C352-E97F-BE0A-70BB0C6A8C20}"/>
              </a:ext>
            </a:extLst>
          </p:cNvPr>
          <p:cNvCxnSpPr>
            <a:cxnSpLocks/>
          </p:cNvCxnSpPr>
          <p:nvPr/>
        </p:nvCxnSpPr>
        <p:spPr>
          <a:xfrm flipH="1">
            <a:off x="1823042" y="3868257"/>
            <a:ext cx="563457" cy="2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D5A0FF7-96FC-2039-118A-E5011B6C4A56}"/>
              </a:ext>
            </a:extLst>
          </p:cNvPr>
          <p:cNvSpPr/>
          <p:nvPr/>
        </p:nvSpPr>
        <p:spPr>
          <a:xfrm>
            <a:off x="2389808" y="3743277"/>
            <a:ext cx="1409435" cy="241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8" name="Google Shape;272;g2b4e50f20d3_0_873">
            <a:extLst>
              <a:ext uri="{FF2B5EF4-FFF2-40B4-BE49-F238E27FC236}">
                <a16:creationId xmlns:a16="http://schemas.microsoft.com/office/drawing/2014/main" id="{9511BFBD-84E1-4D06-CC93-848E677EB6DB}"/>
              </a:ext>
            </a:extLst>
          </p:cNvPr>
          <p:cNvSpPr/>
          <p:nvPr/>
        </p:nvSpPr>
        <p:spPr>
          <a:xfrm>
            <a:off x="224198" y="4776362"/>
            <a:ext cx="1594462" cy="35452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2-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Click Upload File</a:t>
            </a:r>
            <a:endParaRPr lang="en-MY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B6D2A5-49AA-39AC-9D7B-54230F953D2C}"/>
              </a:ext>
            </a:extLst>
          </p:cNvPr>
          <p:cNvSpPr/>
          <p:nvPr/>
        </p:nvSpPr>
        <p:spPr>
          <a:xfrm>
            <a:off x="2397065" y="4839106"/>
            <a:ext cx="1409435" cy="241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BC9804-5F53-FFC8-6543-9B75FDBAAA76}"/>
              </a:ext>
            </a:extLst>
          </p:cNvPr>
          <p:cNvCxnSpPr>
            <a:cxnSpLocks/>
          </p:cNvCxnSpPr>
          <p:nvPr/>
        </p:nvCxnSpPr>
        <p:spPr>
          <a:xfrm flipH="1">
            <a:off x="1823042" y="4971342"/>
            <a:ext cx="563457" cy="2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92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  <p:bldP spid="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FA4B7E67-05C2-9838-C3DB-5E284B6A8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BFD6EE-5B4B-2449-96FB-4A6F32C29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858" y="3797221"/>
            <a:ext cx="8258630" cy="228253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1F67A11-5A84-FBF4-B482-9CDD2E2C6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028" y="1296973"/>
            <a:ext cx="10109200" cy="2246569"/>
          </a:xfrm>
          <a:prstGeom prst="rect">
            <a:avLst/>
          </a:prstGeom>
        </p:spPr>
      </p:pic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39823DC8-0440-F3D1-2AF5-D7F0308370BF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85739" y="571753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b4e50f20d3_0_888">
            <a:extLst>
              <a:ext uri="{FF2B5EF4-FFF2-40B4-BE49-F238E27FC236}">
                <a16:creationId xmlns:a16="http://schemas.microsoft.com/office/drawing/2014/main" id="{EC002198-9B19-85B3-5E1E-B3A9D49AA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592" y="844937"/>
            <a:ext cx="8052532" cy="311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MY" sz="16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2) Download template and open it</a:t>
            </a: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Google Shape;272;g2b4e50f20d3_0_873">
            <a:extLst>
              <a:ext uri="{FF2B5EF4-FFF2-40B4-BE49-F238E27FC236}">
                <a16:creationId xmlns:a16="http://schemas.microsoft.com/office/drawing/2014/main" id="{4A2A10DE-0BB8-674F-E328-4AAE75149443}"/>
              </a:ext>
            </a:extLst>
          </p:cNvPr>
          <p:cNvSpPr/>
          <p:nvPr/>
        </p:nvSpPr>
        <p:spPr>
          <a:xfrm>
            <a:off x="5329880" y="2859067"/>
            <a:ext cx="1867632" cy="29131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3-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Click Download Template</a:t>
            </a:r>
            <a:endParaRPr lang="en-MY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FB8C3F-5BD1-29B0-BBA0-9C41AA0B0E07}"/>
              </a:ext>
            </a:extLst>
          </p:cNvPr>
          <p:cNvCxnSpPr>
            <a:cxnSpLocks/>
          </p:cNvCxnSpPr>
          <p:nvPr/>
        </p:nvCxnSpPr>
        <p:spPr>
          <a:xfrm flipH="1">
            <a:off x="7200585" y="3004657"/>
            <a:ext cx="563457" cy="2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CF942EF-768F-BAA9-6B2D-3FE7353F0AC9}"/>
              </a:ext>
            </a:extLst>
          </p:cNvPr>
          <p:cNvSpPr/>
          <p:nvPr/>
        </p:nvSpPr>
        <p:spPr>
          <a:xfrm>
            <a:off x="7767351" y="2879676"/>
            <a:ext cx="1228007" cy="248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8" name="Google Shape;272;g2b4e50f20d3_0_873">
            <a:extLst>
              <a:ext uri="{FF2B5EF4-FFF2-40B4-BE49-F238E27FC236}">
                <a16:creationId xmlns:a16="http://schemas.microsoft.com/office/drawing/2014/main" id="{F5039C7F-CA5A-7166-6B59-1E112AFD041F}"/>
              </a:ext>
            </a:extLst>
          </p:cNvPr>
          <p:cNvSpPr/>
          <p:nvPr/>
        </p:nvSpPr>
        <p:spPr>
          <a:xfrm>
            <a:off x="9789113" y="4079677"/>
            <a:ext cx="1594462" cy="35452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4-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Open Template</a:t>
            </a:r>
            <a:endParaRPr lang="en-MY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E5CEA2-73FB-0780-EBD9-0B1A12724739}"/>
              </a:ext>
            </a:extLst>
          </p:cNvPr>
          <p:cNvCxnSpPr>
            <a:cxnSpLocks/>
          </p:cNvCxnSpPr>
          <p:nvPr/>
        </p:nvCxnSpPr>
        <p:spPr>
          <a:xfrm flipV="1">
            <a:off x="8736500" y="4269581"/>
            <a:ext cx="1054885" cy="5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F6DF266-E9A0-B68D-C62B-EAEEB3CAB597}"/>
              </a:ext>
            </a:extLst>
          </p:cNvPr>
          <p:cNvSpPr/>
          <p:nvPr/>
        </p:nvSpPr>
        <p:spPr>
          <a:xfrm>
            <a:off x="6511866" y="4098876"/>
            <a:ext cx="2302064" cy="4085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5" name="Google Shape;282;g2b4e50f20d3_0_902">
            <a:extLst>
              <a:ext uri="{FF2B5EF4-FFF2-40B4-BE49-F238E27FC236}">
                <a16:creationId xmlns:a16="http://schemas.microsoft.com/office/drawing/2014/main" id="{F40DB247-6FE5-22C4-4460-8D4C91E95210}"/>
              </a:ext>
            </a:extLst>
          </p:cNvPr>
          <p:cNvSpPr txBox="1"/>
          <p:nvPr/>
        </p:nvSpPr>
        <p:spPr>
          <a:xfrm>
            <a:off x="385920" y="546617"/>
            <a:ext cx="5060500" cy="39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lang="en-MY" sz="1800" b="1">
                <a:solidFill>
                  <a:srgbClr val="000000"/>
                </a:solidFill>
                <a:latin typeface="Libre Franklin"/>
                <a:sym typeface="Libre Franklin"/>
              </a:rPr>
              <a:t>Upload File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4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  <p:bldP spid="1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75E869A1-0765-91F8-EC77-AD07A107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34970F-046A-00CB-6D5F-6E8633D31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124" y="1465943"/>
            <a:ext cx="8698438" cy="4956630"/>
          </a:xfrm>
          <a:prstGeom prst="rect">
            <a:avLst/>
          </a:prstGeom>
        </p:spPr>
      </p:pic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1279DB32-04EE-00C9-1DEC-29B84272CB11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96196" y="564496"/>
            <a:ext cx="2638660" cy="68581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b4e50f20d3_0_888">
            <a:extLst>
              <a:ext uri="{FF2B5EF4-FFF2-40B4-BE49-F238E27FC236}">
                <a16:creationId xmlns:a16="http://schemas.microsoft.com/office/drawing/2014/main" id="{EA1650EC-04F2-420B-5453-A5C9CDD847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592" y="844937"/>
            <a:ext cx="8052532" cy="39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3) </a:t>
            </a:r>
            <a:r>
              <a:rPr lang="en-MY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Cont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- Insert necessary details into template and save template.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Google Shape;272;g2b4e50f20d3_0_873">
            <a:extLst>
              <a:ext uri="{FF2B5EF4-FFF2-40B4-BE49-F238E27FC236}">
                <a16:creationId xmlns:a16="http://schemas.microsoft.com/office/drawing/2014/main" id="{8B65A1D1-3B10-B8B1-03B3-85B470E9F743}"/>
              </a:ext>
            </a:extLst>
          </p:cNvPr>
          <p:cNvSpPr/>
          <p:nvPr/>
        </p:nvSpPr>
        <p:spPr>
          <a:xfrm>
            <a:off x="5344398" y="3947639"/>
            <a:ext cx="1961973" cy="31308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6-</a:t>
            </a:r>
            <a:r>
              <a:rPr kumimoji="0" lang="en-MY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Insert all necessary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details</a:t>
            </a:r>
            <a:endParaRPr lang="en-MY" sz="11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18F5A7-9419-4A8D-377E-E4D3F91941C6}"/>
              </a:ext>
            </a:extLst>
          </p:cNvPr>
          <p:cNvCxnSpPr>
            <a:cxnSpLocks/>
          </p:cNvCxnSpPr>
          <p:nvPr/>
        </p:nvCxnSpPr>
        <p:spPr>
          <a:xfrm flipH="1">
            <a:off x="4711384" y="5726085"/>
            <a:ext cx="4658" cy="495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DD53F2A-BA9C-691F-E057-535E637F86E5}"/>
              </a:ext>
            </a:extLst>
          </p:cNvPr>
          <p:cNvSpPr/>
          <p:nvPr/>
        </p:nvSpPr>
        <p:spPr>
          <a:xfrm>
            <a:off x="2534950" y="6217962"/>
            <a:ext cx="4602579" cy="198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8" name="Google Shape;272;g2b4e50f20d3_0_873">
            <a:extLst>
              <a:ext uri="{FF2B5EF4-FFF2-40B4-BE49-F238E27FC236}">
                <a16:creationId xmlns:a16="http://schemas.microsoft.com/office/drawing/2014/main" id="{57175FE2-928D-81A9-4B03-346CD9C3C543}"/>
              </a:ext>
            </a:extLst>
          </p:cNvPr>
          <p:cNvSpPr/>
          <p:nvPr/>
        </p:nvSpPr>
        <p:spPr>
          <a:xfrm>
            <a:off x="3918084" y="5414991"/>
            <a:ext cx="1594462" cy="31098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5-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Click the required tab</a:t>
            </a:r>
            <a:endParaRPr lang="en-MY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2D29D3-677C-355B-0C7A-27ADF402BD9A}"/>
              </a:ext>
            </a:extLst>
          </p:cNvPr>
          <p:cNvSpPr/>
          <p:nvPr/>
        </p:nvSpPr>
        <p:spPr>
          <a:xfrm>
            <a:off x="2353522" y="1624190"/>
            <a:ext cx="212007" cy="248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7" name="Google Shape;272;g2b4e50f20d3_0_873">
            <a:extLst>
              <a:ext uri="{FF2B5EF4-FFF2-40B4-BE49-F238E27FC236}">
                <a16:creationId xmlns:a16="http://schemas.microsoft.com/office/drawing/2014/main" id="{02C74B60-B687-9D0F-4629-1898E44CE880}"/>
              </a:ext>
            </a:extLst>
          </p:cNvPr>
          <p:cNvSpPr/>
          <p:nvPr/>
        </p:nvSpPr>
        <p:spPr>
          <a:xfrm>
            <a:off x="3301227" y="1590477"/>
            <a:ext cx="1086463" cy="28195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7-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Click Save</a:t>
            </a:r>
            <a:endParaRPr lang="en-MY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387237B-FDB7-7884-AC04-E97DBFD896EC}"/>
              </a:ext>
            </a:extLst>
          </p:cNvPr>
          <p:cNvCxnSpPr>
            <a:cxnSpLocks/>
          </p:cNvCxnSpPr>
          <p:nvPr/>
        </p:nvCxnSpPr>
        <p:spPr>
          <a:xfrm flipH="1">
            <a:off x="2585041" y="1756426"/>
            <a:ext cx="694087" cy="2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282;g2b4e50f20d3_0_902">
            <a:extLst>
              <a:ext uri="{FF2B5EF4-FFF2-40B4-BE49-F238E27FC236}">
                <a16:creationId xmlns:a16="http://schemas.microsoft.com/office/drawing/2014/main" id="{F188B150-7EFF-5737-4BC1-2B4DD49E1CDE}"/>
              </a:ext>
            </a:extLst>
          </p:cNvPr>
          <p:cNvSpPr txBox="1"/>
          <p:nvPr/>
        </p:nvSpPr>
        <p:spPr>
          <a:xfrm>
            <a:off x="385920" y="546617"/>
            <a:ext cx="5060500" cy="39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lang="en-MY" sz="1800" b="1">
                <a:solidFill>
                  <a:srgbClr val="000000"/>
                </a:solidFill>
                <a:latin typeface="Libre Franklin"/>
                <a:sym typeface="Libre Franklin"/>
              </a:rPr>
              <a:t>Upload File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4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  <p:bldP spid="15" grpId="0" animBg="1"/>
      <p:bldP spid="17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1A7C42C8-0581-151D-B32D-AFCBBDE3F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10D1CF-BC7A-57F3-E3E7-06790379E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886" y="1975635"/>
            <a:ext cx="9876972" cy="3436500"/>
          </a:xfrm>
          <a:prstGeom prst="rect">
            <a:avLst/>
          </a:prstGeom>
        </p:spPr>
      </p:pic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C689974E-18F4-BF60-8B5E-1072A325DE44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185739" y="571753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b4e50f20d3_0_888">
            <a:extLst>
              <a:ext uri="{FF2B5EF4-FFF2-40B4-BE49-F238E27FC236}">
                <a16:creationId xmlns:a16="http://schemas.microsoft.com/office/drawing/2014/main" id="{49286AD5-9E0D-3B54-8D59-050B1B996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592" y="844937"/>
            <a:ext cx="8052532" cy="398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4) </a:t>
            </a:r>
            <a:r>
              <a:rPr lang="en-MY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Cont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- Upload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4E74EDB1-9086-8FBC-EA64-AA900461E708}"/>
              </a:ext>
            </a:extLst>
          </p:cNvPr>
          <p:cNvSpPr txBox="1"/>
          <p:nvPr/>
        </p:nvSpPr>
        <p:spPr>
          <a:xfrm>
            <a:off x="385920" y="546617"/>
            <a:ext cx="5060500" cy="39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lang="en-MY" sz="1800" b="1">
                <a:solidFill>
                  <a:srgbClr val="000000"/>
                </a:solidFill>
                <a:latin typeface="Libre Franklin"/>
              </a:rPr>
              <a:t>Upload File</a:t>
            </a:r>
          </a:p>
        </p:txBody>
      </p:sp>
      <p:sp>
        <p:nvSpPr>
          <p:cNvPr id="7" name="Google Shape;272;g2b4e50f20d3_0_873">
            <a:extLst>
              <a:ext uri="{FF2B5EF4-FFF2-40B4-BE49-F238E27FC236}">
                <a16:creationId xmlns:a16="http://schemas.microsoft.com/office/drawing/2014/main" id="{4702C307-E633-BD11-53D3-E203CCF667C1}"/>
              </a:ext>
            </a:extLst>
          </p:cNvPr>
          <p:cNvSpPr/>
          <p:nvPr/>
        </p:nvSpPr>
        <p:spPr>
          <a:xfrm>
            <a:off x="2412510" y="1451182"/>
            <a:ext cx="2252261" cy="29856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8-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Select the required transfer type</a:t>
            </a:r>
            <a:endParaRPr lang="en-MY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483A9E-1239-0D88-DDDF-6469F57ABAE3}"/>
              </a:ext>
            </a:extLst>
          </p:cNvPr>
          <p:cNvCxnSpPr>
            <a:cxnSpLocks/>
          </p:cNvCxnSpPr>
          <p:nvPr/>
        </p:nvCxnSpPr>
        <p:spPr>
          <a:xfrm flipV="1">
            <a:off x="3467814" y="1751356"/>
            <a:ext cx="2599" cy="1318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9F3C0-38F5-01C3-BA7C-699955EAB5E3}"/>
              </a:ext>
            </a:extLst>
          </p:cNvPr>
          <p:cNvSpPr/>
          <p:nvPr/>
        </p:nvSpPr>
        <p:spPr>
          <a:xfrm>
            <a:off x="2585751" y="3082875"/>
            <a:ext cx="1931948" cy="2215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8" name="Google Shape;272;g2b4e50f20d3_0_873">
            <a:extLst>
              <a:ext uri="{FF2B5EF4-FFF2-40B4-BE49-F238E27FC236}">
                <a16:creationId xmlns:a16="http://schemas.microsoft.com/office/drawing/2014/main" id="{F19526C2-E9DB-4AA3-71AE-490C5AD99BEC}"/>
              </a:ext>
            </a:extLst>
          </p:cNvPr>
          <p:cNvSpPr/>
          <p:nvPr/>
        </p:nvSpPr>
        <p:spPr>
          <a:xfrm>
            <a:off x="6349226" y="1713848"/>
            <a:ext cx="1594462" cy="29646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9-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Click Browse File</a:t>
            </a:r>
            <a:endParaRPr lang="en-MY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B81095E-9269-8906-F746-B810D585AC37}"/>
              </a:ext>
            </a:extLst>
          </p:cNvPr>
          <p:cNvCxnSpPr>
            <a:cxnSpLocks/>
          </p:cNvCxnSpPr>
          <p:nvPr/>
        </p:nvCxnSpPr>
        <p:spPr>
          <a:xfrm flipH="1" flipV="1">
            <a:off x="7069956" y="2005355"/>
            <a:ext cx="4658" cy="1079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8AA81A1-38A5-F569-BA55-99556C639B55}"/>
              </a:ext>
            </a:extLst>
          </p:cNvPr>
          <p:cNvSpPr/>
          <p:nvPr/>
        </p:nvSpPr>
        <p:spPr>
          <a:xfrm>
            <a:off x="5539408" y="3082875"/>
            <a:ext cx="3209207" cy="3286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FE8037-E473-661B-70DF-41BE98B25DA8}"/>
              </a:ext>
            </a:extLst>
          </p:cNvPr>
          <p:cNvSpPr/>
          <p:nvPr/>
        </p:nvSpPr>
        <p:spPr>
          <a:xfrm>
            <a:off x="8877694" y="3111904"/>
            <a:ext cx="872407" cy="270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8" name="Google Shape;272;g2b4e50f20d3_0_873">
            <a:extLst>
              <a:ext uri="{FF2B5EF4-FFF2-40B4-BE49-F238E27FC236}">
                <a16:creationId xmlns:a16="http://schemas.microsoft.com/office/drawing/2014/main" id="{5E6EFCD8-AD43-2448-A484-EC624B723B24}"/>
              </a:ext>
            </a:extLst>
          </p:cNvPr>
          <p:cNvSpPr/>
          <p:nvPr/>
        </p:nvSpPr>
        <p:spPr>
          <a:xfrm>
            <a:off x="8468312" y="1713847"/>
            <a:ext cx="1594462" cy="29646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10-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Click Upload</a:t>
            </a:r>
            <a:endParaRPr lang="en-MY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FBD385-8AC0-66A2-0830-229B6AEF1AEE}"/>
              </a:ext>
            </a:extLst>
          </p:cNvPr>
          <p:cNvCxnSpPr>
            <a:cxnSpLocks/>
          </p:cNvCxnSpPr>
          <p:nvPr/>
        </p:nvCxnSpPr>
        <p:spPr>
          <a:xfrm flipH="1" flipV="1">
            <a:off x="9261613" y="2012612"/>
            <a:ext cx="4658" cy="1079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Google Shape;272;g2b4e50f20d3_0_873">
            <a:extLst>
              <a:ext uri="{FF2B5EF4-FFF2-40B4-BE49-F238E27FC236}">
                <a16:creationId xmlns:a16="http://schemas.microsoft.com/office/drawing/2014/main" id="{130809F9-A348-F583-8489-F84A8A226DE2}"/>
              </a:ext>
            </a:extLst>
          </p:cNvPr>
          <p:cNvSpPr/>
          <p:nvPr/>
        </p:nvSpPr>
        <p:spPr>
          <a:xfrm>
            <a:off x="4669481" y="4092782"/>
            <a:ext cx="3014261" cy="64690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r>
              <a:rPr lang="en-MY" sz="1100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Note:</a:t>
            </a:r>
            <a:endParaRPr lang="en-US">
              <a:solidFill>
                <a:schemeClr val="accent4"/>
              </a:solidFill>
              <a:cs typeface="Arial"/>
            </a:endParaRPr>
          </a:p>
          <a:p>
            <a:pPr>
              <a:defRPr/>
            </a:pPr>
            <a:r>
              <a:rPr lang="en-MY" sz="1100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Leave the field as '--Select--' or select '--Select--' to process all data </a:t>
            </a:r>
            <a:r>
              <a:rPr lang="en-MY" sz="1100" dirty="0">
                <a:solidFill>
                  <a:schemeClr val="accent4"/>
                </a:solidFill>
                <a:latin typeface="Calibri"/>
                <a:ea typeface="Calibri"/>
                <a:cs typeface="Calibri"/>
              </a:rPr>
              <a:t>from template</a:t>
            </a:r>
            <a:endParaRPr lang="en-MY">
              <a:solidFill>
                <a:schemeClr val="accent4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994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  <p:bldP spid="11" grpId="0" animBg="1"/>
      <p:bldP spid="16" grpId="0" animBg="1"/>
      <p:bldP spid="18" grpId="0" animBg="1"/>
      <p:bldP spid="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0775A7A5-8A5B-231F-FDA9-F3A947AE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8B76CBD-14A8-B362-06B1-4E6F8C1F9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830" y="3698487"/>
            <a:ext cx="6792686" cy="29589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F4C4AB-167F-45FA-FE4B-A61D28829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830" y="1231618"/>
            <a:ext cx="6792688" cy="2275680"/>
          </a:xfrm>
          <a:prstGeom prst="rect">
            <a:avLst/>
          </a:prstGeom>
        </p:spPr>
      </p:pic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12FEA577-F461-1BD0-07D6-DB902685CE54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85739" y="571753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b4e50f20d3_0_888">
            <a:extLst>
              <a:ext uri="{FF2B5EF4-FFF2-40B4-BE49-F238E27FC236}">
                <a16:creationId xmlns:a16="http://schemas.microsoft.com/office/drawing/2014/main" id="{3503C7CB-F814-3137-D443-C64CDC6B17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592" y="844937"/>
            <a:ext cx="8052532" cy="311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MY" sz="16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5) Save reimbursement c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laim data.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16AA9F4E-2DC5-278B-F975-9A07E06750FD}"/>
              </a:ext>
            </a:extLst>
          </p:cNvPr>
          <p:cNvSpPr txBox="1"/>
          <p:nvPr/>
        </p:nvSpPr>
        <p:spPr>
          <a:xfrm>
            <a:off x="385920" y="546617"/>
            <a:ext cx="5060500" cy="39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lang="en-MY" sz="1800" b="1">
                <a:solidFill>
                  <a:srgbClr val="000000"/>
                </a:solidFill>
                <a:latin typeface="Libre Franklin"/>
                <a:sym typeface="Libre Franklin"/>
              </a:rPr>
              <a:t>Manage Reimbursement Claim</a:t>
            </a:r>
            <a:endParaRPr lang="en-MY" sz="1800" b="1">
              <a:solidFill>
                <a:srgbClr val="000000"/>
              </a:solidFill>
              <a:latin typeface="Libre Franklin"/>
            </a:endParaRPr>
          </a:p>
        </p:txBody>
      </p:sp>
      <p:sp>
        <p:nvSpPr>
          <p:cNvPr id="7" name="Google Shape;272;g2b4e50f20d3_0_873">
            <a:extLst>
              <a:ext uri="{FF2B5EF4-FFF2-40B4-BE49-F238E27FC236}">
                <a16:creationId xmlns:a16="http://schemas.microsoft.com/office/drawing/2014/main" id="{B9669CE8-1EBD-7449-9F1B-0C74E7353358}"/>
              </a:ext>
            </a:extLst>
          </p:cNvPr>
          <p:cNvSpPr/>
          <p:nvPr/>
        </p:nvSpPr>
        <p:spPr>
          <a:xfrm>
            <a:off x="9052795" y="2619581"/>
            <a:ext cx="1591861" cy="29856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11-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Click Yes</a:t>
            </a:r>
            <a:endParaRPr lang="en-MY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2FD959-F003-F181-EECB-C4A8BACF130F}"/>
              </a:ext>
            </a:extLst>
          </p:cNvPr>
          <p:cNvSpPr/>
          <p:nvPr/>
        </p:nvSpPr>
        <p:spPr>
          <a:xfrm>
            <a:off x="6403008" y="2625678"/>
            <a:ext cx="349893" cy="2924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8" name="Google Shape;272;g2b4e50f20d3_0_873">
            <a:extLst>
              <a:ext uri="{FF2B5EF4-FFF2-40B4-BE49-F238E27FC236}">
                <a16:creationId xmlns:a16="http://schemas.microsoft.com/office/drawing/2014/main" id="{CC8C8CF8-5EE8-89E6-8597-12845B344099}"/>
              </a:ext>
            </a:extLst>
          </p:cNvPr>
          <p:cNvSpPr/>
          <p:nvPr/>
        </p:nvSpPr>
        <p:spPr>
          <a:xfrm>
            <a:off x="4302713" y="5277104"/>
            <a:ext cx="2276633" cy="35452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Show Review</a:t>
            </a:r>
            <a:r>
              <a:rPr lang="en-MY" sz="1100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 &amp; Edit Uploaded Data </a:t>
            </a:r>
            <a:endParaRPr lang="en-MY" sz="11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9ADBB6-026F-8298-A1E9-AA4B09E4FB65}"/>
              </a:ext>
            </a:extLst>
          </p:cNvPr>
          <p:cNvSpPr/>
          <p:nvPr/>
        </p:nvSpPr>
        <p:spPr>
          <a:xfrm>
            <a:off x="7629466" y="6370363"/>
            <a:ext cx="1003035" cy="219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5" name="Google Shape;272;g2b4e50f20d3_0_873">
            <a:extLst>
              <a:ext uri="{FF2B5EF4-FFF2-40B4-BE49-F238E27FC236}">
                <a16:creationId xmlns:a16="http://schemas.microsoft.com/office/drawing/2014/main" id="{7AE6F99D-C709-8E4D-1187-8324AF2A2BBF}"/>
              </a:ext>
            </a:extLst>
          </p:cNvPr>
          <p:cNvSpPr/>
          <p:nvPr/>
        </p:nvSpPr>
        <p:spPr>
          <a:xfrm>
            <a:off x="9114199" y="6285848"/>
            <a:ext cx="1608976" cy="34001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12- Click Confirm &amp; Save</a:t>
            </a:r>
            <a:endParaRPr lang="en-MY" sz="11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38EEC4-A8A6-8D11-7A0B-9CFA05C69A0D}"/>
              </a:ext>
            </a:extLst>
          </p:cNvPr>
          <p:cNvCxnSpPr>
            <a:cxnSpLocks/>
          </p:cNvCxnSpPr>
          <p:nvPr/>
        </p:nvCxnSpPr>
        <p:spPr>
          <a:xfrm>
            <a:off x="8642158" y="6466313"/>
            <a:ext cx="474312" cy="2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Google Shape;272;g2b4e50f20d3_0_873">
            <a:extLst>
              <a:ext uri="{FF2B5EF4-FFF2-40B4-BE49-F238E27FC236}">
                <a16:creationId xmlns:a16="http://schemas.microsoft.com/office/drawing/2014/main" id="{9FAC61F6-B0A0-809E-4ED2-03CBE7BF7803}"/>
              </a:ext>
            </a:extLst>
          </p:cNvPr>
          <p:cNvSpPr/>
          <p:nvPr/>
        </p:nvSpPr>
        <p:spPr>
          <a:xfrm>
            <a:off x="9114199" y="4812647"/>
            <a:ext cx="1717834" cy="6375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r>
              <a:rPr lang="en-MY" sz="1100" b="1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Note</a:t>
            </a:r>
            <a:r>
              <a:rPr lang="en-MY" sz="1100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: Click any column to edit the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data, except '#' column.</a:t>
            </a:r>
            <a:endParaRPr lang="en-US">
              <a:solidFill>
                <a:prstClr val="black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280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  <p:bldP spid="9" grpId="0" animBg="1"/>
      <p:bldP spid="15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F12A308B-1C4B-9992-627F-9F1050F5B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85E771-FE00-CBC1-B25D-7DFE24D18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886" y="3483237"/>
            <a:ext cx="7213601" cy="30556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8F37FC-EC83-1DAA-8769-EE6283AF2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943" y="1328413"/>
            <a:ext cx="7917543" cy="1965975"/>
          </a:xfrm>
          <a:prstGeom prst="rect">
            <a:avLst/>
          </a:prstGeom>
        </p:spPr>
      </p:pic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3B815AEB-598E-1C89-C3D7-655978B82CC9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85739" y="571753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b4e50f20d3_0_888">
            <a:extLst>
              <a:ext uri="{FF2B5EF4-FFF2-40B4-BE49-F238E27FC236}">
                <a16:creationId xmlns:a16="http://schemas.microsoft.com/office/drawing/2014/main" id="{AEA329F7-D07A-29F9-60AC-C652A27061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592" y="844937"/>
            <a:ext cx="8052532" cy="311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MY" sz="16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6) Reimbursement claim data is saved successfully.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E9F2D072-DFD3-2EDB-939E-EC082075B89A}"/>
              </a:ext>
            </a:extLst>
          </p:cNvPr>
          <p:cNvSpPr txBox="1"/>
          <p:nvPr/>
        </p:nvSpPr>
        <p:spPr>
          <a:xfrm>
            <a:off x="385920" y="546617"/>
            <a:ext cx="5060500" cy="39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lang="en-MY" sz="1800" b="1">
                <a:solidFill>
                  <a:srgbClr val="000000"/>
                </a:solidFill>
                <a:latin typeface="Libre Franklin"/>
                <a:sym typeface="Libre Franklin"/>
              </a:rPr>
              <a:t>Manage Reimbursement Claim</a:t>
            </a:r>
            <a:endParaRPr lang="en-MY" sz="1800" b="1">
              <a:solidFill>
                <a:srgbClr val="000000"/>
              </a:solidFill>
              <a:latin typeface="Libre Franklin"/>
            </a:endParaRPr>
          </a:p>
        </p:txBody>
      </p:sp>
      <p:sp>
        <p:nvSpPr>
          <p:cNvPr id="7" name="Google Shape;272;g2b4e50f20d3_0_873">
            <a:extLst>
              <a:ext uri="{FF2B5EF4-FFF2-40B4-BE49-F238E27FC236}">
                <a16:creationId xmlns:a16="http://schemas.microsoft.com/office/drawing/2014/main" id="{1C25C1BD-E83E-56EC-AD4F-905AD752329F}"/>
              </a:ext>
            </a:extLst>
          </p:cNvPr>
          <p:cNvSpPr/>
          <p:nvPr/>
        </p:nvSpPr>
        <p:spPr>
          <a:xfrm>
            <a:off x="9110852" y="2917124"/>
            <a:ext cx="1591861" cy="29856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13-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Click Yes</a:t>
            </a:r>
            <a:endParaRPr lang="en-MY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5096EF-2A26-9DC6-D560-AAEB3D2A9E98}"/>
              </a:ext>
            </a:extLst>
          </p:cNvPr>
          <p:cNvSpPr/>
          <p:nvPr/>
        </p:nvSpPr>
        <p:spPr>
          <a:xfrm>
            <a:off x="6918265" y="2915964"/>
            <a:ext cx="349893" cy="2924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9" name="Google Shape;272;g2b4e50f20d3_0_873">
            <a:extLst>
              <a:ext uri="{FF2B5EF4-FFF2-40B4-BE49-F238E27FC236}">
                <a16:creationId xmlns:a16="http://schemas.microsoft.com/office/drawing/2014/main" id="{CE721EA1-5912-87AC-7CA9-400BC9E5A4EE}"/>
              </a:ext>
            </a:extLst>
          </p:cNvPr>
          <p:cNvSpPr/>
          <p:nvPr/>
        </p:nvSpPr>
        <p:spPr>
          <a:xfrm>
            <a:off x="9114199" y="4464305"/>
            <a:ext cx="1594463" cy="54321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14- Save reimbursement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claim successfully</a:t>
            </a:r>
            <a:endParaRPr lang="en-US">
              <a:solidFill>
                <a:prstClr val="black"/>
              </a:solidFill>
              <a:ea typeface="Calibri"/>
              <a:cs typeface="Arial"/>
            </a:endParaRPr>
          </a:p>
        </p:txBody>
      </p:sp>
      <p:sp>
        <p:nvSpPr>
          <p:cNvPr id="6" name="Google Shape;272;g2b4e50f20d3_0_873">
            <a:extLst>
              <a:ext uri="{FF2B5EF4-FFF2-40B4-BE49-F238E27FC236}">
                <a16:creationId xmlns:a16="http://schemas.microsoft.com/office/drawing/2014/main" id="{96E567C1-74C3-7FCB-1922-39FF90CC5F7E}"/>
              </a:ext>
            </a:extLst>
          </p:cNvPr>
          <p:cNvSpPr/>
          <p:nvPr/>
        </p:nvSpPr>
        <p:spPr>
          <a:xfrm>
            <a:off x="9114199" y="5327905"/>
            <a:ext cx="2044405" cy="54321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/>
            </a:pPr>
            <a:r>
              <a:rPr lang="en-MY" sz="1100" b="1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Note</a:t>
            </a:r>
            <a:r>
              <a:rPr lang="en-MY" sz="1100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: This reimbursement claim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will be included in the payslip</a:t>
            </a:r>
            <a:endParaRPr lang="en-MY" sz="11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526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9" grpId="0" animBg="1"/>
      <p:bldP spid="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9FD217E6-BAE3-9F7F-5FFD-BC1800A99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6EA89187-AB38-82DD-AD14-9D2244624EF6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185739" y="571753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b4e50f20d3_0_888">
            <a:extLst>
              <a:ext uri="{FF2B5EF4-FFF2-40B4-BE49-F238E27FC236}">
                <a16:creationId xmlns:a16="http://schemas.microsoft.com/office/drawing/2014/main" id="{019F9659-6B5E-B813-4A0C-C0DDAF28D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592" y="844937"/>
            <a:ext cx="8284760" cy="311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MY" sz="16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6) If the data cannot be uploaded, the system will display the reason and what needs to be fixed.</a:t>
            </a:r>
            <a:endParaRPr lang="en-MY" sz="16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938ADB9E-883C-6543-D5F3-1A987DD4C532}"/>
              </a:ext>
            </a:extLst>
          </p:cNvPr>
          <p:cNvSpPr txBox="1"/>
          <p:nvPr/>
        </p:nvSpPr>
        <p:spPr>
          <a:xfrm>
            <a:off x="385920" y="546617"/>
            <a:ext cx="5060500" cy="39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lang="en-MY" sz="1800" b="1">
                <a:solidFill>
                  <a:srgbClr val="000000"/>
                </a:solidFill>
                <a:latin typeface="Libre Franklin"/>
                <a:sym typeface="Libre Franklin"/>
              </a:rPr>
              <a:t>Manage Reimbursement Claim</a:t>
            </a:r>
            <a:endParaRPr lang="en-MY" sz="1800" b="1">
              <a:solidFill>
                <a:srgbClr val="000000"/>
              </a:solidFill>
              <a:latin typeface="Libre Frankli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C9F90E-C0FE-A334-8534-B517CC33B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53" y="1712686"/>
            <a:ext cx="8183179" cy="4608286"/>
          </a:xfrm>
          <a:prstGeom prst="rect">
            <a:avLst/>
          </a:prstGeom>
        </p:spPr>
      </p:pic>
      <p:sp>
        <p:nvSpPr>
          <p:cNvPr id="8" name="Google Shape;272;g2b4e50f20d3_0_873">
            <a:extLst>
              <a:ext uri="{FF2B5EF4-FFF2-40B4-BE49-F238E27FC236}">
                <a16:creationId xmlns:a16="http://schemas.microsoft.com/office/drawing/2014/main" id="{E9BF8423-76A5-3DDC-3A14-FE7DBAB06A39}"/>
              </a:ext>
            </a:extLst>
          </p:cNvPr>
          <p:cNvSpPr/>
          <p:nvPr/>
        </p:nvSpPr>
        <p:spPr>
          <a:xfrm>
            <a:off x="9099684" y="4979561"/>
            <a:ext cx="2392747" cy="29646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14- Click any column to edit the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data</a:t>
            </a:r>
            <a:endParaRPr lang="en-US">
              <a:solidFill>
                <a:prstClr val="black"/>
              </a:solidFill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6DF71A-F3DF-C856-1495-D14803045716}"/>
              </a:ext>
            </a:extLst>
          </p:cNvPr>
          <p:cNvSpPr/>
          <p:nvPr/>
        </p:nvSpPr>
        <p:spPr>
          <a:xfrm>
            <a:off x="7157751" y="6058306"/>
            <a:ext cx="1409435" cy="2633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3" name="Google Shape;272;g2b4e50f20d3_0_873">
            <a:extLst>
              <a:ext uri="{FF2B5EF4-FFF2-40B4-BE49-F238E27FC236}">
                <a16:creationId xmlns:a16="http://schemas.microsoft.com/office/drawing/2014/main" id="{88F9E0B8-CF00-6813-CA18-53E664B54428}"/>
              </a:ext>
            </a:extLst>
          </p:cNvPr>
          <p:cNvSpPr/>
          <p:nvPr/>
        </p:nvSpPr>
        <p:spPr>
          <a:xfrm>
            <a:off x="9041628" y="6046362"/>
            <a:ext cx="2385489" cy="28195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15- Click Re-save corrected rows</a:t>
            </a:r>
            <a:endParaRPr lang="en-MY" sz="1100" dirty="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8D1AF5-007A-86A4-CC97-27C6782A1FB3}"/>
              </a:ext>
            </a:extLst>
          </p:cNvPr>
          <p:cNvCxnSpPr>
            <a:cxnSpLocks/>
          </p:cNvCxnSpPr>
          <p:nvPr/>
        </p:nvCxnSpPr>
        <p:spPr>
          <a:xfrm>
            <a:off x="8569587" y="6190542"/>
            <a:ext cx="474312" cy="2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88E8A59-D3C6-FC5C-4252-5AC382269A96}"/>
              </a:ext>
            </a:extLst>
          </p:cNvPr>
          <p:cNvSpPr/>
          <p:nvPr/>
        </p:nvSpPr>
        <p:spPr>
          <a:xfrm>
            <a:off x="2622037" y="4374649"/>
            <a:ext cx="5807263" cy="1540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9FE4BA6-5699-21E1-BE7F-E34A665ECD8F}"/>
              </a:ext>
            </a:extLst>
          </p:cNvPr>
          <p:cNvCxnSpPr>
            <a:cxnSpLocks/>
          </p:cNvCxnSpPr>
          <p:nvPr/>
        </p:nvCxnSpPr>
        <p:spPr>
          <a:xfrm flipV="1">
            <a:off x="8431701" y="5140441"/>
            <a:ext cx="670254" cy="5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55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7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67F9F75A-C64E-61E9-67BE-33B5642E0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E57CE6-167B-DEF3-CACA-9759ADB27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72" y="3430805"/>
            <a:ext cx="8556172" cy="29573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84BBE8-6395-D164-DFDF-CE6F7CC9E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86" y="1480447"/>
            <a:ext cx="8556172" cy="1580254"/>
          </a:xfrm>
          <a:prstGeom prst="rect">
            <a:avLst/>
          </a:prstGeom>
        </p:spPr>
      </p:pic>
      <p:pic>
        <p:nvPicPr>
          <p:cNvPr id="292" name="Google Shape;292;g2b4e50f20d3_0_888">
            <a:extLst>
              <a:ext uri="{FF2B5EF4-FFF2-40B4-BE49-F238E27FC236}">
                <a16:creationId xmlns:a16="http://schemas.microsoft.com/office/drawing/2014/main" id="{6E1429A5-ACBF-06B0-49B7-0EA5EE51186F}"/>
              </a:ext>
            </a:extLst>
          </p:cNvPr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185739" y="571753"/>
            <a:ext cx="2827345" cy="75838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b4e50f20d3_0_888">
            <a:extLst>
              <a:ext uri="{FF2B5EF4-FFF2-40B4-BE49-F238E27FC236}">
                <a16:creationId xmlns:a16="http://schemas.microsoft.com/office/drawing/2014/main" id="{CFD22543-70BE-6A8D-B631-817EC81063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592" y="844937"/>
            <a:ext cx="8052532" cy="311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MY" sz="16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7) Reimbursement</a:t>
            </a:r>
            <a:r>
              <a:rPr lang="en-MY" sz="160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claim data is saved successfully.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Google Shape;282;g2b4e50f20d3_0_902">
            <a:extLst>
              <a:ext uri="{FF2B5EF4-FFF2-40B4-BE49-F238E27FC236}">
                <a16:creationId xmlns:a16="http://schemas.microsoft.com/office/drawing/2014/main" id="{4969A776-AF4F-000F-7367-D1F52E276A6D}"/>
              </a:ext>
            </a:extLst>
          </p:cNvPr>
          <p:cNvSpPr txBox="1"/>
          <p:nvPr/>
        </p:nvSpPr>
        <p:spPr>
          <a:xfrm>
            <a:off x="385920" y="546617"/>
            <a:ext cx="5060500" cy="39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defRPr/>
            </a:pPr>
            <a:r>
              <a:rPr lang="en-MY" sz="1800" b="1">
                <a:solidFill>
                  <a:srgbClr val="000000"/>
                </a:solidFill>
                <a:latin typeface="Libre Franklin"/>
                <a:sym typeface="Libre Franklin"/>
              </a:rPr>
              <a:t>Manage Reimbursement Claim</a:t>
            </a:r>
            <a:endParaRPr lang="en-MY" sz="1800" b="1">
              <a:solidFill>
                <a:srgbClr val="000000"/>
              </a:solidFill>
              <a:latin typeface="Libre Franklin"/>
            </a:endParaRPr>
          </a:p>
        </p:txBody>
      </p:sp>
      <p:sp>
        <p:nvSpPr>
          <p:cNvPr id="7" name="Google Shape;272;g2b4e50f20d3_0_873">
            <a:extLst>
              <a:ext uri="{FF2B5EF4-FFF2-40B4-BE49-F238E27FC236}">
                <a16:creationId xmlns:a16="http://schemas.microsoft.com/office/drawing/2014/main" id="{598878D1-8CA3-CE28-596B-04F7BE0C1F08}"/>
              </a:ext>
            </a:extLst>
          </p:cNvPr>
          <p:cNvSpPr/>
          <p:nvPr/>
        </p:nvSpPr>
        <p:spPr>
          <a:xfrm>
            <a:off x="9183423" y="2271238"/>
            <a:ext cx="1591861" cy="298567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16-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Click Yes</a:t>
            </a:r>
            <a:endParaRPr lang="en-MY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DCE2BA-2521-9646-09B2-D29A04603EFA}"/>
              </a:ext>
            </a:extLst>
          </p:cNvPr>
          <p:cNvSpPr/>
          <p:nvPr/>
        </p:nvSpPr>
        <p:spPr>
          <a:xfrm>
            <a:off x="6250608" y="2422478"/>
            <a:ext cx="349893" cy="2924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lang="en-MY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 panose="020B0604020202020204"/>
            </a:endParaRPr>
          </a:p>
        </p:txBody>
      </p:sp>
      <p:sp>
        <p:nvSpPr>
          <p:cNvPr id="19" name="Google Shape;272;g2b4e50f20d3_0_873">
            <a:extLst>
              <a:ext uri="{FF2B5EF4-FFF2-40B4-BE49-F238E27FC236}">
                <a16:creationId xmlns:a16="http://schemas.microsoft.com/office/drawing/2014/main" id="{1EF5B19F-370D-2F62-C1D6-D79D3C9A7F2C}"/>
              </a:ext>
            </a:extLst>
          </p:cNvPr>
          <p:cNvSpPr/>
          <p:nvPr/>
        </p:nvSpPr>
        <p:spPr>
          <a:xfrm>
            <a:off x="9186770" y="4761847"/>
            <a:ext cx="1594463" cy="54321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/>
            </a:pPr>
            <a:r>
              <a:rPr lang="en-MY" sz="110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17- Save reimbursement </a:t>
            </a:r>
            <a:r>
              <a:rPr lang="en-MY" sz="1100" dirty="0">
                <a:solidFill>
                  <a:prstClr val="black"/>
                </a:solidFill>
                <a:latin typeface="Calibri"/>
                <a:ea typeface="Calibri"/>
                <a:cs typeface="Calibri"/>
                <a:sym typeface="Libre Franklin"/>
              </a:rPr>
              <a:t>claim successfully</a:t>
            </a:r>
            <a:endParaRPr lang="en-US">
              <a:solidFill>
                <a:prstClr val="black"/>
              </a:solidFill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499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6DE4B-2ADB-1924-6BE1-C96EBD94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63C212-5D44-B010-9F12-D48270DAB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544" y="2678169"/>
            <a:ext cx="9209315" cy="2633777"/>
          </a:xfrm>
          <a:prstGeom prst="rect">
            <a:avLst/>
          </a:prstGeom>
        </p:spPr>
      </p:pic>
      <p:pic>
        <p:nvPicPr>
          <p:cNvPr id="2" name="Google Shape;325;g2b4e50f20d3_0_1116">
            <a:extLst>
              <a:ext uri="{FF2B5EF4-FFF2-40B4-BE49-F238E27FC236}">
                <a16:creationId xmlns:a16="http://schemas.microsoft.com/office/drawing/2014/main" id="{20D1DA8F-C995-96DF-7D6E-A85CFE88287E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466943" y="562419"/>
            <a:ext cx="2573345" cy="68694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82;g2b4e50f20d3_0_902">
            <a:extLst>
              <a:ext uri="{FF2B5EF4-FFF2-40B4-BE49-F238E27FC236}">
                <a16:creationId xmlns:a16="http://schemas.microsoft.com/office/drawing/2014/main" id="{8BA3DCBF-CF6B-2A41-BF02-2F95E76E7718}"/>
              </a:ext>
            </a:extLst>
          </p:cNvPr>
          <p:cNvSpPr txBox="1"/>
          <p:nvPr/>
        </p:nvSpPr>
        <p:spPr>
          <a:xfrm>
            <a:off x="365468" y="540850"/>
            <a:ext cx="4750938" cy="414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Employee’s </a:t>
            </a:r>
            <a:r>
              <a:rPr lang="en-MY" sz="1800" b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Maintenance </a:t>
            </a:r>
            <a:r>
              <a:rPr kumimoji="0" lang="en-MY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Upload File</a:t>
            </a: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7" name="Google Shape;291;g2b4e50f20d3_0_888">
            <a:extLst>
              <a:ext uri="{FF2B5EF4-FFF2-40B4-BE49-F238E27FC236}">
                <a16:creationId xmlns:a16="http://schemas.microsoft.com/office/drawing/2014/main" id="{80C4E9A7-A1F9-84BD-A963-4E549AC38E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5467" y="835500"/>
            <a:ext cx="2798313" cy="382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1) Upload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4A934E-8A0D-90C5-A734-6A128A7B177D}"/>
              </a:ext>
            </a:extLst>
          </p:cNvPr>
          <p:cNvSpPr/>
          <p:nvPr/>
        </p:nvSpPr>
        <p:spPr>
          <a:xfrm>
            <a:off x="2576609" y="3805254"/>
            <a:ext cx="1336141" cy="2534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Google Shape;295;g2b4e50f20d3_0_888">
            <a:extLst>
              <a:ext uri="{FF2B5EF4-FFF2-40B4-BE49-F238E27FC236}">
                <a16:creationId xmlns:a16="http://schemas.microsoft.com/office/drawing/2014/main" id="{5CF8B1E4-B18B-B261-D614-EA701AC04D06}"/>
              </a:ext>
            </a:extLst>
          </p:cNvPr>
          <p:cNvSpPr/>
          <p:nvPr/>
        </p:nvSpPr>
        <p:spPr>
          <a:xfrm>
            <a:off x="318271" y="4855211"/>
            <a:ext cx="1741367" cy="36355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2-Access</a:t>
            </a:r>
            <a:r>
              <a:rPr kumimoji="0" lang="en-MY" sz="11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Upload File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/>
              <a:ea typeface="Calibri"/>
              <a:cs typeface="Calibri"/>
              <a:sym typeface="Libre Franklin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3B2BAAC-C8BE-85A5-D039-849D24DAB4AE}"/>
              </a:ext>
            </a:extLst>
          </p:cNvPr>
          <p:cNvSpPr/>
          <p:nvPr/>
        </p:nvSpPr>
        <p:spPr>
          <a:xfrm>
            <a:off x="2579358" y="4857574"/>
            <a:ext cx="1335199" cy="238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Google Shape;295;g2b4e50f20d3_0_888">
            <a:extLst>
              <a:ext uri="{FF2B5EF4-FFF2-40B4-BE49-F238E27FC236}">
                <a16:creationId xmlns:a16="http://schemas.microsoft.com/office/drawing/2014/main" id="{8A0456FE-1248-EF38-0203-B32DAF6CF7C6}"/>
              </a:ext>
            </a:extLst>
          </p:cNvPr>
          <p:cNvSpPr/>
          <p:nvPr/>
        </p:nvSpPr>
        <p:spPr>
          <a:xfrm>
            <a:off x="340042" y="3693535"/>
            <a:ext cx="1734110" cy="47241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1- </a:t>
            </a:r>
            <a:r>
              <a:rPr lang="en-MY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Libre Franklin"/>
              </a:rPr>
              <a:t>Access Employee Management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Libre Franklin"/>
              </a:rPr>
              <a:t> </a:t>
            </a:r>
          </a:p>
        </p:txBody>
      </p:sp>
      <p:cxnSp>
        <p:nvCxnSpPr>
          <p:cNvPr id="43" name="Google Shape;296;g2b4e50f20d3_0_888">
            <a:extLst>
              <a:ext uri="{FF2B5EF4-FFF2-40B4-BE49-F238E27FC236}">
                <a16:creationId xmlns:a16="http://schemas.microsoft.com/office/drawing/2014/main" id="{6221CBCB-7D8D-51F3-6C97-531E4C8B792B}"/>
              </a:ext>
            </a:extLst>
          </p:cNvPr>
          <p:cNvCxnSpPr>
            <a:cxnSpLocks/>
          </p:cNvCxnSpPr>
          <p:nvPr/>
        </p:nvCxnSpPr>
        <p:spPr>
          <a:xfrm flipH="1" flipV="1">
            <a:off x="2068610" y="3935595"/>
            <a:ext cx="528055" cy="140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" name="Google Shape;296;g2b4e50f20d3_0_888">
            <a:extLst>
              <a:ext uri="{FF2B5EF4-FFF2-40B4-BE49-F238E27FC236}">
                <a16:creationId xmlns:a16="http://schemas.microsoft.com/office/drawing/2014/main" id="{7C59244B-0F5E-48D5-E117-25B6F54DDA8F}"/>
              </a:ext>
            </a:extLst>
          </p:cNvPr>
          <p:cNvCxnSpPr>
            <a:cxnSpLocks/>
          </p:cNvCxnSpPr>
          <p:nvPr/>
        </p:nvCxnSpPr>
        <p:spPr>
          <a:xfrm flipH="1" flipV="1">
            <a:off x="2054096" y="5016909"/>
            <a:ext cx="528055" cy="140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3389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52" grpId="0" animBg="1"/>
      <p:bldP spid="38" grpId="0" animBg="1"/>
      <p:bldP spid="41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08360-4834-4088-62E7-BCB58BA53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1D3E1A-3A10-0AD9-BBFE-E1E8B32FA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002" y="1740818"/>
            <a:ext cx="8860325" cy="3869863"/>
          </a:xfrm>
          <a:prstGeom prst="rect">
            <a:avLst/>
          </a:prstGeom>
        </p:spPr>
      </p:pic>
      <p:sp>
        <p:nvSpPr>
          <p:cNvPr id="7" name="Google Shape;291;g2b4e50f20d3_0_888">
            <a:extLst>
              <a:ext uri="{FF2B5EF4-FFF2-40B4-BE49-F238E27FC236}">
                <a16:creationId xmlns:a16="http://schemas.microsoft.com/office/drawing/2014/main" id="{31011E85-8779-732A-C41E-3C7DC1949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7530" y="864109"/>
            <a:ext cx="3076125" cy="35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2) </a:t>
            </a:r>
            <a:r>
              <a:rPr lang="en-MY" sz="1600" dirty="0" err="1">
                <a:solidFill>
                  <a:schemeClr val="tx1"/>
                </a:solidFill>
                <a:latin typeface="Calibri"/>
                <a:cs typeface="Calibri"/>
              </a:rPr>
              <a:t>Cont</a:t>
            </a: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- Upload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242B40-55E7-86B2-4353-322DB079DAFB}"/>
              </a:ext>
            </a:extLst>
          </p:cNvPr>
          <p:cNvSpPr/>
          <p:nvPr/>
        </p:nvSpPr>
        <p:spPr>
          <a:xfrm>
            <a:off x="4530930" y="3011424"/>
            <a:ext cx="1341344" cy="1825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Google Shape;295;g2b4e50f20d3_0_888">
            <a:extLst>
              <a:ext uri="{FF2B5EF4-FFF2-40B4-BE49-F238E27FC236}">
                <a16:creationId xmlns:a16="http://schemas.microsoft.com/office/drawing/2014/main" id="{4A0AD311-603D-AC08-72D1-CA5CFAEBC306}"/>
              </a:ext>
            </a:extLst>
          </p:cNvPr>
          <p:cNvSpPr/>
          <p:nvPr/>
        </p:nvSpPr>
        <p:spPr>
          <a:xfrm>
            <a:off x="6447327" y="4475603"/>
            <a:ext cx="2348680" cy="36128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300">
                <a:solidFill>
                  <a:srgbClr val="000000"/>
                </a:solidFill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4</a:t>
            </a:r>
            <a:r>
              <a:rPr kumimoji="0" lang="en-MY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- Select File</a:t>
            </a:r>
            <a:endParaRPr kumimoji="0" sz="13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2F98E7-0E66-C75B-0CD9-EC6009460078}"/>
              </a:ext>
            </a:extLst>
          </p:cNvPr>
          <p:cNvSpPr/>
          <p:nvPr/>
        </p:nvSpPr>
        <p:spPr>
          <a:xfrm>
            <a:off x="6198921" y="3011425"/>
            <a:ext cx="2845491" cy="2478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Google Shape;295;g2b4e50f20d3_0_888">
            <a:extLst>
              <a:ext uri="{FF2B5EF4-FFF2-40B4-BE49-F238E27FC236}">
                <a16:creationId xmlns:a16="http://schemas.microsoft.com/office/drawing/2014/main" id="{8369D0F9-2BD1-5E4D-0466-FA419F45980F}"/>
              </a:ext>
            </a:extLst>
          </p:cNvPr>
          <p:cNvSpPr/>
          <p:nvPr/>
        </p:nvSpPr>
        <p:spPr>
          <a:xfrm>
            <a:off x="4082734" y="5401705"/>
            <a:ext cx="2237736" cy="417952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</a:b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3- </a:t>
            </a:r>
            <a:r>
              <a:rPr lang="en-MY" sz="1300">
                <a:solidFill>
                  <a:srgbClr val="000000"/>
                </a:solidFill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Select Transfer Type</a:t>
            </a:r>
            <a:endParaRPr kumimoji="0" lang="en-MY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Libre Franklin"/>
              <a:cs typeface="Calibri" panose="020F0502020204030204" pitchFamily="34" charset="0"/>
              <a:sym typeface="Libre Frankli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cxnSp>
        <p:nvCxnSpPr>
          <p:cNvPr id="43" name="Google Shape;296;g2b4e50f20d3_0_888">
            <a:extLst>
              <a:ext uri="{FF2B5EF4-FFF2-40B4-BE49-F238E27FC236}">
                <a16:creationId xmlns:a16="http://schemas.microsoft.com/office/drawing/2014/main" id="{55BBEC37-BC15-2519-FAA2-9283B65745B4}"/>
              </a:ext>
            </a:extLst>
          </p:cNvPr>
          <p:cNvCxnSpPr>
            <a:cxnSpLocks/>
            <a:stCxn id="41" idx="0"/>
            <a:endCxn id="22" idx="2"/>
          </p:cNvCxnSpPr>
          <p:nvPr/>
        </p:nvCxnSpPr>
        <p:spPr>
          <a:xfrm flipV="1">
            <a:off x="5201602" y="4836889"/>
            <a:ext cx="0" cy="564816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296;g2b4e50f20d3_0_888">
            <a:extLst>
              <a:ext uri="{FF2B5EF4-FFF2-40B4-BE49-F238E27FC236}">
                <a16:creationId xmlns:a16="http://schemas.microsoft.com/office/drawing/2014/main" id="{565ED0BD-23B1-E7F2-13EB-3FEF7E7F4796}"/>
              </a:ext>
            </a:extLst>
          </p:cNvPr>
          <p:cNvCxnSpPr>
            <a:cxnSpLocks/>
            <a:stCxn id="52" idx="0"/>
            <a:endCxn id="38" idx="2"/>
          </p:cNvCxnSpPr>
          <p:nvPr/>
        </p:nvCxnSpPr>
        <p:spPr>
          <a:xfrm flipV="1">
            <a:off x="7621667" y="3259249"/>
            <a:ext cx="0" cy="1216354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Google Shape;282;g2b4e50f20d3_0_902">
            <a:extLst>
              <a:ext uri="{FF2B5EF4-FFF2-40B4-BE49-F238E27FC236}">
                <a16:creationId xmlns:a16="http://schemas.microsoft.com/office/drawing/2014/main" id="{9D84DAD8-9469-7918-A569-D2A0B169AB06}"/>
              </a:ext>
            </a:extLst>
          </p:cNvPr>
          <p:cNvSpPr txBox="1"/>
          <p:nvPr/>
        </p:nvSpPr>
        <p:spPr>
          <a:xfrm>
            <a:off x="357530" y="539956"/>
            <a:ext cx="5624063" cy="444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Franklin Gothic"/>
              <a:buNone/>
              <a:tabLst/>
              <a:defRPr/>
            </a:pP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</a:t>
            </a:r>
            <a:r>
              <a:rPr lang="en-MY" sz="18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Maintenance </a:t>
            </a: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Upload File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pic>
        <p:nvPicPr>
          <p:cNvPr id="3" name="Google Shape;325;g2b4e50f20d3_0_1116">
            <a:extLst>
              <a:ext uri="{FF2B5EF4-FFF2-40B4-BE49-F238E27FC236}">
                <a16:creationId xmlns:a16="http://schemas.microsoft.com/office/drawing/2014/main" id="{0E7B4A2C-8A3C-784D-3599-94AF49706C9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55155" y="557533"/>
            <a:ext cx="2454283" cy="679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565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52" grpId="0" animBg="1"/>
      <p:bldP spid="38" grpId="0" animBg="1"/>
      <p:bldP spid="4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C9E61-A8BA-ABBA-BD9B-D701D395A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36EAD0-AE5A-0889-56E4-6EB072770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73" y="1618625"/>
            <a:ext cx="9569513" cy="1961873"/>
          </a:xfrm>
          <a:prstGeom prst="rect">
            <a:avLst/>
          </a:prstGeom>
        </p:spPr>
      </p:pic>
      <p:pic>
        <p:nvPicPr>
          <p:cNvPr id="2" name="Google Shape;325;g2b4e50f20d3_0_1116">
            <a:extLst>
              <a:ext uri="{FF2B5EF4-FFF2-40B4-BE49-F238E27FC236}">
                <a16:creationId xmlns:a16="http://schemas.microsoft.com/office/drawing/2014/main" id="{1AA92CA7-98D6-F7E4-EBA0-91EBFF609D1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693042" y="554681"/>
            <a:ext cx="2297956" cy="6300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82;g2b4e50f20d3_0_902">
            <a:extLst>
              <a:ext uri="{FF2B5EF4-FFF2-40B4-BE49-F238E27FC236}">
                <a16:creationId xmlns:a16="http://schemas.microsoft.com/office/drawing/2014/main" id="{8E08DAA7-5A54-ED23-227C-40817DB3B41F}"/>
              </a:ext>
            </a:extLst>
          </p:cNvPr>
          <p:cNvSpPr txBox="1"/>
          <p:nvPr/>
        </p:nvSpPr>
        <p:spPr>
          <a:xfrm>
            <a:off x="365551" y="554032"/>
            <a:ext cx="5607268" cy="376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Upload</a:t>
            </a: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File</a:t>
            </a:r>
            <a:endParaRPr lang="en-MY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</a:endParaRPr>
          </a:p>
        </p:txBody>
      </p:sp>
      <p:sp>
        <p:nvSpPr>
          <p:cNvPr id="7" name="Google Shape;291;g2b4e50f20d3_0_888">
            <a:extLst>
              <a:ext uri="{FF2B5EF4-FFF2-40B4-BE49-F238E27FC236}">
                <a16:creationId xmlns:a16="http://schemas.microsoft.com/office/drawing/2014/main" id="{A337109D-BD4B-D86B-6E2F-C2A01DD4B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5551" y="795684"/>
            <a:ext cx="2984385" cy="3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spcBef>
                <a:spcPts val="1080"/>
              </a:spcBef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3) </a:t>
            </a:r>
            <a:r>
              <a:rPr lang="en-MY" sz="1600" dirty="0" err="1">
                <a:solidFill>
                  <a:schemeClr val="tx1"/>
                </a:solidFill>
                <a:latin typeface="Calibri"/>
                <a:cs typeface="Calibri"/>
              </a:rPr>
              <a:t>Cont</a:t>
            </a: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 - Upload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CD0DF1-D4F5-4906-01E0-0F046D66459E}"/>
              </a:ext>
            </a:extLst>
          </p:cNvPr>
          <p:cNvSpPr/>
          <p:nvPr/>
        </p:nvSpPr>
        <p:spPr>
          <a:xfrm>
            <a:off x="8925885" y="2791852"/>
            <a:ext cx="879017" cy="352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Google Shape;295;g2b4e50f20d3_0_888">
            <a:extLst>
              <a:ext uri="{FF2B5EF4-FFF2-40B4-BE49-F238E27FC236}">
                <a16:creationId xmlns:a16="http://schemas.microsoft.com/office/drawing/2014/main" id="{357A43F4-359B-1E63-AE22-8F9E8F16DAD4}"/>
              </a:ext>
            </a:extLst>
          </p:cNvPr>
          <p:cNvSpPr/>
          <p:nvPr/>
        </p:nvSpPr>
        <p:spPr>
          <a:xfrm>
            <a:off x="9573320" y="1591997"/>
            <a:ext cx="1813709" cy="352734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300" noProof="0">
                <a:solidFill>
                  <a:srgbClr val="000000"/>
                </a:solidFill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5</a:t>
            </a:r>
            <a:r>
              <a:rPr kumimoji="0" lang="en-MY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- Click</a:t>
            </a:r>
            <a:r>
              <a:rPr kumimoji="0" lang="en-MY" sz="13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 </a:t>
            </a:r>
            <a:r>
              <a:rPr lang="en-MY" sz="1300">
                <a:solidFill>
                  <a:srgbClr val="000000"/>
                </a:solidFill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‘</a:t>
            </a:r>
            <a:r>
              <a:rPr kumimoji="0" lang="en-MY" sz="13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Upload’</a:t>
            </a:r>
            <a:endParaRPr kumimoji="0" sz="13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5B5CC01-12A3-4544-75CD-544565363103}"/>
              </a:ext>
            </a:extLst>
          </p:cNvPr>
          <p:cNvSpPr/>
          <p:nvPr/>
        </p:nvSpPr>
        <p:spPr>
          <a:xfrm>
            <a:off x="7976102" y="2791852"/>
            <a:ext cx="949783" cy="3527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Google Shape;295;g2b4e50f20d3_0_888">
            <a:extLst>
              <a:ext uri="{FF2B5EF4-FFF2-40B4-BE49-F238E27FC236}">
                <a16:creationId xmlns:a16="http://schemas.microsoft.com/office/drawing/2014/main" id="{ADE050F0-7E64-3B03-2372-9C3CB9D55B64}"/>
              </a:ext>
            </a:extLst>
          </p:cNvPr>
          <p:cNvSpPr/>
          <p:nvPr/>
        </p:nvSpPr>
        <p:spPr>
          <a:xfrm>
            <a:off x="9573321" y="3553870"/>
            <a:ext cx="2039709" cy="37513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-US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Click ‘Submit’</a:t>
            </a:r>
            <a:endParaRPr kumimoji="0" lang="en-MY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43" name="Google Shape;296;g2b4e50f20d3_0_888">
            <a:extLst>
              <a:ext uri="{FF2B5EF4-FFF2-40B4-BE49-F238E27FC236}">
                <a16:creationId xmlns:a16="http://schemas.microsoft.com/office/drawing/2014/main" id="{7724D239-799B-2474-42E8-9AADFC4466E7}"/>
              </a:ext>
            </a:extLst>
          </p:cNvPr>
          <p:cNvCxnSpPr>
            <a:cxnSpLocks/>
            <a:stCxn id="22" idx="3"/>
            <a:endCxn id="41" idx="0"/>
          </p:cNvCxnSpPr>
          <p:nvPr/>
        </p:nvCxnSpPr>
        <p:spPr>
          <a:xfrm>
            <a:off x="9804902" y="2968219"/>
            <a:ext cx="788274" cy="58565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296;g2b4e50f20d3_0_888">
            <a:extLst>
              <a:ext uri="{FF2B5EF4-FFF2-40B4-BE49-F238E27FC236}">
                <a16:creationId xmlns:a16="http://schemas.microsoft.com/office/drawing/2014/main" id="{7B4923BE-B1B2-9259-71F6-DF2559A7B3FB}"/>
              </a:ext>
            </a:extLst>
          </p:cNvPr>
          <p:cNvCxnSpPr>
            <a:cxnSpLocks/>
            <a:stCxn id="38" idx="0"/>
            <a:endCxn id="52" idx="1"/>
          </p:cNvCxnSpPr>
          <p:nvPr/>
        </p:nvCxnSpPr>
        <p:spPr>
          <a:xfrm flipV="1">
            <a:off x="8450994" y="1768364"/>
            <a:ext cx="1122326" cy="102348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295;g2b4e50f20d3_0_888">
            <a:extLst>
              <a:ext uri="{FF2B5EF4-FFF2-40B4-BE49-F238E27FC236}">
                <a16:creationId xmlns:a16="http://schemas.microsoft.com/office/drawing/2014/main" id="{CC08A00B-0280-454A-7DD9-FAA3D8288B7C}"/>
              </a:ext>
            </a:extLst>
          </p:cNvPr>
          <p:cNvSpPr/>
          <p:nvPr/>
        </p:nvSpPr>
        <p:spPr>
          <a:xfrm>
            <a:off x="3340728" y="3853066"/>
            <a:ext cx="2337500" cy="37513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</a:b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6- </a:t>
            </a:r>
            <a:r>
              <a:rPr lang="en-MY" sz="1300">
                <a:solidFill>
                  <a:srgbClr val="000000"/>
                </a:solidFill>
                <a:latin typeface="Calibri" panose="020F0502020204030204" pitchFamily="34" charset="0"/>
                <a:ea typeface="Libre Franklin"/>
                <a:cs typeface="Calibri" panose="020F0502020204030204" pitchFamily="34" charset="0"/>
                <a:sym typeface="Libre Franklin"/>
              </a:rPr>
              <a:t>Display records from the file</a:t>
            </a:r>
            <a:endParaRPr kumimoji="0" lang="en-MY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Libre Franklin"/>
              <a:cs typeface="Calibri" panose="020F0502020204030204" pitchFamily="34" charset="0"/>
              <a:sym typeface="Libre Franklin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Libre Franklin"/>
              <a:cs typeface="Calibri" panose="020F0502020204030204" pitchFamily="34" charset="0"/>
              <a:sym typeface="Libre Franklin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59CEA0B-8D90-F1C8-2381-AD10C71A5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73" y="4382491"/>
            <a:ext cx="9150036" cy="18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86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52" grpId="0" animBg="1"/>
      <p:bldP spid="38" grpId="0" animBg="1"/>
      <p:bldP spid="41" grpId="0" animBg="1"/>
      <p:bldP spid="23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438E9-0C82-00B2-0DE3-30A1249BB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1ADEE0-EA15-0AE2-A884-D0C74A380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60" y="4389851"/>
            <a:ext cx="8689922" cy="2039702"/>
          </a:xfrm>
          <a:prstGeom prst="rect">
            <a:avLst/>
          </a:prstGeom>
        </p:spPr>
      </p:pic>
      <p:pic>
        <p:nvPicPr>
          <p:cNvPr id="2" name="Google Shape;325;g2b4e50f20d3_0_1116">
            <a:extLst>
              <a:ext uri="{FF2B5EF4-FFF2-40B4-BE49-F238E27FC236}">
                <a16:creationId xmlns:a16="http://schemas.microsoft.com/office/drawing/2014/main" id="{028680F2-2882-B19B-169C-EB11A20FF88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14125" y="555747"/>
            <a:ext cx="2498482" cy="694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EF9696-95A1-2FAC-3EB0-8D9D3CE56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841" y="1306107"/>
            <a:ext cx="5991428" cy="2508687"/>
          </a:xfrm>
          <a:prstGeom prst="rect">
            <a:avLst/>
          </a:prstGeom>
        </p:spPr>
      </p:pic>
      <p:sp>
        <p:nvSpPr>
          <p:cNvPr id="6" name="Google Shape;282;g2b4e50f20d3_0_902">
            <a:extLst>
              <a:ext uri="{FF2B5EF4-FFF2-40B4-BE49-F238E27FC236}">
                <a16:creationId xmlns:a16="http://schemas.microsoft.com/office/drawing/2014/main" id="{88651B29-C404-9206-98B8-CD43390A39E4}"/>
              </a:ext>
            </a:extLst>
          </p:cNvPr>
          <p:cNvSpPr txBox="1"/>
          <p:nvPr/>
        </p:nvSpPr>
        <p:spPr>
          <a:xfrm>
            <a:off x="365551" y="529952"/>
            <a:ext cx="5655396" cy="408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Franklin Gothic"/>
              <a:buNone/>
              <a:defRPr sz="2800" b="0" i="0" u="none" strike="noStrike" cap="none">
                <a:solidFill>
                  <a:srgbClr val="3F3F3F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  <a:defRPr/>
            </a:pP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Employee On-Boarding </a:t>
            </a:r>
            <a:r>
              <a:rPr lang="en-MY" sz="18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Process - Upload</a:t>
            </a: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 File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Franklin Gothic"/>
              <a:sym typeface="Franklin Gothic"/>
            </a:endParaRPr>
          </a:p>
        </p:txBody>
      </p:sp>
      <p:sp>
        <p:nvSpPr>
          <p:cNvPr id="7" name="Google Shape;291;g2b4e50f20d3_0_888">
            <a:extLst>
              <a:ext uri="{FF2B5EF4-FFF2-40B4-BE49-F238E27FC236}">
                <a16:creationId xmlns:a16="http://schemas.microsoft.com/office/drawing/2014/main" id="{CA4FA85C-A1F5-E8AD-8E9A-8EE49DE0B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5551" y="803139"/>
            <a:ext cx="2679585" cy="424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4) </a:t>
            </a:r>
            <a:r>
              <a:rPr lang="en-MY" sz="1600" err="1">
                <a:solidFill>
                  <a:schemeClr val="tx1"/>
                </a:solidFill>
                <a:latin typeface="Calibri"/>
                <a:cs typeface="Calibri"/>
              </a:rPr>
              <a:t>Cont</a:t>
            </a:r>
            <a:r>
              <a:rPr lang="en-MY" sz="1600" dirty="0">
                <a:solidFill>
                  <a:schemeClr val="tx1"/>
                </a:solidFill>
                <a:latin typeface="Calibri"/>
                <a:cs typeface="Calibri"/>
              </a:rPr>
              <a:t>- Upload File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617B14-C288-C983-CF8B-349B9AEFC06C}"/>
              </a:ext>
            </a:extLst>
          </p:cNvPr>
          <p:cNvSpPr/>
          <p:nvPr/>
        </p:nvSpPr>
        <p:spPr>
          <a:xfrm>
            <a:off x="552262" y="5281076"/>
            <a:ext cx="8410670" cy="447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Google Shape;295;g2b4e50f20d3_0_888">
            <a:extLst>
              <a:ext uri="{FF2B5EF4-FFF2-40B4-BE49-F238E27FC236}">
                <a16:creationId xmlns:a16="http://schemas.microsoft.com/office/drawing/2014/main" id="{0698F38A-B2E9-5B9B-3AD5-B747899DB668}"/>
              </a:ext>
            </a:extLst>
          </p:cNvPr>
          <p:cNvSpPr/>
          <p:nvPr/>
        </p:nvSpPr>
        <p:spPr>
          <a:xfrm>
            <a:off x="5796078" y="3219668"/>
            <a:ext cx="2348680" cy="36128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MY" sz="110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r>
            <a:r>
              <a:rPr kumimoji="0" lang="en-MY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- Upload successful.</a:t>
            </a:r>
            <a:endParaRPr kumimoji="0" sz="1100" b="0" i="0" u="none" strike="noStrike" kern="1200" cap="none" spc="0" normalizeH="0" baseline="0" noProof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8A6FD1-FDA3-AE8F-D23A-5C61B0EAB07D}"/>
              </a:ext>
            </a:extLst>
          </p:cNvPr>
          <p:cNvSpPr/>
          <p:nvPr/>
        </p:nvSpPr>
        <p:spPr>
          <a:xfrm>
            <a:off x="2419400" y="3075950"/>
            <a:ext cx="1470872" cy="6487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Google Shape;295;g2b4e50f20d3_0_888">
            <a:extLst>
              <a:ext uri="{FF2B5EF4-FFF2-40B4-BE49-F238E27FC236}">
                <a16:creationId xmlns:a16="http://schemas.microsoft.com/office/drawing/2014/main" id="{1C0F0F5F-8050-4AA3-CD02-DA13001A50CA}"/>
              </a:ext>
            </a:extLst>
          </p:cNvPr>
          <p:cNvSpPr/>
          <p:nvPr/>
        </p:nvSpPr>
        <p:spPr>
          <a:xfrm>
            <a:off x="9604133" y="4461199"/>
            <a:ext cx="2348680" cy="44728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"/>
                <a:ea typeface="Libre Franklin"/>
                <a:cs typeface="Libre Franklin"/>
                <a:sym typeface="Libre Franklin"/>
              </a:rPr>
              <a:t>9- </a:t>
            </a:r>
            <a:r>
              <a:rPr lang="en-MY" sz="1100" noProof="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Display records in the table</a:t>
            </a:r>
            <a:endParaRPr kumimoji="0" lang="en-MY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43" name="Google Shape;296;g2b4e50f20d3_0_888">
            <a:extLst>
              <a:ext uri="{FF2B5EF4-FFF2-40B4-BE49-F238E27FC236}">
                <a16:creationId xmlns:a16="http://schemas.microsoft.com/office/drawing/2014/main" id="{8CFE04FA-3465-5E4B-AD14-8CE78216F353}"/>
              </a:ext>
            </a:extLst>
          </p:cNvPr>
          <p:cNvCxnSpPr>
            <a:cxnSpLocks/>
            <a:stCxn id="22" idx="3"/>
            <a:endCxn id="41" idx="1"/>
          </p:cNvCxnSpPr>
          <p:nvPr/>
        </p:nvCxnSpPr>
        <p:spPr>
          <a:xfrm flipV="1">
            <a:off x="8962932" y="4684840"/>
            <a:ext cx="641201" cy="819876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296;g2b4e50f20d3_0_888">
            <a:extLst>
              <a:ext uri="{FF2B5EF4-FFF2-40B4-BE49-F238E27FC236}">
                <a16:creationId xmlns:a16="http://schemas.microsoft.com/office/drawing/2014/main" id="{6F7FC961-D507-F65E-F3EA-02F86747F6E3}"/>
              </a:ext>
            </a:extLst>
          </p:cNvPr>
          <p:cNvCxnSpPr>
            <a:cxnSpLocks/>
            <a:stCxn id="52" idx="1"/>
            <a:endCxn id="38" idx="3"/>
          </p:cNvCxnSpPr>
          <p:nvPr/>
        </p:nvCxnSpPr>
        <p:spPr>
          <a:xfrm flipH="1">
            <a:off x="3890272" y="3400311"/>
            <a:ext cx="1905806" cy="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73527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52" grpId="0" animBg="1"/>
      <p:bldP spid="38" grpId="0" animBg="1"/>
      <p:bldP spid="4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ividendVTI">
  <a:themeElements>
    <a:clrScheme name="Blue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3444</Words>
  <Application>Microsoft Office PowerPoint</Application>
  <PresentationFormat>Widescreen</PresentationFormat>
  <Paragraphs>498</Paragraphs>
  <Slides>92</Slides>
  <Notes>71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92</vt:i4>
      </vt:variant>
    </vt:vector>
  </HeadingPairs>
  <TitlesOfParts>
    <vt:vector size="94" baseType="lpstr">
      <vt:lpstr>Office Theme</vt:lpstr>
      <vt:lpstr>1_DividendVTI</vt:lpstr>
      <vt:lpstr>PowerPoint Presentation</vt:lpstr>
      <vt:lpstr>Employee Management Module</vt:lpstr>
      <vt:lpstr>Employee On-Boarding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Employee Management Module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Employee Management Module</vt:lpstr>
      <vt:lpstr>Employee’s Service Management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SAINOFORCE MODULE TRAINING</dc:title>
  <dc:creator>CHIN YOON XIN</dc:creator>
  <cp:lastModifiedBy>ShuYing</cp:lastModifiedBy>
  <cp:revision>1455</cp:revision>
  <dcterms:created xsi:type="dcterms:W3CDTF">2024-11-01T05:48:53Z</dcterms:created>
  <dcterms:modified xsi:type="dcterms:W3CDTF">2026-10-30T03:55:45Z</dcterms:modified>
</cp:coreProperties>
</file>